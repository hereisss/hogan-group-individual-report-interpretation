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填写本批信息，不沿用历史年份/人数。不默认添加个人报告附录。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正文每条有工作行为和一步工作后果；群体/人数须原分支持，不仅凭均值推定多数。写法见writing-style.md。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折线区无真实数据。若需要仅均值可删中位值。坐标0–100，不将25/50/75网格当成HDS风险分档。均值与中位值接近不证明集中。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HPI群体雷达图必须有统一范围、固定维度顺序和真实分值来源；解释以日常工作风格为主。不把高学习分等同学习能力。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用户确认既有项目规则后才使用：结果=抱负≥65；过程=审慎≥65；创新=好奇≥50且抱负≥35；务实=人际敏感度&lt;65且好奇&lt;50；关系=人际敏感度≥50且社交≥35。不是Hogan官方标准，不推断能力/绩效。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不得从主量表猜子维度格数；满4格是历史项目突出口径，并非主量表高风险等级；0人满格不证明没有相关倾向。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默认不写真实姓名/缩写映射；需要身份对照时单独受限保存。不得用多维高分总数进行人才排序。没有个人原分不能生成此页。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MVPI解释工作价值偏好；材料不足时不声称最有效的激励方案，不做价值观优劣判断。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用户只要结论时不另加培训建议。发展建议若被允许，也须具体到任务安排、反馈动作和观察，而非笼统赋能。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空白模板，不含真实人员、分值或业务资料。</a:t>
            </a:r>
          </a:p>
          <a:p>
            <a:r>
              <a:t>按实际输入填写，而非继承模板中的“已核对”。引用来源与计算方法写受限备注，身份映射始终单独保存。</a:t>
            </a:r>
          </a:p>
          <a:p>
            <a:r>
              <a:t>成稿核验：所有占位已替换；数据来源和页码可追溯；行为影响标为假设；正文可编辑；全页渲染检查。</a:t>
            </a:r>
          </a:p>
          <a:p>
            <a:r>
              <a:t>保密：不要在共享备注中放真实姓名映射、测试账号、联系方式或无关内部资料。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.blue"/>
          <p:cNvSpPr/>
          <p:nvPr/>
        </p:nvSpPr>
        <p:spPr>
          <a:xfrm>
            <a:off x="731520" y="1097280"/>
            <a:ext cx="91440" cy="2743200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.red"/>
          <p:cNvSpPr/>
          <p:nvPr/>
        </p:nvSpPr>
        <p:spPr>
          <a:xfrm>
            <a:off x="731520" y="3941063"/>
            <a:ext cx="91440" cy="484632"/>
          </a:xfrm>
          <a:prstGeom prst="rect">
            <a:avLst/>
          </a:prstGeom>
          <a:solidFill>
            <a:srgbClr val="E8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.kicker"/>
          <p:cNvSpPr txBox="1"/>
          <p:nvPr/>
        </p:nvSpPr>
        <p:spPr>
          <a:xfrm>
            <a:off x="1042415" y="1097280"/>
            <a:ext cx="9784080" cy="4754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078F5"/>
                </a:solidFill>
                <a:latin typeface="Noto Sans CJK SC"/>
              </a:rPr>
              <a:t>{届别 / 培养项目 / 批次}</a:t>
            </a:r>
          </a:p>
        </p:txBody>
      </p:sp>
      <p:sp>
        <p:nvSpPr>
          <p:cNvPr id="5" name="cover.title"/>
          <p:cNvSpPr txBox="1"/>
          <p:nvPr/>
        </p:nvSpPr>
        <p:spPr>
          <a:xfrm>
            <a:off x="1024128" y="1856231"/>
            <a:ext cx="7863840" cy="1508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63345"/>
                </a:solidFill>
                <a:latin typeface="Noto Sans CJK SC"/>
              </a:rPr>
              <a:t>Hogan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63345"/>
                </a:solidFill>
                <a:latin typeface="Noto Sans CJK SC"/>
              </a:rPr>
              <a:t>群体分析报告</a:t>
            </a:r>
          </a:p>
        </p:txBody>
      </p:sp>
      <p:sp>
        <p:nvSpPr>
          <p:cNvPr id="6" name="cover.subtitle"/>
          <p:cNvSpPr txBox="1"/>
          <p:nvPr/>
        </p:nvSpPr>
        <p:spPr>
          <a:xfrm>
            <a:off x="1042415" y="3712463"/>
            <a:ext cx="9784080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F7B8D"/>
                </a:solidFill>
                <a:latin typeface="Noto Sans CJK SC"/>
              </a:rPr>
              <a:t>日常风格  ·  压力风险  ·  动机价值偏好</a:t>
            </a:r>
          </a:p>
        </p:txBody>
      </p:sp>
      <p:sp>
        <p:nvSpPr>
          <p:cNvPr id="7" name="cover.scope"/>
          <p:cNvSpPr txBox="1"/>
          <p:nvPr/>
        </p:nvSpPr>
        <p:spPr>
          <a:xfrm>
            <a:off x="1042415" y="4361688"/>
            <a:ext cx="9784080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F7B8D"/>
                </a:solidFill>
                <a:latin typeface="Noto Sans CJK SC"/>
              </a:rPr>
              <a:t>样本 {N} 人  |  {分析目的 / 报告日期}</a:t>
            </a:r>
          </a:p>
        </p:txBody>
      </p:sp>
      <p:sp>
        <p:nvSpPr>
          <p:cNvPr id="8" name="cover.readme.bg"/>
          <p:cNvSpPr/>
          <p:nvPr/>
        </p:nvSpPr>
        <p:spPr>
          <a:xfrm>
            <a:off x="1033271" y="5148072"/>
            <a:ext cx="10113264" cy="585216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.readme"/>
          <p:cNvSpPr txBox="1"/>
          <p:nvPr/>
        </p:nvSpPr>
        <p:spPr>
          <a:xfrm>
            <a:off x="1261872" y="5276088"/>
            <a:ext cx="9637776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078F5"/>
                </a:solidFill>
                <a:latin typeface="Noto Sans CJK SC"/>
              </a:rPr>
              <a:t>看见群体共性与内部差异，具体说明对工作有哪些可能影响。</a:t>
            </a:r>
          </a:p>
        </p:txBody>
      </p:sp>
      <p:sp>
        <p:nvSpPr>
          <p:cNvPr id="10" name="cover.footer"/>
          <p:cNvSpPr txBox="1"/>
          <p:nvPr/>
        </p:nvSpPr>
        <p:spPr>
          <a:xfrm>
            <a:off x="1042415" y="6263640"/>
            <a:ext cx="98755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内部使用  |  空白模板，不含真实测评信息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2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2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整体画像：{先用一句话概括这批人的共同特点}</a:t>
            </a:r>
          </a:p>
        </p:txBody>
      </p:sp>
      <p:sp>
        <p:nvSpPr>
          <p:cNvPr id="4" name="p2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群体结论  /  先说行为与工作影响，再给少量数据</a:t>
            </a:r>
          </a:p>
        </p:txBody>
      </p:sp>
      <p:cxnSp>
        <p:nvCxnSpPr>
          <p:cNvPr id="5" name="p2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2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02</a:t>
            </a:r>
          </a:p>
        </p:txBody>
      </p:sp>
      <p:cxnSp>
        <p:nvCxnSpPr>
          <p:cNvPr id="7" name="p2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2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2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2.summary.bg"/>
          <p:cNvSpPr/>
          <p:nvPr/>
        </p:nvSpPr>
        <p:spPr>
          <a:xfrm>
            <a:off x="512064" y="1362456"/>
            <a:ext cx="11173968" cy="5029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2.summary"/>
          <p:cNvSpPr txBox="1"/>
          <p:nvPr/>
        </p:nvSpPr>
        <p:spPr>
          <a:xfrm>
            <a:off x="713232" y="1453896"/>
            <a:ext cx="10762488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078F5"/>
                </a:solidFill>
                <a:latin typeface="Noto Sans CJK SC"/>
              </a:rPr>
              <a:t>[两三种主要做事倾向怎样组合？对当前工作最值得关注的是什么？]</a:t>
            </a:r>
          </a:p>
        </p:txBody>
      </p:sp>
      <p:sp>
        <p:nvSpPr>
          <p:cNvPr id="12" name="p2.可发挥的优势.heading"/>
          <p:cNvSpPr txBox="1"/>
          <p:nvPr/>
        </p:nvSpPr>
        <p:spPr>
          <a:xfrm>
            <a:off x="530352" y="1993392"/>
            <a:ext cx="5230368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078F5"/>
                </a:solidFill>
                <a:latin typeface="Noto Sans CJK SC"/>
              </a:rPr>
              <a:t>可发挥的优势</a:t>
            </a:r>
          </a:p>
        </p:txBody>
      </p:sp>
      <p:sp>
        <p:nvSpPr>
          <p:cNvPr id="13" name="p2.可发挥的优势.0.num"/>
          <p:cNvSpPr txBox="1"/>
          <p:nvPr/>
        </p:nvSpPr>
        <p:spPr>
          <a:xfrm>
            <a:off x="576072" y="2468880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1</a:t>
            </a:r>
          </a:p>
        </p:txBody>
      </p:sp>
      <p:sp>
        <p:nvSpPr>
          <p:cNvPr id="14" name="p2.可发挥的优势.0.title"/>
          <p:cNvSpPr txBox="1"/>
          <p:nvPr/>
        </p:nvSpPr>
        <p:spPr>
          <a:xfrm>
            <a:off x="932688" y="2450592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[结论1：用完整的一句话说明]</a:t>
            </a:r>
          </a:p>
        </p:txBody>
      </p:sp>
      <p:sp>
        <p:nvSpPr>
          <p:cNvPr id="15" name="p2.可发挥的优势.0.body"/>
          <p:cNvSpPr txBox="1"/>
          <p:nvPr/>
        </p:nvSpPr>
        <p:spPr>
          <a:xfrm>
            <a:off x="932688" y="2761488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16" name="p2.可发挥的优势.0.evidence"/>
          <p:cNvSpPr txBox="1"/>
          <p:nvPr/>
        </p:nvSpPr>
        <p:spPr>
          <a:xfrm>
            <a:off x="932688" y="3172968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17" name="p2.可发挥的优势.1.bg"/>
          <p:cNvSpPr/>
          <p:nvPr/>
        </p:nvSpPr>
        <p:spPr>
          <a:xfrm>
            <a:off x="475488" y="3355848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2.可发挥的优势.1.num"/>
          <p:cNvSpPr txBox="1"/>
          <p:nvPr/>
        </p:nvSpPr>
        <p:spPr>
          <a:xfrm>
            <a:off x="576072" y="3410712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2</a:t>
            </a:r>
          </a:p>
        </p:txBody>
      </p:sp>
      <p:sp>
        <p:nvSpPr>
          <p:cNvPr id="19" name="p2.可发挥的优势.1.title"/>
          <p:cNvSpPr txBox="1"/>
          <p:nvPr/>
        </p:nvSpPr>
        <p:spPr>
          <a:xfrm>
            <a:off x="932688" y="3392424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[结论2：用完整的一句话说明]</a:t>
            </a:r>
          </a:p>
        </p:txBody>
      </p:sp>
      <p:sp>
        <p:nvSpPr>
          <p:cNvPr id="20" name="p2.可发挥的优势.1.body"/>
          <p:cNvSpPr txBox="1"/>
          <p:nvPr/>
        </p:nvSpPr>
        <p:spPr>
          <a:xfrm>
            <a:off x="932688" y="3703320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21" name="p2.可发挥的优势.1.evidence"/>
          <p:cNvSpPr txBox="1"/>
          <p:nvPr/>
        </p:nvSpPr>
        <p:spPr>
          <a:xfrm>
            <a:off x="932688" y="4114800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22" name="p2.可发挥的优势.2.num"/>
          <p:cNvSpPr txBox="1"/>
          <p:nvPr/>
        </p:nvSpPr>
        <p:spPr>
          <a:xfrm>
            <a:off x="576072" y="4352544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3</a:t>
            </a:r>
          </a:p>
        </p:txBody>
      </p:sp>
      <p:sp>
        <p:nvSpPr>
          <p:cNvPr id="23" name="p2.可发挥的优势.2.title"/>
          <p:cNvSpPr txBox="1"/>
          <p:nvPr/>
        </p:nvSpPr>
        <p:spPr>
          <a:xfrm>
            <a:off x="932688" y="4334256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[结论3：用完整的一句话说明]</a:t>
            </a:r>
          </a:p>
        </p:txBody>
      </p:sp>
      <p:sp>
        <p:nvSpPr>
          <p:cNvPr id="24" name="p2.可发挥的优势.2.body"/>
          <p:cNvSpPr txBox="1"/>
          <p:nvPr/>
        </p:nvSpPr>
        <p:spPr>
          <a:xfrm>
            <a:off x="932688" y="4645152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25" name="p2.可发挥的优势.2.evidence"/>
          <p:cNvSpPr txBox="1"/>
          <p:nvPr/>
        </p:nvSpPr>
        <p:spPr>
          <a:xfrm>
            <a:off x="932688" y="5056631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26" name="p2.可发挥的优势.3.bg"/>
          <p:cNvSpPr/>
          <p:nvPr/>
        </p:nvSpPr>
        <p:spPr>
          <a:xfrm>
            <a:off x="475488" y="5239512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2.可发挥的优势.3.num"/>
          <p:cNvSpPr txBox="1"/>
          <p:nvPr/>
        </p:nvSpPr>
        <p:spPr>
          <a:xfrm>
            <a:off x="576072" y="5294376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4</a:t>
            </a:r>
          </a:p>
        </p:txBody>
      </p:sp>
      <p:sp>
        <p:nvSpPr>
          <p:cNvPr id="28" name="p2.可发挥的优势.3.title"/>
          <p:cNvSpPr txBox="1"/>
          <p:nvPr/>
        </p:nvSpPr>
        <p:spPr>
          <a:xfrm>
            <a:off x="932688" y="5276088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[结论4：用完整的一句话说明]</a:t>
            </a:r>
          </a:p>
        </p:txBody>
      </p:sp>
      <p:sp>
        <p:nvSpPr>
          <p:cNvPr id="29" name="p2.可发挥的优势.3.body"/>
          <p:cNvSpPr txBox="1"/>
          <p:nvPr/>
        </p:nvSpPr>
        <p:spPr>
          <a:xfrm>
            <a:off x="932688" y="5586984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30" name="p2.可发挥的优势.3.evidence"/>
          <p:cNvSpPr txBox="1"/>
          <p:nvPr/>
        </p:nvSpPr>
        <p:spPr>
          <a:xfrm>
            <a:off x="932688" y="5998464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31" name="p2.重点关注的工作影响.heading"/>
          <p:cNvSpPr txBox="1"/>
          <p:nvPr/>
        </p:nvSpPr>
        <p:spPr>
          <a:xfrm>
            <a:off x="6291072" y="1993392"/>
            <a:ext cx="5230368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65B"/>
                </a:solidFill>
                <a:latin typeface="Noto Sans CJK SC"/>
              </a:rPr>
              <a:t>重点关注的工作影响</a:t>
            </a:r>
          </a:p>
        </p:txBody>
      </p:sp>
      <p:sp>
        <p:nvSpPr>
          <p:cNvPr id="32" name="p2.重点关注的工作影响.0.num"/>
          <p:cNvSpPr txBox="1"/>
          <p:nvPr/>
        </p:nvSpPr>
        <p:spPr>
          <a:xfrm>
            <a:off x="6336792" y="2468880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1</a:t>
            </a:r>
          </a:p>
        </p:txBody>
      </p:sp>
      <p:sp>
        <p:nvSpPr>
          <p:cNvPr id="33" name="p2.重点关注的工作影响.0.title"/>
          <p:cNvSpPr txBox="1"/>
          <p:nvPr/>
        </p:nvSpPr>
        <p:spPr>
          <a:xfrm>
            <a:off x="6693408" y="2450592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[结论1：用完整的一句话说明]</a:t>
            </a:r>
          </a:p>
        </p:txBody>
      </p:sp>
      <p:sp>
        <p:nvSpPr>
          <p:cNvPr id="34" name="p2.重点关注的工作影响.0.body"/>
          <p:cNvSpPr txBox="1"/>
          <p:nvPr/>
        </p:nvSpPr>
        <p:spPr>
          <a:xfrm>
            <a:off x="6693408" y="2761488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35" name="p2.重点关注的工作影响.0.evidence"/>
          <p:cNvSpPr txBox="1"/>
          <p:nvPr/>
        </p:nvSpPr>
        <p:spPr>
          <a:xfrm>
            <a:off x="6693408" y="3172968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36" name="p2.重点关注的工作影响.1.bg"/>
          <p:cNvSpPr/>
          <p:nvPr/>
        </p:nvSpPr>
        <p:spPr>
          <a:xfrm>
            <a:off x="6236208" y="3355848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2.重点关注的工作影响.1.num"/>
          <p:cNvSpPr txBox="1"/>
          <p:nvPr/>
        </p:nvSpPr>
        <p:spPr>
          <a:xfrm>
            <a:off x="6336792" y="3410712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2</a:t>
            </a:r>
          </a:p>
        </p:txBody>
      </p:sp>
      <p:sp>
        <p:nvSpPr>
          <p:cNvPr id="38" name="p2.重点关注的工作影响.1.title"/>
          <p:cNvSpPr txBox="1"/>
          <p:nvPr/>
        </p:nvSpPr>
        <p:spPr>
          <a:xfrm>
            <a:off x="6693408" y="3392424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[结论2：用完整的一句话说明]</a:t>
            </a:r>
          </a:p>
        </p:txBody>
      </p:sp>
      <p:sp>
        <p:nvSpPr>
          <p:cNvPr id="39" name="p2.重点关注的工作影响.1.body"/>
          <p:cNvSpPr txBox="1"/>
          <p:nvPr/>
        </p:nvSpPr>
        <p:spPr>
          <a:xfrm>
            <a:off x="6693408" y="3703320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40" name="p2.重点关注的工作影响.1.evidence"/>
          <p:cNvSpPr txBox="1"/>
          <p:nvPr/>
        </p:nvSpPr>
        <p:spPr>
          <a:xfrm>
            <a:off x="6693408" y="4114800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41" name="p2.重点关注的工作影响.2.num"/>
          <p:cNvSpPr txBox="1"/>
          <p:nvPr/>
        </p:nvSpPr>
        <p:spPr>
          <a:xfrm>
            <a:off x="6336792" y="4352544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3</a:t>
            </a:r>
          </a:p>
        </p:txBody>
      </p:sp>
      <p:sp>
        <p:nvSpPr>
          <p:cNvPr id="42" name="p2.重点关注的工作影响.2.title"/>
          <p:cNvSpPr txBox="1"/>
          <p:nvPr/>
        </p:nvSpPr>
        <p:spPr>
          <a:xfrm>
            <a:off x="6693408" y="4334256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[结论3：用完整的一句话说明]</a:t>
            </a:r>
          </a:p>
        </p:txBody>
      </p:sp>
      <p:sp>
        <p:nvSpPr>
          <p:cNvPr id="43" name="p2.重点关注的工作影响.2.body"/>
          <p:cNvSpPr txBox="1"/>
          <p:nvPr/>
        </p:nvSpPr>
        <p:spPr>
          <a:xfrm>
            <a:off x="6693408" y="4645152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44" name="p2.重点关注的工作影响.2.evidence"/>
          <p:cNvSpPr txBox="1"/>
          <p:nvPr/>
        </p:nvSpPr>
        <p:spPr>
          <a:xfrm>
            <a:off x="6693408" y="5056631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  <p:sp>
        <p:nvSpPr>
          <p:cNvPr id="45" name="p2.重点关注的工作影响.3.bg"/>
          <p:cNvSpPr/>
          <p:nvPr/>
        </p:nvSpPr>
        <p:spPr>
          <a:xfrm>
            <a:off x="6236208" y="5239512"/>
            <a:ext cx="5394960" cy="86868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2.重点关注的工作影响.3.num"/>
          <p:cNvSpPr txBox="1"/>
          <p:nvPr/>
        </p:nvSpPr>
        <p:spPr>
          <a:xfrm>
            <a:off x="6336792" y="5294376"/>
            <a:ext cx="256032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4</a:t>
            </a:r>
          </a:p>
        </p:txBody>
      </p:sp>
      <p:sp>
        <p:nvSpPr>
          <p:cNvPr id="47" name="p2.重点关注的工作影响.3.title"/>
          <p:cNvSpPr txBox="1"/>
          <p:nvPr/>
        </p:nvSpPr>
        <p:spPr>
          <a:xfrm>
            <a:off x="6693408" y="5276088"/>
            <a:ext cx="4727448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263345"/>
                </a:solidFill>
                <a:latin typeface="Noto Sans CJK SC"/>
              </a:rPr>
              <a:t>[结论4：用完整的一句话说明]</a:t>
            </a:r>
          </a:p>
        </p:txBody>
      </p:sp>
      <p:sp>
        <p:nvSpPr>
          <p:cNvPr id="48" name="p2.重点关注的工作影响.3.body"/>
          <p:cNvSpPr txBox="1"/>
          <p:nvPr/>
        </p:nvSpPr>
        <p:spPr>
          <a:xfrm>
            <a:off x="6693408" y="5586984"/>
            <a:ext cx="4727448" cy="36576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[具体任务中可能怎样做，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给进度、交付或合作带来什么影响。]</a:t>
            </a:r>
          </a:p>
        </p:txBody>
      </p:sp>
      <p:sp>
        <p:nvSpPr>
          <p:cNvPr id="49" name="p2.重点关注的工作影响.3.evidence"/>
          <p:cNvSpPr txBox="1"/>
          <p:nvPr/>
        </p:nvSpPr>
        <p:spPr>
          <a:xfrm>
            <a:off x="6693408" y="5998464"/>
            <a:ext cx="4727448" cy="1645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依据：{关键分值 / 人数 / 分布}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3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3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均值与中位值：{哪些接近，哪些还要看内部差异}</a:t>
            </a:r>
          </a:p>
        </p:txBody>
      </p:sp>
      <p:sp>
        <p:nvSpPr>
          <p:cNvPr id="4" name="p3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数据概览  /  同一批原分计算；统计不等于能力得分</a:t>
            </a:r>
          </a:p>
        </p:txBody>
      </p:sp>
      <p:cxnSp>
        <p:nvCxnSpPr>
          <p:cNvPr id="5" name="p3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3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03</a:t>
            </a:r>
          </a:p>
        </p:txBody>
      </p:sp>
      <p:cxnSp>
        <p:nvCxnSpPr>
          <p:cNvPr id="7" name="p3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3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3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3.HPI.header.bg"/>
          <p:cNvSpPr/>
          <p:nvPr/>
        </p:nvSpPr>
        <p:spPr>
          <a:xfrm>
            <a:off x="548640" y="1399032"/>
            <a:ext cx="3630168" cy="786384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3.HPI.header"/>
          <p:cNvSpPr txBox="1"/>
          <p:nvPr/>
        </p:nvSpPr>
        <p:spPr>
          <a:xfrm>
            <a:off x="685800" y="1481328"/>
            <a:ext cx="3346704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3078F5"/>
                </a:solidFill>
                <a:latin typeface="Noto Sans CJK SC"/>
              </a:rPr>
              <a:t>HPI</a:t>
            </a:r>
          </a:p>
        </p:txBody>
      </p:sp>
      <p:sp>
        <p:nvSpPr>
          <p:cNvPr id="12" name="p3.HPI.summary"/>
          <p:cNvSpPr txBox="1"/>
          <p:nvPr/>
        </p:nvSpPr>
        <p:spPr>
          <a:xfrm>
            <a:off x="685800" y="1801368"/>
            <a:ext cx="334670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F7B8D"/>
                </a:solidFill>
                <a:latin typeface="Noto Sans CJK SC"/>
              </a:rPr>
              <a:t>[该量表最主要的共性或分化]</a:t>
            </a:r>
          </a:p>
        </p:txBody>
      </p:sp>
      <p:sp>
        <p:nvSpPr>
          <p:cNvPr id="13" name="p3.HPI.chart.band0"/>
          <p:cNvSpPr/>
          <p:nvPr/>
        </p:nvSpPr>
        <p:spPr>
          <a:xfrm>
            <a:off x="804672" y="2596896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3.HPI.chart.band1"/>
          <p:cNvSpPr/>
          <p:nvPr/>
        </p:nvSpPr>
        <p:spPr>
          <a:xfrm>
            <a:off x="804672" y="3230118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3.HPI.chart.band2"/>
          <p:cNvSpPr/>
          <p:nvPr/>
        </p:nvSpPr>
        <p:spPr>
          <a:xfrm>
            <a:off x="804672" y="3863339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3.HPI.chart.band3"/>
          <p:cNvSpPr/>
          <p:nvPr/>
        </p:nvSpPr>
        <p:spPr>
          <a:xfrm>
            <a:off x="804672" y="4496562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p3.HPI.chart.grid0"/>
          <p:cNvCxnSpPr/>
          <p:nvPr/>
        </p:nvCxnSpPr>
        <p:spPr>
          <a:xfrm>
            <a:off x="804672" y="2596896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3.HPI.chart.tick0"/>
          <p:cNvSpPr txBox="1"/>
          <p:nvPr/>
        </p:nvSpPr>
        <p:spPr>
          <a:xfrm>
            <a:off x="530352" y="2505456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100</a:t>
            </a:r>
          </a:p>
        </p:txBody>
      </p:sp>
      <p:cxnSp>
        <p:nvCxnSpPr>
          <p:cNvPr id="19" name="p3.HPI.chart.grid1"/>
          <p:cNvCxnSpPr/>
          <p:nvPr/>
        </p:nvCxnSpPr>
        <p:spPr>
          <a:xfrm>
            <a:off x="804672" y="3230118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3.HPI.chart.tick1"/>
          <p:cNvSpPr txBox="1"/>
          <p:nvPr/>
        </p:nvSpPr>
        <p:spPr>
          <a:xfrm>
            <a:off x="530352" y="3138677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75</a:t>
            </a:r>
          </a:p>
        </p:txBody>
      </p:sp>
      <p:cxnSp>
        <p:nvCxnSpPr>
          <p:cNvPr id="21" name="p3.HPI.chart.grid2"/>
          <p:cNvCxnSpPr/>
          <p:nvPr/>
        </p:nvCxnSpPr>
        <p:spPr>
          <a:xfrm>
            <a:off x="804672" y="3863339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3.HPI.chart.tick2"/>
          <p:cNvSpPr txBox="1"/>
          <p:nvPr/>
        </p:nvSpPr>
        <p:spPr>
          <a:xfrm>
            <a:off x="530352" y="3771900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50</a:t>
            </a:r>
          </a:p>
        </p:txBody>
      </p:sp>
      <p:cxnSp>
        <p:nvCxnSpPr>
          <p:cNvPr id="23" name="p3.HPI.chart.grid3"/>
          <p:cNvCxnSpPr/>
          <p:nvPr/>
        </p:nvCxnSpPr>
        <p:spPr>
          <a:xfrm>
            <a:off x="804672" y="4496562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3.HPI.chart.tick3"/>
          <p:cNvSpPr txBox="1"/>
          <p:nvPr/>
        </p:nvSpPr>
        <p:spPr>
          <a:xfrm>
            <a:off x="530352" y="4405122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25</a:t>
            </a:r>
          </a:p>
        </p:txBody>
      </p:sp>
      <p:cxnSp>
        <p:nvCxnSpPr>
          <p:cNvPr id="25" name="p3.HPI.chart.grid4"/>
          <p:cNvCxnSpPr/>
          <p:nvPr/>
        </p:nvCxnSpPr>
        <p:spPr>
          <a:xfrm>
            <a:off x="804672" y="5129783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3.HPI.chart.tick4"/>
          <p:cNvSpPr txBox="1"/>
          <p:nvPr/>
        </p:nvSpPr>
        <p:spPr>
          <a:xfrm>
            <a:off x="530352" y="5038344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0</a:t>
            </a:r>
          </a:p>
        </p:txBody>
      </p:sp>
      <p:sp>
        <p:nvSpPr>
          <p:cNvPr id="27" name="p3.HPI.chart.dim0"/>
          <p:cNvSpPr txBox="1"/>
          <p:nvPr/>
        </p:nvSpPr>
        <p:spPr>
          <a:xfrm>
            <a:off x="804672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调适</a:t>
            </a:r>
          </a:p>
        </p:txBody>
      </p:sp>
      <p:sp>
        <p:nvSpPr>
          <p:cNvPr id="28" name="p3.HPI.chart.dim1"/>
          <p:cNvSpPr txBox="1"/>
          <p:nvPr/>
        </p:nvSpPr>
        <p:spPr>
          <a:xfrm>
            <a:off x="1271016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抱负</a:t>
            </a:r>
          </a:p>
        </p:txBody>
      </p:sp>
      <p:sp>
        <p:nvSpPr>
          <p:cNvPr id="29" name="p3.HPI.chart.dim2"/>
          <p:cNvSpPr txBox="1"/>
          <p:nvPr/>
        </p:nvSpPr>
        <p:spPr>
          <a:xfrm>
            <a:off x="1737360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社交</a:t>
            </a:r>
          </a:p>
        </p:txBody>
      </p:sp>
      <p:sp>
        <p:nvSpPr>
          <p:cNvPr id="30" name="p3.HPI.chart.dim3"/>
          <p:cNvSpPr txBox="1"/>
          <p:nvPr/>
        </p:nvSpPr>
        <p:spPr>
          <a:xfrm>
            <a:off x="2203704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人际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敏感度</a:t>
            </a:r>
          </a:p>
        </p:txBody>
      </p:sp>
      <p:sp>
        <p:nvSpPr>
          <p:cNvPr id="31" name="p3.HPI.chart.dim4"/>
          <p:cNvSpPr txBox="1"/>
          <p:nvPr/>
        </p:nvSpPr>
        <p:spPr>
          <a:xfrm>
            <a:off x="2670048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审慎</a:t>
            </a:r>
          </a:p>
        </p:txBody>
      </p:sp>
      <p:sp>
        <p:nvSpPr>
          <p:cNvPr id="32" name="p3.HPI.chart.dim5"/>
          <p:cNvSpPr txBox="1"/>
          <p:nvPr/>
        </p:nvSpPr>
        <p:spPr>
          <a:xfrm>
            <a:off x="3136392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好奇</a:t>
            </a:r>
          </a:p>
        </p:txBody>
      </p:sp>
      <p:sp>
        <p:nvSpPr>
          <p:cNvPr id="33" name="p3.HPI.chart.dim6"/>
          <p:cNvSpPr txBox="1"/>
          <p:nvPr/>
        </p:nvSpPr>
        <p:spPr>
          <a:xfrm>
            <a:off x="3602736" y="5221223"/>
            <a:ext cx="46634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学习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方式</a:t>
            </a:r>
          </a:p>
        </p:txBody>
      </p:sp>
      <p:sp>
        <p:nvSpPr>
          <p:cNvPr id="34" name="p3.HPI.chart.replace"/>
          <p:cNvSpPr txBox="1"/>
          <p:nvPr/>
        </p:nvSpPr>
        <p:spPr>
          <a:xfrm>
            <a:off x="859536" y="3686037"/>
            <a:ext cx="3154680" cy="4389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[按本批数据填入均值 / 中位值折线]</a:t>
            </a:r>
          </a:p>
        </p:txBody>
      </p:sp>
      <p:sp>
        <p:nvSpPr>
          <p:cNvPr id="35" name="p3.HPI.foot"/>
          <p:cNvSpPr txBox="1"/>
          <p:nvPr/>
        </p:nvSpPr>
        <p:spPr>
          <a:xfrm>
            <a:off x="658368" y="5751576"/>
            <a:ext cx="3401568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F7B8D"/>
                </a:solidFill>
                <a:latin typeface="Noto Sans CJK SC"/>
              </a:rPr>
              <a:t>[结合范围和分布解释，不用均值代替个人。]</a:t>
            </a:r>
          </a:p>
        </p:txBody>
      </p:sp>
      <p:sp>
        <p:nvSpPr>
          <p:cNvPr id="36" name="p3.HDS.header.bg"/>
          <p:cNvSpPr/>
          <p:nvPr/>
        </p:nvSpPr>
        <p:spPr>
          <a:xfrm>
            <a:off x="4379976" y="1399032"/>
            <a:ext cx="3630168" cy="786384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3.HDS.header"/>
          <p:cNvSpPr txBox="1"/>
          <p:nvPr/>
        </p:nvSpPr>
        <p:spPr>
          <a:xfrm>
            <a:off x="4517136" y="1481328"/>
            <a:ext cx="3346704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8565B"/>
                </a:solidFill>
                <a:latin typeface="Noto Sans CJK SC"/>
              </a:rPr>
              <a:t>HDS</a:t>
            </a:r>
          </a:p>
        </p:txBody>
      </p:sp>
      <p:sp>
        <p:nvSpPr>
          <p:cNvPr id="38" name="p3.HDS.summary"/>
          <p:cNvSpPr txBox="1"/>
          <p:nvPr/>
        </p:nvSpPr>
        <p:spPr>
          <a:xfrm>
            <a:off x="4517136" y="1801368"/>
            <a:ext cx="334670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F7B8D"/>
                </a:solidFill>
                <a:latin typeface="Noto Sans CJK SC"/>
              </a:rPr>
              <a:t>[该量表最主要的共性或分化]</a:t>
            </a:r>
          </a:p>
        </p:txBody>
      </p:sp>
      <p:sp>
        <p:nvSpPr>
          <p:cNvPr id="39" name="p3.HDS.chart.band0"/>
          <p:cNvSpPr/>
          <p:nvPr/>
        </p:nvSpPr>
        <p:spPr>
          <a:xfrm>
            <a:off x="4636008" y="2596896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3.HDS.chart.band1"/>
          <p:cNvSpPr/>
          <p:nvPr/>
        </p:nvSpPr>
        <p:spPr>
          <a:xfrm>
            <a:off x="4636008" y="3230118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3.HDS.chart.band2"/>
          <p:cNvSpPr/>
          <p:nvPr/>
        </p:nvSpPr>
        <p:spPr>
          <a:xfrm>
            <a:off x="4636008" y="3863339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3.HDS.chart.band3"/>
          <p:cNvSpPr/>
          <p:nvPr/>
        </p:nvSpPr>
        <p:spPr>
          <a:xfrm>
            <a:off x="4636008" y="4496562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p3.HDS.chart.grid0"/>
          <p:cNvCxnSpPr/>
          <p:nvPr/>
        </p:nvCxnSpPr>
        <p:spPr>
          <a:xfrm>
            <a:off x="4636008" y="2596896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3.HDS.chart.tick0"/>
          <p:cNvSpPr txBox="1"/>
          <p:nvPr/>
        </p:nvSpPr>
        <p:spPr>
          <a:xfrm>
            <a:off x="4361688" y="2505456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100</a:t>
            </a:r>
          </a:p>
        </p:txBody>
      </p:sp>
      <p:cxnSp>
        <p:nvCxnSpPr>
          <p:cNvPr id="45" name="p3.HDS.chart.grid1"/>
          <p:cNvCxnSpPr/>
          <p:nvPr/>
        </p:nvCxnSpPr>
        <p:spPr>
          <a:xfrm>
            <a:off x="4636008" y="3230118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3.HDS.chart.tick1"/>
          <p:cNvSpPr txBox="1"/>
          <p:nvPr/>
        </p:nvSpPr>
        <p:spPr>
          <a:xfrm>
            <a:off x="4361688" y="3138677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75</a:t>
            </a:r>
          </a:p>
        </p:txBody>
      </p:sp>
      <p:cxnSp>
        <p:nvCxnSpPr>
          <p:cNvPr id="47" name="p3.HDS.chart.grid2"/>
          <p:cNvCxnSpPr/>
          <p:nvPr/>
        </p:nvCxnSpPr>
        <p:spPr>
          <a:xfrm>
            <a:off x="4636008" y="3863339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3.HDS.chart.tick2"/>
          <p:cNvSpPr txBox="1"/>
          <p:nvPr/>
        </p:nvSpPr>
        <p:spPr>
          <a:xfrm>
            <a:off x="4361688" y="3771900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50</a:t>
            </a:r>
          </a:p>
        </p:txBody>
      </p:sp>
      <p:cxnSp>
        <p:nvCxnSpPr>
          <p:cNvPr id="49" name="p3.HDS.chart.grid3"/>
          <p:cNvCxnSpPr/>
          <p:nvPr/>
        </p:nvCxnSpPr>
        <p:spPr>
          <a:xfrm>
            <a:off x="4636008" y="4496562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3.HDS.chart.tick3"/>
          <p:cNvSpPr txBox="1"/>
          <p:nvPr/>
        </p:nvSpPr>
        <p:spPr>
          <a:xfrm>
            <a:off x="4361688" y="4405122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25</a:t>
            </a:r>
          </a:p>
        </p:txBody>
      </p:sp>
      <p:cxnSp>
        <p:nvCxnSpPr>
          <p:cNvPr id="51" name="p3.HDS.chart.grid4"/>
          <p:cNvCxnSpPr/>
          <p:nvPr/>
        </p:nvCxnSpPr>
        <p:spPr>
          <a:xfrm>
            <a:off x="4636008" y="5129783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p3.HDS.chart.tick4"/>
          <p:cNvSpPr txBox="1"/>
          <p:nvPr/>
        </p:nvSpPr>
        <p:spPr>
          <a:xfrm>
            <a:off x="4361688" y="5038344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0</a:t>
            </a:r>
          </a:p>
        </p:txBody>
      </p:sp>
      <p:sp>
        <p:nvSpPr>
          <p:cNvPr id="53" name="p3.HDS.chart.dim0"/>
          <p:cNvSpPr txBox="1"/>
          <p:nvPr/>
        </p:nvSpPr>
        <p:spPr>
          <a:xfrm>
            <a:off x="4636008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激动</a:t>
            </a:r>
          </a:p>
        </p:txBody>
      </p:sp>
      <p:sp>
        <p:nvSpPr>
          <p:cNvPr id="54" name="p3.HDS.chart.dim1"/>
          <p:cNvSpPr txBox="1"/>
          <p:nvPr/>
        </p:nvSpPr>
        <p:spPr>
          <a:xfrm>
            <a:off x="4932772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多疑</a:t>
            </a:r>
          </a:p>
        </p:txBody>
      </p:sp>
      <p:sp>
        <p:nvSpPr>
          <p:cNvPr id="55" name="p3.HDS.chart.dim2"/>
          <p:cNvSpPr txBox="1"/>
          <p:nvPr/>
        </p:nvSpPr>
        <p:spPr>
          <a:xfrm>
            <a:off x="5229536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谨慎</a:t>
            </a:r>
          </a:p>
        </p:txBody>
      </p:sp>
      <p:sp>
        <p:nvSpPr>
          <p:cNvPr id="56" name="p3.HDS.chart.dim3"/>
          <p:cNvSpPr txBox="1"/>
          <p:nvPr/>
        </p:nvSpPr>
        <p:spPr>
          <a:xfrm>
            <a:off x="5526301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内敛</a:t>
            </a:r>
          </a:p>
        </p:txBody>
      </p:sp>
      <p:sp>
        <p:nvSpPr>
          <p:cNvPr id="57" name="p3.HDS.chart.dim4"/>
          <p:cNvSpPr txBox="1"/>
          <p:nvPr/>
        </p:nvSpPr>
        <p:spPr>
          <a:xfrm>
            <a:off x="5823065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消极</a:t>
            </a:r>
          </a:p>
        </p:txBody>
      </p:sp>
      <p:sp>
        <p:nvSpPr>
          <p:cNvPr id="58" name="p3.HDS.chart.dim5"/>
          <p:cNvSpPr txBox="1"/>
          <p:nvPr/>
        </p:nvSpPr>
        <p:spPr>
          <a:xfrm>
            <a:off x="6119829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自大</a:t>
            </a:r>
          </a:p>
        </p:txBody>
      </p:sp>
      <p:sp>
        <p:nvSpPr>
          <p:cNvPr id="59" name="p3.HDS.chart.dim6"/>
          <p:cNvSpPr txBox="1"/>
          <p:nvPr/>
        </p:nvSpPr>
        <p:spPr>
          <a:xfrm>
            <a:off x="6416594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狡猾</a:t>
            </a:r>
          </a:p>
        </p:txBody>
      </p:sp>
      <p:sp>
        <p:nvSpPr>
          <p:cNvPr id="60" name="p3.HDS.chart.dim7"/>
          <p:cNvSpPr txBox="1"/>
          <p:nvPr/>
        </p:nvSpPr>
        <p:spPr>
          <a:xfrm>
            <a:off x="6713358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戏剧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化</a:t>
            </a:r>
          </a:p>
        </p:txBody>
      </p:sp>
      <p:sp>
        <p:nvSpPr>
          <p:cNvPr id="61" name="p3.HDS.chart.dim8"/>
          <p:cNvSpPr txBox="1"/>
          <p:nvPr/>
        </p:nvSpPr>
        <p:spPr>
          <a:xfrm>
            <a:off x="7010122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幻想</a:t>
            </a:r>
          </a:p>
        </p:txBody>
      </p:sp>
      <p:sp>
        <p:nvSpPr>
          <p:cNvPr id="62" name="p3.HDS.chart.dim9"/>
          <p:cNvSpPr txBox="1"/>
          <p:nvPr/>
        </p:nvSpPr>
        <p:spPr>
          <a:xfrm>
            <a:off x="7306887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苛求</a:t>
            </a:r>
          </a:p>
        </p:txBody>
      </p:sp>
      <p:sp>
        <p:nvSpPr>
          <p:cNvPr id="63" name="p3.HDS.chart.dim10"/>
          <p:cNvSpPr txBox="1"/>
          <p:nvPr/>
        </p:nvSpPr>
        <p:spPr>
          <a:xfrm>
            <a:off x="7603651" y="5221223"/>
            <a:ext cx="296764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恭顺</a:t>
            </a:r>
          </a:p>
        </p:txBody>
      </p:sp>
      <p:sp>
        <p:nvSpPr>
          <p:cNvPr id="64" name="p3.HDS.chart.replace"/>
          <p:cNvSpPr txBox="1"/>
          <p:nvPr/>
        </p:nvSpPr>
        <p:spPr>
          <a:xfrm>
            <a:off x="4690872" y="3686037"/>
            <a:ext cx="3154680" cy="4389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[按本批数据填入均值 / 中位值折线]</a:t>
            </a:r>
          </a:p>
        </p:txBody>
      </p:sp>
      <p:sp>
        <p:nvSpPr>
          <p:cNvPr id="65" name="p3.HDS.foot"/>
          <p:cNvSpPr txBox="1"/>
          <p:nvPr/>
        </p:nvSpPr>
        <p:spPr>
          <a:xfrm>
            <a:off x="4489704" y="5751576"/>
            <a:ext cx="3401568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F7B8D"/>
                </a:solidFill>
                <a:latin typeface="Noto Sans CJK SC"/>
              </a:rPr>
              <a:t>[结合范围和分布解释，不用均值代替个人。]</a:t>
            </a:r>
          </a:p>
        </p:txBody>
      </p:sp>
      <p:sp>
        <p:nvSpPr>
          <p:cNvPr id="66" name="p3.MVPI.header.bg"/>
          <p:cNvSpPr/>
          <p:nvPr/>
        </p:nvSpPr>
        <p:spPr>
          <a:xfrm>
            <a:off x="8211312" y="1399032"/>
            <a:ext cx="3630168" cy="786384"/>
          </a:xfrm>
          <a:prstGeom prst="roundRect">
            <a:avLst>
              <a:gd name="adj" fmla="val 3500"/>
            </a:avLst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3.MVPI.header"/>
          <p:cNvSpPr txBox="1"/>
          <p:nvPr/>
        </p:nvSpPr>
        <p:spPr>
          <a:xfrm>
            <a:off x="8348472" y="1481328"/>
            <a:ext cx="3346704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48B28"/>
                </a:solidFill>
                <a:latin typeface="Noto Sans CJK SC"/>
              </a:rPr>
              <a:t>MVPI</a:t>
            </a:r>
          </a:p>
        </p:txBody>
      </p:sp>
      <p:sp>
        <p:nvSpPr>
          <p:cNvPr id="68" name="p3.MVPI.summary"/>
          <p:cNvSpPr txBox="1"/>
          <p:nvPr/>
        </p:nvSpPr>
        <p:spPr>
          <a:xfrm>
            <a:off x="8348472" y="1801368"/>
            <a:ext cx="3346704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F7B8D"/>
                </a:solidFill>
                <a:latin typeface="Noto Sans CJK SC"/>
              </a:rPr>
              <a:t>[该量表最主要的共性或分化]</a:t>
            </a:r>
          </a:p>
        </p:txBody>
      </p:sp>
      <p:sp>
        <p:nvSpPr>
          <p:cNvPr id="69" name="p3.MVPI.chart.band0"/>
          <p:cNvSpPr/>
          <p:nvPr/>
        </p:nvSpPr>
        <p:spPr>
          <a:xfrm>
            <a:off x="8467344" y="2596896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p3.MVPI.chart.band1"/>
          <p:cNvSpPr/>
          <p:nvPr/>
        </p:nvSpPr>
        <p:spPr>
          <a:xfrm>
            <a:off x="8467344" y="3230118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3.MVPI.chart.band2"/>
          <p:cNvSpPr/>
          <p:nvPr/>
        </p:nvSpPr>
        <p:spPr>
          <a:xfrm>
            <a:off x="8467344" y="3863339"/>
            <a:ext cx="3264408" cy="633222"/>
          </a:xfrm>
          <a:prstGeom prst="rect">
            <a:avLst/>
          </a:prstGeom>
          <a:solidFill>
            <a:srgbClr val="F2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p3.MVPI.chart.band3"/>
          <p:cNvSpPr/>
          <p:nvPr/>
        </p:nvSpPr>
        <p:spPr>
          <a:xfrm>
            <a:off x="8467344" y="4496562"/>
            <a:ext cx="3264408" cy="633222"/>
          </a:xfrm>
          <a:prstGeom prst="rect">
            <a:avLst/>
          </a:prstGeom>
          <a:solidFill>
            <a:srgbClr val="F9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p3.MVPI.chart.grid0"/>
          <p:cNvCxnSpPr/>
          <p:nvPr/>
        </p:nvCxnSpPr>
        <p:spPr>
          <a:xfrm>
            <a:off x="8467344" y="2596896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p3.MVPI.chart.tick0"/>
          <p:cNvSpPr txBox="1"/>
          <p:nvPr/>
        </p:nvSpPr>
        <p:spPr>
          <a:xfrm>
            <a:off x="8193024" y="2505456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100</a:t>
            </a:r>
          </a:p>
        </p:txBody>
      </p:sp>
      <p:cxnSp>
        <p:nvCxnSpPr>
          <p:cNvPr id="75" name="p3.MVPI.chart.grid1"/>
          <p:cNvCxnSpPr/>
          <p:nvPr/>
        </p:nvCxnSpPr>
        <p:spPr>
          <a:xfrm>
            <a:off x="8467344" y="3230118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p3.MVPI.chart.tick1"/>
          <p:cNvSpPr txBox="1"/>
          <p:nvPr/>
        </p:nvSpPr>
        <p:spPr>
          <a:xfrm>
            <a:off x="8193024" y="3138677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75</a:t>
            </a:r>
          </a:p>
        </p:txBody>
      </p:sp>
      <p:cxnSp>
        <p:nvCxnSpPr>
          <p:cNvPr id="77" name="p3.MVPI.chart.grid2"/>
          <p:cNvCxnSpPr/>
          <p:nvPr/>
        </p:nvCxnSpPr>
        <p:spPr>
          <a:xfrm>
            <a:off x="8467344" y="3863339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p3.MVPI.chart.tick2"/>
          <p:cNvSpPr txBox="1"/>
          <p:nvPr/>
        </p:nvSpPr>
        <p:spPr>
          <a:xfrm>
            <a:off x="8193024" y="3771900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50</a:t>
            </a:r>
          </a:p>
        </p:txBody>
      </p:sp>
      <p:cxnSp>
        <p:nvCxnSpPr>
          <p:cNvPr id="79" name="p3.MVPI.chart.grid3"/>
          <p:cNvCxnSpPr/>
          <p:nvPr/>
        </p:nvCxnSpPr>
        <p:spPr>
          <a:xfrm>
            <a:off x="8467344" y="4496562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p3.MVPI.chart.tick3"/>
          <p:cNvSpPr txBox="1"/>
          <p:nvPr/>
        </p:nvSpPr>
        <p:spPr>
          <a:xfrm>
            <a:off x="8193024" y="4405122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25</a:t>
            </a:r>
          </a:p>
        </p:txBody>
      </p:sp>
      <p:cxnSp>
        <p:nvCxnSpPr>
          <p:cNvPr id="81" name="p3.MVPI.chart.grid4"/>
          <p:cNvCxnSpPr/>
          <p:nvPr/>
        </p:nvCxnSpPr>
        <p:spPr>
          <a:xfrm>
            <a:off x="8467344" y="5129783"/>
            <a:ext cx="3264408" cy="0"/>
          </a:xfrm>
          <a:prstGeom prst="line">
            <a:avLst/>
          </a:prstGeom>
          <a:ln w="9525">
            <a:solidFill>
              <a:srgbClr val="DFE5E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p3.MVPI.chart.tick4"/>
          <p:cNvSpPr txBox="1"/>
          <p:nvPr/>
        </p:nvSpPr>
        <p:spPr>
          <a:xfrm>
            <a:off x="8193024" y="5038344"/>
            <a:ext cx="237744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F7B8D"/>
                </a:solidFill>
                <a:latin typeface="Noto Sans CJK SC"/>
              </a:rPr>
              <a:t>0</a:t>
            </a:r>
          </a:p>
        </p:txBody>
      </p:sp>
      <p:sp>
        <p:nvSpPr>
          <p:cNvPr id="83" name="p3.MVPI.chart.dim0"/>
          <p:cNvSpPr txBox="1"/>
          <p:nvPr/>
        </p:nvSpPr>
        <p:spPr>
          <a:xfrm>
            <a:off x="8467344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认可</a:t>
            </a:r>
          </a:p>
        </p:txBody>
      </p:sp>
      <p:sp>
        <p:nvSpPr>
          <p:cNvPr id="84" name="p3.MVPI.chart.dim1"/>
          <p:cNvSpPr txBox="1"/>
          <p:nvPr/>
        </p:nvSpPr>
        <p:spPr>
          <a:xfrm>
            <a:off x="8793784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权力</a:t>
            </a:r>
          </a:p>
        </p:txBody>
      </p:sp>
      <p:sp>
        <p:nvSpPr>
          <p:cNvPr id="85" name="p3.MVPI.chart.dim2"/>
          <p:cNvSpPr txBox="1"/>
          <p:nvPr/>
        </p:nvSpPr>
        <p:spPr>
          <a:xfrm>
            <a:off x="9120225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享乐</a:t>
            </a:r>
          </a:p>
        </p:txBody>
      </p:sp>
      <p:sp>
        <p:nvSpPr>
          <p:cNvPr id="86" name="p3.MVPI.chart.dim3"/>
          <p:cNvSpPr txBox="1"/>
          <p:nvPr/>
        </p:nvSpPr>
        <p:spPr>
          <a:xfrm>
            <a:off x="9446666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利他</a:t>
            </a:r>
          </a:p>
        </p:txBody>
      </p:sp>
      <p:sp>
        <p:nvSpPr>
          <p:cNvPr id="87" name="p3.MVPI.chart.dim4"/>
          <p:cNvSpPr txBox="1"/>
          <p:nvPr/>
        </p:nvSpPr>
        <p:spPr>
          <a:xfrm>
            <a:off x="9773107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归属</a:t>
            </a:r>
          </a:p>
        </p:txBody>
      </p:sp>
      <p:sp>
        <p:nvSpPr>
          <p:cNvPr id="88" name="p3.MVPI.chart.dim5"/>
          <p:cNvSpPr txBox="1"/>
          <p:nvPr/>
        </p:nvSpPr>
        <p:spPr>
          <a:xfrm>
            <a:off x="10099548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传统</a:t>
            </a:r>
          </a:p>
        </p:txBody>
      </p:sp>
      <p:sp>
        <p:nvSpPr>
          <p:cNvPr id="89" name="p3.MVPI.chart.dim6"/>
          <p:cNvSpPr txBox="1"/>
          <p:nvPr/>
        </p:nvSpPr>
        <p:spPr>
          <a:xfrm>
            <a:off x="10425988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保障</a:t>
            </a:r>
          </a:p>
        </p:txBody>
      </p:sp>
      <p:sp>
        <p:nvSpPr>
          <p:cNvPr id="90" name="p3.MVPI.chart.dim7"/>
          <p:cNvSpPr txBox="1"/>
          <p:nvPr/>
        </p:nvSpPr>
        <p:spPr>
          <a:xfrm>
            <a:off x="10752429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商业</a:t>
            </a:r>
          </a:p>
        </p:txBody>
      </p:sp>
      <p:sp>
        <p:nvSpPr>
          <p:cNvPr id="91" name="p3.MVPI.chart.dim8"/>
          <p:cNvSpPr txBox="1"/>
          <p:nvPr/>
        </p:nvSpPr>
        <p:spPr>
          <a:xfrm>
            <a:off x="11078870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美感</a:t>
            </a:r>
          </a:p>
        </p:txBody>
      </p:sp>
      <p:sp>
        <p:nvSpPr>
          <p:cNvPr id="92" name="p3.MVPI.chart.dim9"/>
          <p:cNvSpPr txBox="1"/>
          <p:nvPr/>
        </p:nvSpPr>
        <p:spPr>
          <a:xfrm>
            <a:off x="11405311" y="5221223"/>
            <a:ext cx="326440" cy="39319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科学</a:t>
            </a:r>
          </a:p>
        </p:txBody>
      </p:sp>
      <p:sp>
        <p:nvSpPr>
          <p:cNvPr id="93" name="p3.MVPI.chart.replace"/>
          <p:cNvSpPr txBox="1"/>
          <p:nvPr/>
        </p:nvSpPr>
        <p:spPr>
          <a:xfrm>
            <a:off x="8522208" y="3686037"/>
            <a:ext cx="3154680" cy="43891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[按本批数据填入均值 / 中位值折线]</a:t>
            </a:r>
          </a:p>
        </p:txBody>
      </p:sp>
      <p:sp>
        <p:nvSpPr>
          <p:cNvPr id="94" name="p3.MVPI.foot"/>
          <p:cNvSpPr txBox="1"/>
          <p:nvPr/>
        </p:nvSpPr>
        <p:spPr>
          <a:xfrm>
            <a:off x="8321040" y="5751576"/>
            <a:ext cx="3401568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F7B8D"/>
                </a:solidFill>
                <a:latin typeface="Noto Sans CJK SC"/>
              </a:rPr>
              <a:t>[结合范围和分布解释，不用均值代替个人。]</a:t>
            </a:r>
          </a:p>
        </p:txBody>
      </p:sp>
      <p:cxnSp>
        <p:nvCxnSpPr>
          <p:cNvPr id="95" name="p3.legend.mean"/>
          <p:cNvCxnSpPr/>
          <p:nvPr/>
        </p:nvCxnSpPr>
        <p:spPr>
          <a:xfrm>
            <a:off x="7818120" y="6254496"/>
            <a:ext cx="393192" cy="0"/>
          </a:xfrm>
          <a:prstGeom prst="line">
            <a:avLst/>
          </a:prstGeom>
          <a:ln w="21590">
            <a:solidFill>
              <a:srgbClr val="3078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p3.legend.mean.text"/>
          <p:cNvSpPr txBox="1"/>
          <p:nvPr/>
        </p:nvSpPr>
        <p:spPr>
          <a:xfrm>
            <a:off x="8275320" y="6126480"/>
            <a:ext cx="521207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5"/>
                </a:solidFill>
                <a:latin typeface="Noto Sans CJK SC"/>
              </a:rPr>
              <a:t>均值</a:t>
            </a:r>
          </a:p>
        </p:txBody>
      </p:sp>
      <p:cxnSp>
        <p:nvCxnSpPr>
          <p:cNvPr id="97" name="p3.legend.median"/>
          <p:cNvCxnSpPr/>
          <p:nvPr/>
        </p:nvCxnSpPr>
        <p:spPr>
          <a:xfrm>
            <a:off x="9290304" y="6254496"/>
            <a:ext cx="393192" cy="0"/>
          </a:xfrm>
          <a:prstGeom prst="line">
            <a:avLst/>
          </a:prstGeom>
          <a:ln w="21590">
            <a:solidFill>
              <a:srgbClr val="E856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p3.legend.median.text"/>
          <p:cNvSpPr txBox="1"/>
          <p:nvPr/>
        </p:nvSpPr>
        <p:spPr>
          <a:xfrm>
            <a:off x="9747504" y="6126480"/>
            <a:ext cx="749808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5"/>
                </a:solidFill>
                <a:latin typeface="Noto Sans CJK SC"/>
              </a:rPr>
              <a:t>中位值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4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4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HPI：{这批人平时怎样承担、学习、安排和合作}</a:t>
            </a:r>
          </a:p>
        </p:txBody>
      </p:sp>
      <p:sp>
        <p:nvSpPr>
          <p:cNvPr id="4" name="p4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日常工作风格  /  群体共性 + HPI内部组合 + 内部分化</a:t>
            </a:r>
          </a:p>
        </p:txBody>
      </p:sp>
      <p:cxnSp>
        <p:nvCxnSpPr>
          <p:cNvPr id="5" name="p4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4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04</a:t>
            </a:r>
          </a:p>
        </p:txBody>
      </p:sp>
      <p:cxnSp>
        <p:nvCxnSpPr>
          <p:cNvPr id="7" name="p4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4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4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4.radar.ring0.2"/>
          <p:cNvSpPr/>
          <p:nvPr/>
        </p:nvSpPr>
        <p:spPr>
          <a:xfrm>
            <a:off x="2757089" y="3237058"/>
            <a:ext cx="566580" cy="566580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4.radar.ring0.4"/>
          <p:cNvSpPr/>
          <p:nvPr/>
        </p:nvSpPr>
        <p:spPr>
          <a:xfrm>
            <a:off x="2473799" y="2953768"/>
            <a:ext cx="1133161" cy="1133161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4.radar.ring0.6"/>
          <p:cNvSpPr/>
          <p:nvPr/>
        </p:nvSpPr>
        <p:spPr>
          <a:xfrm>
            <a:off x="2190509" y="2670477"/>
            <a:ext cx="1699741" cy="1699741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4.radar.ring0.8"/>
          <p:cNvSpPr/>
          <p:nvPr/>
        </p:nvSpPr>
        <p:spPr>
          <a:xfrm>
            <a:off x="1907218" y="2387187"/>
            <a:ext cx="2266322" cy="226632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4.radar.ring1"/>
          <p:cNvSpPr/>
          <p:nvPr/>
        </p:nvSpPr>
        <p:spPr>
          <a:xfrm>
            <a:off x="1623928" y="2103897"/>
            <a:ext cx="2832902" cy="283290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p4.radar.axis0"/>
          <p:cNvCxnSpPr/>
          <p:nvPr/>
        </p:nvCxnSpPr>
        <p:spPr>
          <a:xfrm flipV="1">
            <a:off x="3040380" y="2103897"/>
            <a:ext cx="0" cy="141645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4.radar.dim0"/>
          <p:cNvSpPr txBox="1"/>
          <p:nvPr/>
        </p:nvSpPr>
        <p:spPr>
          <a:xfrm>
            <a:off x="2491740" y="1600702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调适</a:t>
            </a:r>
          </a:p>
        </p:txBody>
      </p:sp>
      <p:cxnSp>
        <p:nvCxnSpPr>
          <p:cNvPr id="17" name="p4.radar.axis1"/>
          <p:cNvCxnSpPr/>
          <p:nvPr/>
        </p:nvCxnSpPr>
        <p:spPr>
          <a:xfrm flipV="1">
            <a:off x="3040380" y="2637205"/>
            <a:ext cx="1107426" cy="88314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4.radar.dim1"/>
          <p:cNvSpPr txBox="1"/>
          <p:nvPr/>
        </p:nvSpPr>
        <p:spPr>
          <a:xfrm>
            <a:off x="3831725" y="2246005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抱负</a:t>
            </a:r>
          </a:p>
        </p:txBody>
      </p:sp>
      <p:cxnSp>
        <p:nvCxnSpPr>
          <p:cNvPr id="19" name="p4.radar.axis2"/>
          <p:cNvCxnSpPr/>
          <p:nvPr/>
        </p:nvCxnSpPr>
        <p:spPr>
          <a:xfrm>
            <a:off x="3040380" y="3520348"/>
            <a:ext cx="1380937" cy="31519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4.radar.dim2"/>
          <p:cNvSpPr txBox="1"/>
          <p:nvPr/>
        </p:nvSpPr>
        <p:spPr>
          <a:xfrm>
            <a:off x="4162674" y="369598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社交</a:t>
            </a:r>
          </a:p>
        </p:txBody>
      </p:sp>
      <p:cxnSp>
        <p:nvCxnSpPr>
          <p:cNvPr id="21" name="p4.radar.axis3"/>
          <p:cNvCxnSpPr/>
          <p:nvPr/>
        </p:nvCxnSpPr>
        <p:spPr>
          <a:xfrm>
            <a:off x="3040380" y="3520348"/>
            <a:ext cx="614575" cy="1276179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4.radar.dim3"/>
          <p:cNvSpPr txBox="1"/>
          <p:nvPr/>
        </p:nvSpPr>
        <p:spPr>
          <a:xfrm>
            <a:off x="3235375" y="485878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人际敏感度</a:t>
            </a:r>
          </a:p>
        </p:txBody>
      </p:sp>
      <p:cxnSp>
        <p:nvCxnSpPr>
          <p:cNvPr id="23" name="p4.radar.axis4"/>
          <p:cNvCxnSpPr/>
          <p:nvPr/>
        </p:nvCxnSpPr>
        <p:spPr>
          <a:xfrm flipH="1">
            <a:off x="2425804" y="3520348"/>
            <a:ext cx="614576" cy="1276179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4.radar.dim4"/>
          <p:cNvSpPr txBox="1"/>
          <p:nvPr/>
        </p:nvSpPr>
        <p:spPr>
          <a:xfrm>
            <a:off x="1748104" y="485878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审慎</a:t>
            </a:r>
          </a:p>
        </p:txBody>
      </p:sp>
      <p:cxnSp>
        <p:nvCxnSpPr>
          <p:cNvPr id="25" name="p4.radar.axis5"/>
          <p:cNvCxnSpPr/>
          <p:nvPr/>
        </p:nvCxnSpPr>
        <p:spPr>
          <a:xfrm flipH="1">
            <a:off x="1659442" y="3520348"/>
            <a:ext cx="1380938" cy="31519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4.radar.dim5"/>
          <p:cNvSpPr txBox="1"/>
          <p:nvPr/>
        </p:nvSpPr>
        <p:spPr>
          <a:xfrm>
            <a:off x="820805" y="369598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好奇</a:t>
            </a:r>
          </a:p>
        </p:txBody>
      </p:sp>
      <p:cxnSp>
        <p:nvCxnSpPr>
          <p:cNvPr id="27" name="p4.radar.axis6"/>
          <p:cNvCxnSpPr/>
          <p:nvPr/>
        </p:nvCxnSpPr>
        <p:spPr>
          <a:xfrm flipH="1" flipV="1">
            <a:off x="1932953" y="2637205"/>
            <a:ext cx="1107427" cy="883143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4.radar.dim6"/>
          <p:cNvSpPr txBox="1"/>
          <p:nvPr/>
        </p:nvSpPr>
        <p:spPr>
          <a:xfrm>
            <a:off x="1151754" y="2246005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学习方式</a:t>
            </a:r>
          </a:p>
        </p:txBody>
      </p:sp>
      <p:sp>
        <p:nvSpPr>
          <p:cNvPr id="29" name="p4.radar.caption.bg"/>
          <p:cNvSpPr/>
          <p:nvPr/>
        </p:nvSpPr>
        <p:spPr>
          <a:xfrm>
            <a:off x="1523390" y="3236884"/>
            <a:ext cx="3033979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4.radar.replace"/>
          <p:cNvSpPr txBox="1"/>
          <p:nvPr/>
        </p:nvSpPr>
        <p:spPr>
          <a:xfrm>
            <a:off x="1573956" y="3255172"/>
            <a:ext cx="2932846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插入本批HPI群体雷达图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均值 / 中位值 / 个体轮廓</a:t>
            </a:r>
          </a:p>
        </p:txBody>
      </p:sp>
      <p:sp>
        <p:nvSpPr>
          <p:cNvPr id="31" name="p4.finding0.bg"/>
          <p:cNvSpPr/>
          <p:nvPr/>
        </p:nvSpPr>
        <p:spPr>
          <a:xfrm>
            <a:off x="5815584" y="1435608"/>
            <a:ext cx="5824728" cy="12161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4.finding0.stripe"/>
          <p:cNvSpPr/>
          <p:nvPr/>
        </p:nvSpPr>
        <p:spPr>
          <a:xfrm>
            <a:off x="5925312" y="1609344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4.finding0.title"/>
          <p:cNvSpPr txBox="1"/>
          <p:nvPr/>
        </p:nvSpPr>
        <p:spPr>
          <a:xfrm>
            <a:off x="6035040" y="1517904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[结论1：具体的日常做事方式]</a:t>
            </a:r>
          </a:p>
        </p:txBody>
      </p:sp>
      <p:sp>
        <p:nvSpPr>
          <p:cNvPr id="34" name="p4.finding0.body"/>
          <p:cNvSpPr txBox="1"/>
          <p:nvPr/>
        </p:nvSpPr>
        <p:spPr>
          <a:xfrm>
            <a:off x="6035040" y="1920240"/>
            <a:ext cx="5404104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[在常见任务中可能如何推进；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说明对工作或合作哪一步有帮助或代价。]</a:t>
            </a:r>
          </a:p>
        </p:txBody>
      </p:sp>
      <p:sp>
        <p:nvSpPr>
          <p:cNvPr id="35" name="p4.finding0.evidence"/>
          <p:cNvSpPr txBox="1"/>
          <p:nvPr/>
        </p:nvSpPr>
        <p:spPr>
          <a:xfrm>
            <a:off x="6035040" y="2386584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依据：{少量数据；完整证据见受限备注}</a:t>
            </a:r>
          </a:p>
        </p:txBody>
      </p:sp>
      <p:sp>
        <p:nvSpPr>
          <p:cNvPr id="36" name="p4.finding1.bg"/>
          <p:cNvSpPr/>
          <p:nvPr/>
        </p:nvSpPr>
        <p:spPr>
          <a:xfrm>
            <a:off x="5815584" y="2779776"/>
            <a:ext cx="5824728" cy="12161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4.finding1.stripe"/>
          <p:cNvSpPr/>
          <p:nvPr/>
        </p:nvSpPr>
        <p:spPr>
          <a:xfrm>
            <a:off x="5925312" y="2953512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4.finding1.title"/>
          <p:cNvSpPr txBox="1"/>
          <p:nvPr/>
        </p:nvSpPr>
        <p:spPr>
          <a:xfrm>
            <a:off x="6035040" y="2862072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[结论2：具体的日常做事方式]</a:t>
            </a:r>
          </a:p>
        </p:txBody>
      </p:sp>
      <p:sp>
        <p:nvSpPr>
          <p:cNvPr id="39" name="p4.finding1.body"/>
          <p:cNvSpPr txBox="1"/>
          <p:nvPr/>
        </p:nvSpPr>
        <p:spPr>
          <a:xfrm>
            <a:off x="6035040" y="3264408"/>
            <a:ext cx="5404104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[在常见任务中可能如何推进；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说明对工作或合作哪一步有帮助或代价。]</a:t>
            </a:r>
          </a:p>
        </p:txBody>
      </p:sp>
      <p:sp>
        <p:nvSpPr>
          <p:cNvPr id="40" name="p4.finding1.evidence"/>
          <p:cNvSpPr txBox="1"/>
          <p:nvPr/>
        </p:nvSpPr>
        <p:spPr>
          <a:xfrm>
            <a:off x="6035040" y="3730752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依据：{少量数据；完整证据见受限备注}</a:t>
            </a:r>
          </a:p>
        </p:txBody>
      </p:sp>
      <p:sp>
        <p:nvSpPr>
          <p:cNvPr id="41" name="p4.finding2.bg"/>
          <p:cNvSpPr/>
          <p:nvPr/>
        </p:nvSpPr>
        <p:spPr>
          <a:xfrm>
            <a:off x="5815584" y="4123944"/>
            <a:ext cx="5824728" cy="121615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4.finding2.stripe"/>
          <p:cNvSpPr/>
          <p:nvPr/>
        </p:nvSpPr>
        <p:spPr>
          <a:xfrm>
            <a:off x="5925312" y="4297680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4.finding2.title"/>
          <p:cNvSpPr txBox="1"/>
          <p:nvPr/>
        </p:nvSpPr>
        <p:spPr>
          <a:xfrm>
            <a:off x="6035040" y="4206240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[结论3：具体的日常做事方式]</a:t>
            </a:r>
          </a:p>
        </p:txBody>
      </p:sp>
      <p:sp>
        <p:nvSpPr>
          <p:cNvPr id="44" name="p4.finding2.body"/>
          <p:cNvSpPr txBox="1"/>
          <p:nvPr/>
        </p:nvSpPr>
        <p:spPr>
          <a:xfrm>
            <a:off x="6035040" y="4608576"/>
            <a:ext cx="5404104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[在常见任务中可能如何推进；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说明对工作或合作哪一步有帮助或代价。]</a:t>
            </a:r>
          </a:p>
        </p:txBody>
      </p:sp>
      <p:sp>
        <p:nvSpPr>
          <p:cNvPr id="45" name="p4.finding2.evidence"/>
          <p:cNvSpPr txBox="1"/>
          <p:nvPr/>
        </p:nvSpPr>
        <p:spPr>
          <a:xfrm>
            <a:off x="6035040" y="5074920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依据：{少量数据；完整证据见受限备注}</a:t>
            </a:r>
          </a:p>
        </p:txBody>
      </p:sp>
      <p:sp>
        <p:nvSpPr>
          <p:cNvPr id="46" name="p4.diff.bg"/>
          <p:cNvSpPr/>
          <p:nvPr/>
        </p:nvSpPr>
        <p:spPr>
          <a:xfrm>
            <a:off x="603504" y="5705856"/>
            <a:ext cx="11018520" cy="502920"/>
          </a:xfrm>
          <a:prstGeom prst="roundRect">
            <a:avLst>
              <a:gd name="adj" fmla="val 35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4.diff"/>
          <p:cNvSpPr txBox="1"/>
          <p:nvPr/>
        </p:nvSpPr>
        <p:spPr>
          <a:xfrm>
            <a:off x="777240" y="5788152"/>
            <a:ext cx="10671048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63345"/>
                </a:solidFill>
                <a:latin typeface="Noto Sans CJK SC"/>
              </a:rPr>
              <a:t>内部差异：[哪些人或组合不能直接套用群体画像？默认用编号，不列真实姓名。]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5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5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团队角色：{覆盖了什么，哪些工作需要主动安排}</a:t>
            </a:r>
          </a:p>
        </p:txBody>
      </p:sp>
      <p:sp>
        <p:nvSpPr>
          <p:cNvPr id="4" name="p5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角色覆盖  /  先确认项目公式；同一成员可兼有多个角色</a:t>
            </a:r>
          </a:p>
        </p:txBody>
      </p:sp>
      <p:cxnSp>
        <p:nvCxnSpPr>
          <p:cNvPr id="5" name="p5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5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05</a:t>
            </a:r>
          </a:p>
        </p:txBody>
      </p:sp>
      <p:cxnSp>
        <p:nvCxnSpPr>
          <p:cNvPr id="7" name="p5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5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5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5.roles.ring0.2"/>
          <p:cNvSpPr/>
          <p:nvPr/>
        </p:nvSpPr>
        <p:spPr>
          <a:xfrm>
            <a:off x="2744946" y="3331168"/>
            <a:ext cx="581722" cy="58172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5.roles.ring0.4"/>
          <p:cNvSpPr/>
          <p:nvPr/>
        </p:nvSpPr>
        <p:spPr>
          <a:xfrm>
            <a:off x="2454085" y="3040306"/>
            <a:ext cx="1163445" cy="1163445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5.roles.ring0.6"/>
          <p:cNvSpPr/>
          <p:nvPr/>
        </p:nvSpPr>
        <p:spPr>
          <a:xfrm>
            <a:off x="2163223" y="2749445"/>
            <a:ext cx="1745168" cy="174516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5.roles.ring0.8"/>
          <p:cNvSpPr/>
          <p:nvPr/>
        </p:nvSpPr>
        <p:spPr>
          <a:xfrm>
            <a:off x="1872362" y="2458583"/>
            <a:ext cx="2326891" cy="2326891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5.roles.ring1"/>
          <p:cNvSpPr/>
          <p:nvPr/>
        </p:nvSpPr>
        <p:spPr>
          <a:xfrm>
            <a:off x="1581500" y="2167722"/>
            <a:ext cx="2908614" cy="2908614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p5.roles.axis0"/>
          <p:cNvCxnSpPr/>
          <p:nvPr/>
        </p:nvCxnSpPr>
        <p:spPr>
          <a:xfrm flipV="1">
            <a:off x="3035808" y="2167722"/>
            <a:ext cx="0" cy="1454307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5.roles.dim0"/>
          <p:cNvSpPr txBox="1"/>
          <p:nvPr/>
        </p:nvSpPr>
        <p:spPr>
          <a:xfrm>
            <a:off x="2487168" y="1656577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结果</a:t>
            </a:r>
          </a:p>
        </p:txBody>
      </p:sp>
      <p:cxnSp>
        <p:nvCxnSpPr>
          <p:cNvPr id="17" name="p5.roles.axis1"/>
          <p:cNvCxnSpPr/>
          <p:nvPr/>
        </p:nvCxnSpPr>
        <p:spPr>
          <a:xfrm flipV="1">
            <a:off x="3035808" y="3172624"/>
            <a:ext cx="1383128" cy="449405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5.roles.dim1"/>
          <p:cNvSpPr txBox="1"/>
          <p:nvPr/>
        </p:nvSpPr>
        <p:spPr>
          <a:xfrm>
            <a:off x="4160753" y="287250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关系</a:t>
            </a:r>
          </a:p>
        </p:txBody>
      </p:sp>
      <p:cxnSp>
        <p:nvCxnSpPr>
          <p:cNvPr id="19" name="p5.roles.axis2"/>
          <p:cNvCxnSpPr/>
          <p:nvPr/>
        </p:nvCxnSpPr>
        <p:spPr>
          <a:xfrm>
            <a:off x="3035808" y="3622029"/>
            <a:ext cx="854820" cy="117656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5.roles.dim2"/>
          <p:cNvSpPr txBox="1"/>
          <p:nvPr/>
        </p:nvSpPr>
        <p:spPr>
          <a:xfrm>
            <a:off x="3521500" y="483992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过程</a:t>
            </a:r>
          </a:p>
        </p:txBody>
      </p:sp>
      <p:cxnSp>
        <p:nvCxnSpPr>
          <p:cNvPr id="21" name="p5.roles.axis3"/>
          <p:cNvCxnSpPr/>
          <p:nvPr/>
        </p:nvCxnSpPr>
        <p:spPr>
          <a:xfrm flipH="1">
            <a:off x="2180987" y="3622029"/>
            <a:ext cx="854821" cy="117656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5.roles.dim3"/>
          <p:cNvSpPr txBox="1"/>
          <p:nvPr/>
        </p:nvSpPr>
        <p:spPr>
          <a:xfrm>
            <a:off x="1452835" y="483992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创新</a:t>
            </a:r>
          </a:p>
        </p:txBody>
      </p:sp>
      <p:cxnSp>
        <p:nvCxnSpPr>
          <p:cNvPr id="23" name="p5.roles.axis4"/>
          <p:cNvCxnSpPr/>
          <p:nvPr/>
        </p:nvCxnSpPr>
        <p:spPr>
          <a:xfrm flipH="1" flipV="1">
            <a:off x="1652679" y="3172624"/>
            <a:ext cx="1383129" cy="449405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5.roles.dim4"/>
          <p:cNvSpPr txBox="1"/>
          <p:nvPr/>
        </p:nvSpPr>
        <p:spPr>
          <a:xfrm>
            <a:off x="813582" y="287250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务实</a:t>
            </a:r>
          </a:p>
        </p:txBody>
      </p:sp>
      <p:sp>
        <p:nvSpPr>
          <p:cNvPr id="25" name="p5.roles.caption.bg"/>
          <p:cNvSpPr/>
          <p:nvPr/>
        </p:nvSpPr>
        <p:spPr>
          <a:xfrm>
            <a:off x="1532534" y="3338565"/>
            <a:ext cx="3006547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5.roles.replace"/>
          <p:cNvSpPr txBox="1"/>
          <p:nvPr/>
        </p:nvSpPr>
        <p:spPr>
          <a:xfrm>
            <a:off x="1582643" y="3356853"/>
            <a:ext cx="2906328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填入按认可规则统计的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角色人数与占比</a:t>
            </a:r>
          </a:p>
        </p:txBody>
      </p:sp>
      <p:sp>
        <p:nvSpPr>
          <p:cNvPr id="27" name="p5.finding0.bg"/>
          <p:cNvSpPr/>
          <p:nvPr/>
        </p:nvSpPr>
        <p:spPr>
          <a:xfrm>
            <a:off x="5815584" y="1481328"/>
            <a:ext cx="5824728" cy="11887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5.finding0.stripe"/>
          <p:cNvSpPr/>
          <p:nvPr/>
        </p:nvSpPr>
        <p:spPr>
          <a:xfrm>
            <a:off x="5925312" y="1655064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5.finding0.title"/>
          <p:cNvSpPr txBox="1"/>
          <p:nvPr/>
        </p:nvSpPr>
        <p:spPr>
          <a:xfrm>
            <a:off x="6035040" y="1563624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[优势：哪些自然倾向覆盖较多]</a:t>
            </a:r>
          </a:p>
        </p:txBody>
      </p:sp>
      <p:sp>
        <p:nvSpPr>
          <p:cNvPr id="30" name="p5.finding0.body"/>
          <p:cNvSpPr txBox="1"/>
          <p:nvPr/>
        </p:nvSpPr>
        <p:spPr>
          <a:xfrm>
            <a:off x="6035040" y="1965960"/>
            <a:ext cx="5404104" cy="29260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[写出在真实任务中可能怎样发挥作用，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不要把角色人数等同实际能力。]</a:t>
            </a:r>
          </a:p>
        </p:txBody>
      </p:sp>
      <p:sp>
        <p:nvSpPr>
          <p:cNvPr id="31" name="p5.finding0.evidence"/>
          <p:cNvSpPr txBox="1"/>
          <p:nvPr/>
        </p:nvSpPr>
        <p:spPr>
          <a:xfrm>
            <a:off x="6035040" y="2404872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依据：{人数 / N；公式见备注}</a:t>
            </a:r>
          </a:p>
        </p:txBody>
      </p:sp>
      <p:sp>
        <p:nvSpPr>
          <p:cNvPr id="32" name="p5.finding1.bg"/>
          <p:cNvSpPr/>
          <p:nvPr/>
        </p:nvSpPr>
        <p:spPr>
          <a:xfrm>
            <a:off x="5815584" y="2798064"/>
            <a:ext cx="5824728" cy="11887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5.finding1.stripe"/>
          <p:cNvSpPr/>
          <p:nvPr/>
        </p:nvSpPr>
        <p:spPr>
          <a:xfrm>
            <a:off x="5925312" y="2971800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5.finding1.title"/>
          <p:cNvSpPr txBox="1"/>
          <p:nvPr/>
        </p:nvSpPr>
        <p:spPr>
          <a:xfrm>
            <a:off x="6035040" y="2880360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[工作安排：哪些方面要形成配合]</a:t>
            </a:r>
          </a:p>
        </p:txBody>
      </p:sp>
      <p:sp>
        <p:nvSpPr>
          <p:cNvPr id="35" name="p5.finding1.body"/>
          <p:cNvSpPr txBox="1"/>
          <p:nvPr/>
        </p:nvSpPr>
        <p:spPr>
          <a:xfrm>
            <a:off x="6035040" y="3282696"/>
            <a:ext cx="5404104" cy="29260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[谁偏探索、谁重计划，怎样避免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任务无人跟进或反复修改。]</a:t>
            </a:r>
          </a:p>
        </p:txBody>
      </p:sp>
      <p:sp>
        <p:nvSpPr>
          <p:cNvPr id="36" name="p5.finding1.evidence"/>
          <p:cNvSpPr txBox="1"/>
          <p:nvPr/>
        </p:nvSpPr>
        <p:spPr>
          <a:xfrm>
            <a:off x="6035040" y="3721608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依据：{人数 / N；公式见备注}</a:t>
            </a:r>
          </a:p>
        </p:txBody>
      </p:sp>
      <p:sp>
        <p:nvSpPr>
          <p:cNvPr id="37" name="p5.finding2.bg"/>
          <p:cNvSpPr/>
          <p:nvPr/>
        </p:nvSpPr>
        <p:spPr>
          <a:xfrm>
            <a:off x="5815584" y="4114800"/>
            <a:ext cx="5824728" cy="1188720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5.finding2.stripe"/>
          <p:cNvSpPr/>
          <p:nvPr/>
        </p:nvSpPr>
        <p:spPr>
          <a:xfrm>
            <a:off x="5925312" y="428853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5.finding2.title"/>
          <p:cNvSpPr txBox="1"/>
          <p:nvPr/>
        </p:nvSpPr>
        <p:spPr>
          <a:xfrm>
            <a:off x="6035040" y="4197096"/>
            <a:ext cx="546811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[边界：角色缺位不等于没有能力]</a:t>
            </a:r>
          </a:p>
        </p:txBody>
      </p:sp>
      <p:sp>
        <p:nvSpPr>
          <p:cNvPr id="40" name="p5.finding2.body"/>
          <p:cNvSpPr txBox="1"/>
          <p:nvPr/>
        </p:nvSpPr>
        <p:spPr>
          <a:xfrm>
            <a:off x="6035040" y="4599432"/>
            <a:ext cx="5404104" cy="29260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[未满足阈值只说明规则下未计入，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不能据此判断有人不会做这类工作。]</a:t>
            </a:r>
          </a:p>
        </p:txBody>
      </p:sp>
      <p:sp>
        <p:nvSpPr>
          <p:cNvPr id="41" name="p5.finding2.evidence"/>
          <p:cNvSpPr txBox="1"/>
          <p:nvPr/>
        </p:nvSpPr>
        <p:spPr>
          <a:xfrm>
            <a:off x="6035040" y="5038344"/>
            <a:ext cx="5413248" cy="1828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6F7B8D"/>
                </a:solidFill>
                <a:latin typeface="Noto Sans CJK SC"/>
              </a:rPr>
              <a:t>依据：{人数 / N；公式见备注}</a:t>
            </a:r>
          </a:p>
        </p:txBody>
      </p:sp>
      <p:sp>
        <p:nvSpPr>
          <p:cNvPr id="42" name="p5.rules"/>
          <p:cNvSpPr txBox="1"/>
          <p:nvPr/>
        </p:nvSpPr>
        <p:spPr>
          <a:xfrm>
            <a:off x="658368" y="5971032"/>
            <a:ext cx="1092708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规则：[填经确认的公式与来源]；占比=角色人数÷N，同一人可重复计入不同角色。无认可规则时不统计。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6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6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HDS：{压力下哪些行为更值得观察}</a:t>
            </a:r>
          </a:p>
        </p:txBody>
      </p:sp>
      <p:sp>
        <p:nvSpPr>
          <p:cNvPr id="4" name="p6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压力倾向  /  群体主量表 → 可得子维度 → 场景与工作影响</a:t>
            </a:r>
          </a:p>
        </p:txBody>
      </p:sp>
      <p:cxnSp>
        <p:nvCxnSpPr>
          <p:cNvPr id="5" name="p6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6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06</a:t>
            </a:r>
          </a:p>
        </p:txBody>
      </p:sp>
      <p:cxnSp>
        <p:nvCxnSpPr>
          <p:cNvPr id="7" name="p6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6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6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6.radar.ring0.2"/>
          <p:cNvSpPr/>
          <p:nvPr/>
        </p:nvSpPr>
        <p:spPr>
          <a:xfrm>
            <a:off x="2584926" y="3541480"/>
            <a:ext cx="581722" cy="58172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6.radar.ring0.4"/>
          <p:cNvSpPr/>
          <p:nvPr/>
        </p:nvSpPr>
        <p:spPr>
          <a:xfrm>
            <a:off x="2294065" y="3250618"/>
            <a:ext cx="1163445" cy="1163445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6.radar.ring0.6"/>
          <p:cNvSpPr/>
          <p:nvPr/>
        </p:nvSpPr>
        <p:spPr>
          <a:xfrm>
            <a:off x="2003203" y="2959757"/>
            <a:ext cx="1745168" cy="174516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6.radar.ring0.8"/>
          <p:cNvSpPr/>
          <p:nvPr/>
        </p:nvSpPr>
        <p:spPr>
          <a:xfrm>
            <a:off x="1712342" y="2668895"/>
            <a:ext cx="2326891" cy="2326891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6.radar.ring1"/>
          <p:cNvSpPr/>
          <p:nvPr/>
        </p:nvSpPr>
        <p:spPr>
          <a:xfrm>
            <a:off x="1421480" y="2378034"/>
            <a:ext cx="2908614" cy="2908614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p6.radar.axis0"/>
          <p:cNvCxnSpPr/>
          <p:nvPr/>
        </p:nvCxnSpPr>
        <p:spPr>
          <a:xfrm flipV="1">
            <a:off x="2875788" y="2378034"/>
            <a:ext cx="0" cy="1454307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6.radar.dim0"/>
          <p:cNvSpPr txBox="1"/>
          <p:nvPr/>
        </p:nvSpPr>
        <p:spPr>
          <a:xfrm>
            <a:off x="2327148" y="1866889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激动</a:t>
            </a:r>
          </a:p>
        </p:txBody>
      </p:sp>
      <p:cxnSp>
        <p:nvCxnSpPr>
          <p:cNvPr id="17" name="p6.radar.axis1"/>
          <p:cNvCxnSpPr/>
          <p:nvPr/>
        </p:nvCxnSpPr>
        <p:spPr>
          <a:xfrm flipV="1">
            <a:off x="2875788" y="2608900"/>
            <a:ext cx="786257" cy="12234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6.radar.dim1"/>
          <p:cNvSpPr txBox="1"/>
          <p:nvPr/>
        </p:nvSpPr>
        <p:spPr>
          <a:xfrm>
            <a:off x="3278520" y="2146237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多疑</a:t>
            </a:r>
          </a:p>
        </p:txBody>
      </p:sp>
      <p:cxnSp>
        <p:nvCxnSpPr>
          <p:cNvPr id="19" name="p6.radar.axis2"/>
          <p:cNvCxnSpPr/>
          <p:nvPr/>
        </p:nvCxnSpPr>
        <p:spPr>
          <a:xfrm flipV="1">
            <a:off x="2875788" y="3228200"/>
            <a:ext cx="1322884" cy="6041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6.radar.dim2"/>
          <p:cNvSpPr txBox="1"/>
          <p:nvPr/>
        </p:nvSpPr>
        <p:spPr>
          <a:xfrm>
            <a:off x="3927838" y="289559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谨慎</a:t>
            </a:r>
          </a:p>
        </p:txBody>
      </p:sp>
      <p:cxnSp>
        <p:nvCxnSpPr>
          <p:cNvPr id="21" name="p6.radar.axis3"/>
          <p:cNvCxnSpPr/>
          <p:nvPr/>
        </p:nvCxnSpPr>
        <p:spPr>
          <a:xfrm>
            <a:off x="2875788" y="3832341"/>
            <a:ext cx="1439504" cy="20697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6.radar.dim3"/>
          <p:cNvSpPr txBox="1"/>
          <p:nvPr/>
        </p:nvSpPr>
        <p:spPr>
          <a:xfrm>
            <a:off x="4068948" y="387703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内敛</a:t>
            </a:r>
          </a:p>
        </p:txBody>
      </p:sp>
      <p:cxnSp>
        <p:nvCxnSpPr>
          <p:cNvPr id="23" name="p6.radar.axis4"/>
          <p:cNvCxnSpPr/>
          <p:nvPr/>
        </p:nvCxnSpPr>
        <p:spPr>
          <a:xfrm>
            <a:off x="2875788" y="3832341"/>
            <a:ext cx="1099092" cy="952369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6.radar.dim4"/>
          <p:cNvSpPr txBox="1"/>
          <p:nvPr/>
        </p:nvSpPr>
        <p:spPr>
          <a:xfrm>
            <a:off x="3657049" y="477896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消极</a:t>
            </a:r>
          </a:p>
        </p:txBody>
      </p:sp>
      <p:cxnSp>
        <p:nvCxnSpPr>
          <p:cNvPr id="25" name="p6.radar.axis5"/>
          <p:cNvCxnSpPr/>
          <p:nvPr/>
        </p:nvCxnSpPr>
        <p:spPr>
          <a:xfrm>
            <a:off x="2875788" y="3832341"/>
            <a:ext cx="409725" cy="139539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6.radar.dim5"/>
          <p:cNvSpPr txBox="1"/>
          <p:nvPr/>
        </p:nvSpPr>
        <p:spPr>
          <a:xfrm>
            <a:off x="2822916" y="5315033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自大</a:t>
            </a:r>
          </a:p>
        </p:txBody>
      </p:sp>
      <p:cxnSp>
        <p:nvCxnSpPr>
          <p:cNvPr id="27" name="p6.radar.axis6"/>
          <p:cNvCxnSpPr/>
          <p:nvPr/>
        </p:nvCxnSpPr>
        <p:spPr>
          <a:xfrm flipH="1">
            <a:off x="2466062" y="3832341"/>
            <a:ext cx="409726" cy="139539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6.radar.dim6"/>
          <p:cNvSpPr txBox="1"/>
          <p:nvPr/>
        </p:nvSpPr>
        <p:spPr>
          <a:xfrm>
            <a:off x="1831379" y="5315033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狡猾</a:t>
            </a:r>
          </a:p>
        </p:txBody>
      </p:sp>
      <p:cxnSp>
        <p:nvCxnSpPr>
          <p:cNvPr id="29" name="p6.radar.axis7"/>
          <p:cNvCxnSpPr/>
          <p:nvPr/>
        </p:nvCxnSpPr>
        <p:spPr>
          <a:xfrm flipH="1">
            <a:off x="1776695" y="3832341"/>
            <a:ext cx="1099093" cy="952369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6.radar.dim7"/>
          <p:cNvSpPr txBox="1"/>
          <p:nvPr/>
        </p:nvSpPr>
        <p:spPr>
          <a:xfrm>
            <a:off x="997246" y="4778968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戏剧化</a:t>
            </a:r>
          </a:p>
        </p:txBody>
      </p:sp>
      <p:cxnSp>
        <p:nvCxnSpPr>
          <p:cNvPr id="31" name="p6.radar.axis8"/>
          <p:cNvCxnSpPr/>
          <p:nvPr/>
        </p:nvCxnSpPr>
        <p:spPr>
          <a:xfrm flipH="1">
            <a:off x="1436283" y="3832341"/>
            <a:ext cx="1439505" cy="20697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6.radar.dim8"/>
          <p:cNvSpPr txBox="1"/>
          <p:nvPr/>
        </p:nvSpPr>
        <p:spPr>
          <a:xfrm>
            <a:off x="585347" y="387703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幻想</a:t>
            </a:r>
          </a:p>
        </p:txBody>
      </p:sp>
      <p:cxnSp>
        <p:nvCxnSpPr>
          <p:cNvPr id="33" name="p6.radar.axis9"/>
          <p:cNvCxnSpPr/>
          <p:nvPr/>
        </p:nvCxnSpPr>
        <p:spPr>
          <a:xfrm flipH="1" flipV="1">
            <a:off x="1552903" y="3228200"/>
            <a:ext cx="1322885" cy="6041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6.radar.dim9"/>
          <p:cNvSpPr txBox="1"/>
          <p:nvPr/>
        </p:nvSpPr>
        <p:spPr>
          <a:xfrm>
            <a:off x="726457" y="289559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苛求</a:t>
            </a:r>
          </a:p>
        </p:txBody>
      </p:sp>
      <p:cxnSp>
        <p:nvCxnSpPr>
          <p:cNvPr id="35" name="p6.radar.axis10"/>
          <p:cNvCxnSpPr/>
          <p:nvPr/>
        </p:nvCxnSpPr>
        <p:spPr>
          <a:xfrm flipH="1" flipV="1">
            <a:off x="2089530" y="2608900"/>
            <a:ext cx="786258" cy="1223441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6.radar.dim10"/>
          <p:cNvSpPr txBox="1"/>
          <p:nvPr/>
        </p:nvSpPr>
        <p:spPr>
          <a:xfrm>
            <a:off x="1375775" y="2146237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恭顺</a:t>
            </a:r>
          </a:p>
        </p:txBody>
      </p:sp>
      <p:sp>
        <p:nvSpPr>
          <p:cNvPr id="37" name="p6.radar.caption.bg"/>
          <p:cNvSpPr/>
          <p:nvPr/>
        </p:nvSpPr>
        <p:spPr>
          <a:xfrm>
            <a:off x="1435608" y="3548877"/>
            <a:ext cx="2880360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6.radar.replace"/>
          <p:cNvSpPr txBox="1"/>
          <p:nvPr/>
        </p:nvSpPr>
        <p:spPr>
          <a:xfrm>
            <a:off x="1483614" y="3567165"/>
            <a:ext cx="2784348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插入本批HDS群体雷达图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只按真实分值绘制</a:t>
            </a:r>
          </a:p>
        </p:txBody>
      </p:sp>
      <p:sp>
        <p:nvSpPr>
          <p:cNvPr id="39" name="p6.risk0.bg"/>
          <p:cNvSpPr/>
          <p:nvPr/>
        </p:nvSpPr>
        <p:spPr>
          <a:xfrm>
            <a:off x="5541264" y="1463040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p6.risk0.title"/>
          <p:cNvSpPr txBox="1"/>
          <p:nvPr/>
        </p:nvSpPr>
        <p:spPr>
          <a:xfrm>
            <a:off x="5696712" y="1581912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1}</a:t>
            </a:r>
          </a:p>
        </p:txBody>
      </p:sp>
      <p:sp>
        <p:nvSpPr>
          <p:cNvPr id="41" name="p6.risk0.counts"/>
          <p:cNvSpPr txBox="1"/>
          <p:nvPr/>
        </p:nvSpPr>
        <p:spPr>
          <a:xfrm>
            <a:off x="5696712" y="197510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42" name="p6.risk0.body"/>
          <p:cNvSpPr txBox="1"/>
          <p:nvPr/>
        </p:nvSpPr>
        <p:spPr>
          <a:xfrm>
            <a:off x="5696712" y="2340864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43" name="p6.risk0.subscale"/>
          <p:cNvSpPr txBox="1"/>
          <p:nvPr/>
        </p:nvSpPr>
        <p:spPr>
          <a:xfrm>
            <a:off x="5696712" y="320954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子维度：{有图才统计；缺少则注明}</a:t>
            </a:r>
          </a:p>
        </p:txBody>
      </p:sp>
      <p:sp>
        <p:nvSpPr>
          <p:cNvPr id="44" name="p6.risk1.bg"/>
          <p:cNvSpPr/>
          <p:nvPr/>
        </p:nvSpPr>
        <p:spPr>
          <a:xfrm>
            <a:off x="8650224" y="1463040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6.risk1.title"/>
          <p:cNvSpPr txBox="1"/>
          <p:nvPr/>
        </p:nvSpPr>
        <p:spPr>
          <a:xfrm>
            <a:off x="8805672" y="1581912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2}</a:t>
            </a:r>
          </a:p>
        </p:txBody>
      </p:sp>
      <p:sp>
        <p:nvSpPr>
          <p:cNvPr id="46" name="p6.risk1.counts"/>
          <p:cNvSpPr txBox="1"/>
          <p:nvPr/>
        </p:nvSpPr>
        <p:spPr>
          <a:xfrm>
            <a:off x="8805672" y="197510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47" name="p6.risk1.body"/>
          <p:cNvSpPr txBox="1"/>
          <p:nvPr/>
        </p:nvSpPr>
        <p:spPr>
          <a:xfrm>
            <a:off x="8805672" y="2340864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48" name="p6.risk1.subscale"/>
          <p:cNvSpPr txBox="1"/>
          <p:nvPr/>
        </p:nvSpPr>
        <p:spPr>
          <a:xfrm>
            <a:off x="8805672" y="3209544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子维度：{有图才统计；缺少则注明}</a:t>
            </a:r>
          </a:p>
        </p:txBody>
      </p:sp>
      <p:sp>
        <p:nvSpPr>
          <p:cNvPr id="49" name="p6.risk2.bg"/>
          <p:cNvSpPr/>
          <p:nvPr/>
        </p:nvSpPr>
        <p:spPr>
          <a:xfrm>
            <a:off x="5541264" y="3721608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6.risk2.title"/>
          <p:cNvSpPr txBox="1"/>
          <p:nvPr/>
        </p:nvSpPr>
        <p:spPr>
          <a:xfrm>
            <a:off x="5696712" y="3840480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3}</a:t>
            </a:r>
          </a:p>
        </p:txBody>
      </p:sp>
      <p:sp>
        <p:nvSpPr>
          <p:cNvPr id="51" name="p6.risk2.counts"/>
          <p:cNvSpPr txBox="1"/>
          <p:nvPr/>
        </p:nvSpPr>
        <p:spPr>
          <a:xfrm>
            <a:off x="5696712" y="423367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52" name="p6.risk2.body"/>
          <p:cNvSpPr txBox="1"/>
          <p:nvPr/>
        </p:nvSpPr>
        <p:spPr>
          <a:xfrm>
            <a:off x="5696712" y="4599432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53" name="p6.risk2.subscale"/>
          <p:cNvSpPr txBox="1"/>
          <p:nvPr/>
        </p:nvSpPr>
        <p:spPr>
          <a:xfrm>
            <a:off x="5696712" y="546811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子维度：{有图才统计；缺少则注明}</a:t>
            </a:r>
          </a:p>
        </p:txBody>
      </p:sp>
      <p:sp>
        <p:nvSpPr>
          <p:cNvPr id="54" name="p6.risk3.bg"/>
          <p:cNvSpPr/>
          <p:nvPr/>
        </p:nvSpPr>
        <p:spPr>
          <a:xfrm>
            <a:off x="8650224" y="3721608"/>
            <a:ext cx="2962656" cy="2075688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6.risk3.title"/>
          <p:cNvSpPr txBox="1"/>
          <p:nvPr/>
        </p:nvSpPr>
        <p:spPr>
          <a:xfrm>
            <a:off x="8805672" y="3840480"/>
            <a:ext cx="2651760" cy="3017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8565B"/>
                </a:solidFill>
                <a:latin typeface="Noto Sans CJK SC"/>
              </a:rPr>
              <a:t>{重点量表 4}</a:t>
            </a:r>
          </a:p>
        </p:txBody>
      </p:sp>
      <p:sp>
        <p:nvSpPr>
          <p:cNvPr id="56" name="p6.risk3.counts"/>
          <p:cNvSpPr txBox="1"/>
          <p:nvPr/>
        </p:nvSpPr>
        <p:spPr>
          <a:xfrm>
            <a:off x="8805672" y="423367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F7B8D"/>
                </a:solidFill>
                <a:latin typeface="Noto Sans CJK SC"/>
              </a:rPr>
              <a:t>{达到关注区间的人数 / N}</a:t>
            </a:r>
          </a:p>
        </p:txBody>
      </p:sp>
      <p:sp>
        <p:nvSpPr>
          <p:cNvPr id="57" name="p6.risk3.body"/>
          <p:cNvSpPr txBox="1"/>
          <p:nvPr/>
        </p:nvSpPr>
        <p:spPr>
          <a:xfrm>
            <a:off x="8805672" y="4599432"/>
            <a:ext cx="2651760" cy="67665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[什么情境下可能怎样做；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会让哪一步工作受影响；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263345"/>
                </a:solidFill>
                <a:latin typeface="Noto Sans CJK SC"/>
              </a:rPr>
              <a:t>具体要观察什么。]</a:t>
            </a:r>
          </a:p>
        </p:txBody>
      </p:sp>
      <p:sp>
        <p:nvSpPr>
          <p:cNvPr id="58" name="p6.risk3.subscale"/>
          <p:cNvSpPr txBox="1"/>
          <p:nvPr/>
        </p:nvSpPr>
        <p:spPr>
          <a:xfrm>
            <a:off x="8805672" y="5468112"/>
            <a:ext cx="265176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F7B8D"/>
                </a:solidFill>
                <a:latin typeface="Noto Sans CJK SC"/>
              </a:rPr>
              <a:t>子维度：{有图才统计；缺少则注明}</a:t>
            </a:r>
          </a:p>
        </p:txBody>
      </p:sp>
      <p:sp>
        <p:nvSpPr>
          <p:cNvPr id="59" name="p6.limit"/>
          <p:cNvSpPr txBox="1"/>
          <p:nvPr/>
        </p:nvSpPr>
        <p:spPr>
          <a:xfrm>
            <a:off x="676656" y="6126480"/>
            <a:ext cx="10954512" cy="24688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主量表分档与子维度“满格”分开。子维度缺页/看不清应注明；重点量表随本批数据选择。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7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7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HDS个体差异：{共性之外有哪些不同的压力反应}</a:t>
            </a:r>
          </a:p>
        </p:txBody>
      </p:sp>
      <p:sp>
        <p:nvSpPr>
          <p:cNvPr id="4" name="p7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编号热力图  /  不在正文或共享备注放姓名映射</a:t>
            </a:r>
          </a:p>
        </p:txBody>
      </p:sp>
      <p:cxnSp>
        <p:nvCxnSpPr>
          <p:cNvPr id="5" name="p7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7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07</a:t>
            </a:r>
          </a:p>
        </p:txBody>
      </p:sp>
      <p:cxnSp>
        <p:nvCxnSpPr>
          <p:cNvPr id="7" name="p7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7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7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7.cell0.0.bg"/>
          <p:cNvSpPr/>
          <p:nvPr/>
        </p:nvSpPr>
        <p:spPr>
          <a:xfrm>
            <a:off x="585216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7.cell0.0.text"/>
          <p:cNvSpPr txBox="1"/>
          <p:nvPr/>
        </p:nvSpPr>
        <p:spPr>
          <a:xfrm>
            <a:off x="598932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3078F5"/>
                </a:solidFill>
                <a:latin typeface="Noto Sans CJK SC"/>
              </a:rPr>
              <a:t>编号</a:t>
            </a:r>
          </a:p>
        </p:txBody>
      </p:sp>
      <p:sp>
        <p:nvSpPr>
          <p:cNvPr id="12" name="p7.cell0.1.bg"/>
          <p:cNvSpPr/>
          <p:nvPr/>
        </p:nvSpPr>
        <p:spPr>
          <a:xfrm>
            <a:off x="1203960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7.cell0.1.text"/>
          <p:cNvSpPr txBox="1"/>
          <p:nvPr/>
        </p:nvSpPr>
        <p:spPr>
          <a:xfrm>
            <a:off x="1217676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激动</a:t>
            </a:r>
          </a:p>
        </p:txBody>
      </p:sp>
      <p:sp>
        <p:nvSpPr>
          <p:cNvPr id="14" name="p7.cell0.2.bg"/>
          <p:cNvSpPr/>
          <p:nvPr/>
        </p:nvSpPr>
        <p:spPr>
          <a:xfrm>
            <a:off x="1822703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7.cell0.2.text"/>
          <p:cNvSpPr txBox="1"/>
          <p:nvPr/>
        </p:nvSpPr>
        <p:spPr>
          <a:xfrm>
            <a:off x="1836420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多疑</a:t>
            </a:r>
          </a:p>
        </p:txBody>
      </p:sp>
      <p:sp>
        <p:nvSpPr>
          <p:cNvPr id="16" name="p7.cell0.3.bg"/>
          <p:cNvSpPr/>
          <p:nvPr/>
        </p:nvSpPr>
        <p:spPr>
          <a:xfrm>
            <a:off x="2441448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7.cell0.3.text"/>
          <p:cNvSpPr txBox="1"/>
          <p:nvPr/>
        </p:nvSpPr>
        <p:spPr>
          <a:xfrm>
            <a:off x="2455164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谨慎</a:t>
            </a:r>
          </a:p>
        </p:txBody>
      </p:sp>
      <p:sp>
        <p:nvSpPr>
          <p:cNvPr id="18" name="p7.cell0.4.bg"/>
          <p:cNvSpPr/>
          <p:nvPr/>
        </p:nvSpPr>
        <p:spPr>
          <a:xfrm>
            <a:off x="3060192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7.cell0.4.text"/>
          <p:cNvSpPr txBox="1"/>
          <p:nvPr/>
        </p:nvSpPr>
        <p:spPr>
          <a:xfrm>
            <a:off x="3073908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内敛</a:t>
            </a:r>
          </a:p>
        </p:txBody>
      </p:sp>
      <p:sp>
        <p:nvSpPr>
          <p:cNvPr id="20" name="p7.cell0.5.bg"/>
          <p:cNvSpPr/>
          <p:nvPr/>
        </p:nvSpPr>
        <p:spPr>
          <a:xfrm>
            <a:off x="3678936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7.cell0.5.text"/>
          <p:cNvSpPr txBox="1"/>
          <p:nvPr/>
        </p:nvSpPr>
        <p:spPr>
          <a:xfrm>
            <a:off x="3692652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消极</a:t>
            </a:r>
          </a:p>
        </p:txBody>
      </p:sp>
      <p:sp>
        <p:nvSpPr>
          <p:cNvPr id="22" name="p7.cell0.6.bg"/>
          <p:cNvSpPr/>
          <p:nvPr/>
        </p:nvSpPr>
        <p:spPr>
          <a:xfrm>
            <a:off x="4297679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7.cell0.6.text"/>
          <p:cNvSpPr txBox="1"/>
          <p:nvPr/>
        </p:nvSpPr>
        <p:spPr>
          <a:xfrm>
            <a:off x="4311395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自大</a:t>
            </a:r>
          </a:p>
        </p:txBody>
      </p:sp>
      <p:sp>
        <p:nvSpPr>
          <p:cNvPr id="24" name="p7.cell0.7.bg"/>
          <p:cNvSpPr/>
          <p:nvPr/>
        </p:nvSpPr>
        <p:spPr>
          <a:xfrm>
            <a:off x="4916423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7.cell0.7.text"/>
          <p:cNvSpPr txBox="1"/>
          <p:nvPr/>
        </p:nvSpPr>
        <p:spPr>
          <a:xfrm>
            <a:off x="4930139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狡猾</a:t>
            </a:r>
          </a:p>
        </p:txBody>
      </p:sp>
      <p:sp>
        <p:nvSpPr>
          <p:cNvPr id="26" name="p7.cell0.8.bg"/>
          <p:cNvSpPr/>
          <p:nvPr/>
        </p:nvSpPr>
        <p:spPr>
          <a:xfrm>
            <a:off x="5535167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7.cell0.8.text"/>
          <p:cNvSpPr txBox="1"/>
          <p:nvPr/>
        </p:nvSpPr>
        <p:spPr>
          <a:xfrm>
            <a:off x="5548883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戏剧化</a:t>
            </a:r>
          </a:p>
        </p:txBody>
      </p:sp>
      <p:sp>
        <p:nvSpPr>
          <p:cNvPr id="28" name="p7.cell0.9.bg"/>
          <p:cNvSpPr/>
          <p:nvPr/>
        </p:nvSpPr>
        <p:spPr>
          <a:xfrm>
            <a:off x="6153912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7.cell0.9.text"/>
          <p:cNvSpPr txBox="1"/>
          <p:nvPr/>
        </p:nvSpPr>
        <p:spPr>
          <a:xfrm>
            <a:off x="6167627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幻想</a:t>
            </a:r>
          </a:p>
        </p:txBody>
      </p:sp>
      <p:sp>
        <p:nvSpPr>
          <p:cNvPr id="30" name="p7.cell0.10.bg"/>
          <p:cNvSpPr/>
          <p:nvPr/>
        </p:nvSpPr>
        <p:spPr>
          <a:xfrm>
            <a:off x="6772656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7.cell0.10.text"/>
          <p:cNvSpPr txBox="1"/>
          <p:nvPr/>
        </p:nvSpPr>
        <p:spPr>
          <a:xfrm>
            <a:off x="6786371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苛求</a:t>
            </a:r>
          </a:p>
        </p:txBody>
      </p:sp>
      <p:sp>
        <p:nvSpPr>
          <p:cNvPr id="32" name="p7.cell0.11.bg"/>
          <p:cNvSpPr/>
          <p:nvPr/>
        </p:nvSpPr>
        <p:spPr>
          <a:xfrm>
            <a:off x="7391400" y="1911095"/>
            <a:ext cx="602284" cy="492992"/>
          </a:xfrm>
          <a:prstGeom prst="rect">
            <a:avLst/>
          </a:prstGeom>
          <a:solidFill>
            <a:srgbClr val="EAF1FC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7.cell0.11.text"/>
          <p:cNvSpPr txBox="1"/>
          <p:nvPr/>
        </p:nvSpPr>
        <p:spPr>
          <a:xfrm>
            <a:off x="7405116" y="1943100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>
                <a:solidFill>
                  <a:srgbClr val="263345"/>
                </a:solidFill>
                <a:latin typeface="Noto Sans CJK SC"/>
              </a:rPr>
              <a:t>恭顺</a:t>
            </a:r>
          </a:p>
        </p:txBody>
      </p:sp>
      <p:sp>
        <p:nvSpPr>
          <p:cNvPr id="34" name="p7.cell1.0.bg"/>
          <p:cNvSpPr/>
          <p:nvPr/>
        </p:nvSpPr>
        <p:spPr>
          <a:xfrm>
            <a:off x="585216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7.cell1.0.text"/>
          <p:cNvSpPr txBox="1"/>
          <p:nvPr/>
        </p:nvSpPr>
        <p:spPr>
          <a:xfrm>
            <a:off x="598932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078F5"/>
                </a:solidFill>
                <a:latin typeface="Noto Sans CJK SC"/>
              </a:rPr>
              <a:t>P01</a:t>
            </a:r>
          </a:p>
        </p:txBody>
      </p:sp>
      <p:sp>
        <p:nvSpPr>
          <p:cNvPr id="36" name="p7.cell1.1.bg"/>
          <p:cNvSpPr/>
          <p:nvPr/>
        </p:nvSpPr>
        <p:spPr>
          <a:xfrm>
            <a:off x="1203960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7.cell1.1.text"/>
          <p:cNvSpPr txBox="1"/>
          <p:nvPr/>
        </p:nvSpPr>
        <p:spPr>
          <a:xfrm>
            <a:off x="1217676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38" name="p7.cell1.2.bg"/>
          <p:cNvSpPr/>
          <p:nvPr/>
        </p:nvSpPr>
        <p:spPr>
          <a:xfrm>
            <a:off x="1822703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7.cell1.2.text"/>
          <p:cNvSpPr txBox="1"/>
          <p:nvPr/>
        </p:nvSpPr>
        <p:spPr>
          <a:xfrm>
            <a:off x="1836420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0" name="p7.cell1.3.bg"/>
          <p:cNvSpPr/>
          <p:nvPr/>
        </p:nvSpPr>
        <p:spPr>
          <a:xfrm>
            <a:off x="2441448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7.cell1.3.text"/>
          <p:cNvSpPr txBox="1"/>
          <p:nvPr/>
        </p:nvSpPr>
        <p:spPr>
          <a:xfrm>
            <a:off x="2455164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2" name="p7.cell1.4.bg"/>
          <p:cNvSpPr/>
          <p:nvPr/>
        </p:nvSpPr>
        <p:spPr>
          <a:xfrm>
            <a:off x="3060192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7.cell1.4.text"/>
          <p:cNvSpPr txBox="1"/>
          <p:nvPr/>
        </p:nvSpPr>
        <p:spPr>
          <a:xfrm>
            <a:off x="3073908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4" name="p7.cell1.5.bg"/>
          <p:cNvSpPr/>
          <p:nvPr/>
        </p:nvSpPr>
        <p:spPr>
          <a:xfrm>
            <a:off x="3678936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7.cell1.5.text"/>
          <p:cNvSpPr txBox="1"/>
          <p:nvPr/>
        </p:nvSpPr>
        <p:spPr>
          <a:xfrm>
            <a:off x="3692652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6" name="p7.cell1.6.bg"/>
          <p:cNvSpPr/>
          <p:nvPr/>
        </p:nvSpPr>
        <p:spPr>
          <a:xfrm>
            <a:off x="4297679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7.cell1.6.text"/>
          <p:cNvSpPr txBox="1"/>
          <p:nvPr/>
        </p:nvSpPr>
        <p:spPr>
          <a:xfrm>
            <a:off x="4311395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48" name="p7.cell1.7.bg"/>
          <p:cNvSpPr/>
          <p:nvPr/>
        </p:nvSpPr>
        <p:spPr>
          <a:xfrm>
            <a:off x="4916423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p7.cell1.7.text"/>
          <p:cNvSpPr txBox="1"/>
          <p:nvPr/>
        </p:nvSpPr>
        <p:spPr>
          <a:xfrm>
            <a:off x="4930139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0" name="p7.cell1.8.bg"/>
          <p:cNvSpPr/>
          <p:nvPr/>
        </p:nvSpPr>
        <p:spPr>
          <a:xfrm>
            <a:off x="5535167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7.cell1.8.text"/>
          <p:cNvSpPr txBox="1"/>
          <p:nvPr/>
        </p:nvSpPr>
        <p:spPr>
          <a:xfrm>
            <a:off x="5548883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2" name="p7.cell1.9.bg"/>
          <p:cNvSpPr/>
          <p:nvPr/>
        </p:nvSpPr>
        <p:spPr>
          <a:xfrm>
            <a:off x="6153912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p7.cell1.9.text"/>
          <p:cNvSpPr txBox="1"/>
          <p:nvPr/>
        </p:nvSpPr>
        <p:spPr>
          <a:xfrm>
            <a:off x="6167627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4" name="p7.cell1.10.bg"/>
          <p:cNvSpPr/>
          <p:nvPr/>
        </p:nvSpPr>
        <p:spPr>
          <a:xfrm>
            <a:off x="6772656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7.cell1.10.text"/>
          <p:cNvSpPr txBox="1"/>
          <p:nvPr/>
        </p:nvSpPr>
        <p:spPr>
          <a:xfrm>
            <a:off x="6786371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6" name="p7.cell1.11.bg"/>
          <p:cNvSpPr/>
          <p:nvPr/>
        </p:nvSpPr>
        <p:spPr>
          <a:xfrm>
            <a:off x="7391400" y="2420547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7.cell1.11.text"/>
          <p:cNvSpPr txBox="1"/>
          <p:nvPr/>
        </p:nvSpPr>
        <p:spPr>
          <a:xfrm>
            <a:off x="7405116" y="2452551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58" name="p7.cell2.0.bg"/>
          <p:cNvSpPr/>
          <p:nvPr/>
        </p:nvSpPr>
        <p:spPr>
          <a:xfrm>
            <a:off x="585216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p7.cell2.0.text"/>
          <p:cNvSpPr txBox="1"/>
          <p:nvPr/>
        </p:nvSpPr>
        <p:spPr>
          <a:xfrm>
            <a:off x="598932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078F5"/>
                </a:solidFill>
                <a:latin typeface="Noto Sans CJK SC"/>
              </a:rPr>
              <a:t>P02</a:t>
            </a:r>
          </a:p>
        </p:txBody>
      </p:sp>
      <p:sp>
        <p:nvSpPr>
          <p:cNvPr id="60" name="p7.cell2.1.bg"/>
          <p:cNvSpPr/>
          <p:nvPr/>
        </p:nvSpPr>
        <p:spPr>
          <a:xfrm>
            <a:off x="1203960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7.cell2.1.text"/>
          <p:cNvSpPr txBox="1"/>
          <p:nvPr/>
        </p:nvSpPr>
        <p:spPr>
          <a:xfrm>
            <a:off x="1217676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2" name="p7.cell2.2.bg"/>
          <p:cNvSpPr/>
          <p:nvPr/>
        </p:nvSpPr>
        <p:spPr>
          <a:xfrm>
            <a:off x="1822703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7.cell2.2.text"/>
          <p:cNvSpPr txBox="1"/>
          <p:nvPr/>
        </p:nvSpPr>
        <p:spPr>
          <a:xfrm>
            <a:off x="1836420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4" name="p7.cell2.3.bg"/>
          <p:cNvSpPr/>
          <p:nvPr/>
        </p:nvSpPr>
        <p:spPr>
          <a:xfrm>
            <a:off x="2441448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7.cell2.3.text"/>
          <p:cNvSpPr txBox="1"/>
          <p:nvPr/>
        </p:nvSpPr>
        <p:spPr>
          <a:xfrm>
            <a:off x="2455164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6" name="p7.cell2.4.bg"/>
          <p:cNvSpPr/>
          <p:nvPr/>
        </p:nvSpPr>
        <p:spPr>
          <a:xfrm>
            <a:off x="3060192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p7.cell2.4.text"/>
          <p:cNvSpPr txBox="1"/>
          <p:nvPr/>
        </p:nvSpPr>
        <p:spPr>
          <a:xfrm>
            <a:off x="3073908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68" name="p7.cell2.5.bg"/>
          <p:cNvSpPr/>
          <p:nvPr/>
        </p:nvSpPr>
        <p:spPr>
          <a:xfrm>
            <a:off x="3678936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7.cell2.5.text"/>
          <p:cNvSpPr txBox="1"/>
          <p:nvPr/>
        </p:nvSpPr>
        <p:spPr>
          <a:xfrm>
            <a:off x="3692652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0" name="p7.cell2.6.bg"/>
          <p:cNvSpPr/>
          <p:nvPr/>
        </p:nvSpPr>
        <p:spPr>
          <a:xfrm>
            <a:off x="4297679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p7.cell2.6.text"/>
          <p:cNvSpPr txBox="1"/>
          <p:nvPr/>
        </p:nvSpPr>
        <p:spPr>
          <a:xfrm>
            <a:off x="4311395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2" name="p7.cell2.7.bg"/>
          <p:cNvSpPr/>
          <p:nvPr/>
        </p:nvSpPr>
        <p:spPr>
          <a:xfrm>
            <a:off x="4916423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7.cell2.7.text"/>
          <p:cNvSpPr txBox="1"/>
          <p:nvPr/>
        </p:nvSpPr>
        <p:spPr>
          <a:xfrm>
            <a:off x="4930139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4" name="p7.cell2.8.bg"/>
          <p:cNvSpPr/>
          <p:nvPr/>
        </p:nvSpPr>
        <p:spPr>
          <a:xfrm>
            <a:off x="5535167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7.cell2.8.text"/>
          <p:cNvSpPr txBox="1"/>
          <p:nvPr/>
        </p:nvSpPr>
        <p:spPr>
          <a:xfrm>
            <a:off x="5548883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6" name="p7.cell2.9.bg"/>
          <p:cNvSpPr/>
          <p:nvPr/>
        </p:nvSpPr>
        <p:spPr>
          <a:xfrm>
            <a:off x="6153912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p7.cell2.9.text"/>
          <p:cNvSpPr txBox="1"/>
          <p:nvPr/>
        </p:nvSpPr>
        <p:spPr>
          <a:xfrm>
            <a:off x="6167627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78" name="p7.cell2.10.bg"/>
          <p:cNvSpPr/>
          <p:nvPr/>
        </p:nvSpPr>
        <p:spPr>
          <a:xfrm>
            <a:off x="6772656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p7.cell2.10.text"/>
          <p:cNvSpPr txBox="1"/>
          <p:nvPr/>
        </p:nvSpPr>
        <p:spPr>
          <a:xfrm>
            <a:off x="6786371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0" name="p7.cell2.11.bg"/>
          <p:cNvSpPr/>
          <p:nvPr/>
        </p:nvSpPr>
        <p:spPr>
          <a:xfrm>
            <a:off x="7391400" y="2929998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7.cell2.11.text"/>
          <p:cNvSpPr txBox="1"/>
          <p:nvPr/>
        </p:nvSpPr>
        <p:spPr>
          <a:xfrm>
            <a:off x="7405116" y="2962002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2" name="p7.cell3.0.bg"/>
          <p:cNvSpPr/>
          <p:nvPr/>
        </p:nvSpPr>
        <p:spPr>
          <a:xfrm>
            <a:off x="585216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p7.cell3.0.text"/>
          <p:cNvSpPr txBox="1"/>
          <p:nvPr/>
        </p:nvSpPr>
        <p:spPr>
          <a:xfrm>
            <a:off x="598932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078F5"/>
                </a:solidFill>
                <a:latin typeface="Noto Sans CJK SC"/>
              </a:rPr>
              <a:t>P03</a:t>
            </a:r>
          </a:p>
        </p:txBody>
      </p:sp>
      <p:sp>
        <p:nvSpPr>
          <p:cNvPr id="84" name="p7.cell3.1.bg"/>
          <p:cNvSpPr/>
          <p:nvPr/>
        </p:nvSpPr>
        <p:spPr>
          <a:xfrm>
            <a:off x="1203960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p7.cell3.1.text"/>
          <p:cNvSpPr txBox="1"/>
          <p:nvPr/>
        </p:nvSpPr>
        <p:spPr>
          <a:xfrm>
            <a:off x="1217676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6" name="p7.cell3.2.bg"/>
          <p:cNvSpPr/>
          <p:nvPr/>
        </p:nvSpPr>
        <p:spPr>
          <a:xfrm>
            <a:off x="1822703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7.cell3.2.text"/>
          <p:cNvSpPr txBox="1"/>
          <p:nvPr/>
        </p:nvSpPr>
        <p:spPr>
          <a:xfrm>
            <a:off x="1836420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88" name="p7.cell3.3.bg"/>
          <p:cNvSpPr/>
          <p:nvPr/>
        </p:nvSpPr>
        <p:spPr>
          <a:xfrm>
            <a:off x="2441448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7.cell3.3.text"/>
          <p:cNvSpPr txBox="1"/>
          <p:nvPr/>
        </p:nvSpPr>
        <p:spPr>
          <a:xfrm>
            <a:off x="2455164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0" name="p7.cell3.4.bg"/>
          <p:cNvSpPr/>
          <p:nvPr/>
        </p:nvSpPr>
        <p:spPr>
          <a:xfrm>
            <a:off x="3060192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p7.cell3.4.text"/>
          <p:cNvSpPr txBox="1"/>
          <p:nvPr/>
        </p:nvSpPr>
        <p:spPr>
          <a:xfrm>
            <a:off x="3073908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2" name="p7.cell3.5.bg"/>
          <p:cNvSpPr/>
          <p:nvPr/>
        </p:nvSpPr>
        <p:spPr>
          <a:xfrm>
            <a:off x="3678936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p7.cell3.5.text"/>
          <p:cNvSpPr txBox="1"/>
          <p:nvPr/>
        </p:nvSpPr>
        <p:spPr>
          <a:xfrm>
            <a:off x="3692652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4" name="p7.cell3.6.bg"/>
          <p:cNvSpPr/>
          <p:nvPr/>
        </p:nvSpPr>
        <p:spPr>
          <a:xfrm>
            <a:off x="4297679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7.cell3.6.text"/>
          <p:cNvSpPr txBox="1"/>
          <p:nvPr/>
        </p:nvSpPr>
        <p:spPr>
          <a:xfrm>
            <a:off x="4311395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6" name="p7.cell3.7.bg"/>
          <p:cNvSpPr/>
          <p:nvPr/>
        </p:nvSpPr>
        <p:spPr>
          <a:xfrm>
            <a:off x="4916423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p7.cell3.7.text"/>
          <p:cNvSpPr txBox="1"/>
          <p:nvPr/>
        </p:nvSpPr>
        <p:spPr>
          <a:xfrm>
            <a:off x="4930139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98" name="p7.cell3.8.bg"/>
          <p:cNvSpPr/>
          <p:nvPr/>
        </p:nvSpPr>
        <p:spPr>
          <a:xfrm>
            <a:off x="5535167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p7.cell3.8.text"/>
          <p:cNvSpPr txBox="1"/>
          <p:nvPr/>
        </p:nvSpPr>
        <p:spPr>
          <a:xfrm>
            <a:off x="5548883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0" name="p7.cell3.9.bg"/>
          <p:cNvSpPr/>
          <p:nvPr/>
        </p:nvSpPr>
        <p:spPr>
          <a:xfrm>
            <a:off x="6153912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p7.cell3.9.text"/>
          <p:cNvSpPr txBox="1"/>
          <p:nvPr/>
        </p:nvSpPr>
        <p:spPr>
          <a:xfrm>
            <a:off x="6167627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2" name="p7.cell3.10.bg"/>
          <p:cNvSpPr/>
          <p:nvPr/>
        </p:nvSpPr>
        <p:spPr>
          <a:xfrm>
            <a:off x="6772656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p7.cell3.10.text"/>
          <p:cNvSpPr txBox="1"/>
          <p:nvPr/>
        </p:nvSpPr>
        <p:spPr>
          <a:xfrm>
            <a:off x="6786371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4" name="p7.cell3.11.bg"/>
          <p:cNvSpPr/>
          <p:nvPr/>
        </p:nvSpPr>
        <p:spPr>
          <a:xfrm>
            <a:off x="7391400" y="3439450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p7.cell3.11.text"/>
          <p:cNvSpPr txBox="1"/>
          <p:nvPr/>
        </p:nvSpPr>
        <p:spPr>
          <a:xfrm>
            <a:off x="7405116" y="3471454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06" name="p7.cell4.0.bg"/>
          <p:cNvSpPr/>
          <p:nvPr/>
        </p:nvSpPr>
        <p:spPr>
          <a:xfrm>
            <a:off x="585216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p7.cell4.0.text"/>
          <p:cNvSpPr txBox="1"/>
          <p:nvPr/>
        </p:nvSpPr>
        <p:spPr>
          <a:xfrm>
            <a:off x="598932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078F5"/>
                </a:solidFill>
                <a:latin typeface="Noto Sans CJK SC"/>
              </a:rPr>
              <a:t>P04</a:t>
            </a:r>
          </a:p>
        </p:txBody>
      </p:sp>
      <p:sp>
        <p:nvSpPr>
          <p:cNvPr id="108" name="p7.cell4.1.bg"/>
          <p:cNvSpPr/>
          <p:nvPr/>
        </p:nvSpPr>
        <p:spPr>
          <a:xfrm>
            <a:off x="1203960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p7.cell4.1.text"/>
          <p:cNvSpPr txBox="1"/>
          <p:nvPr/>
        </p:nvSpPr>
        <p:spPr>
          <a:xfrm>
            <a:off x="1217676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0" name="p7.cell4.2.bg"/>
          <p:cNvSpPr/>
          <p:nvPr/>
        </p:nvSpPr>
        <p:spPr>
          <a:xfrm>
            <a:off x="1822703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p7.cell4.2.text"/>
          <p:cNvSpPr txBox="1"/>
          <p:nvPr/>
        </p:nvSpPr>
        <p:spPr>
          <a:xfrm>
            <a:off x="1836420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2" name="p7.cell4.3.bg"/>
          <p:cNvSpPr/>
          <p:nvPr/>
        </p:nvSpPr>
        <p:spPr>
          <a:xfrm>
            <a:off x="2441448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p7.cell4.3.text"/>
          <p:cNvSpPr txBox="1"/>
          <p:nvPr/>
        </p:nvSpPr>
        <p:spPr>
          <a:xfrm>
            <a:off x="2455164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4" name="p7.cell4.4.bg"/>
          <p:cNvSpPr/>
          <p:nvPr/>
        </p:nvSpPr>
        <p:spPr>
          <a:xfrm>
            <a:off x="3060192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p7.cell4.4.text"/>
          <p:cNvSpPr txBox="1"/>
          <p:nvPr/>
        </p:nvSpPr>
        <p:spPr>
          <a:xfrm>
            <a:off x="3073908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6" name="p7.cell4.5.bg"/>
          <p:cNvSpPr/>
          <p:nvPr/>
        </p:nvSpPr>
        <p:spPr>
          <a:xfrm>
            <a:off x="3678936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p7.cell4.5.text"/>
          <p:cNvSpPr txBox="1"/>
          <p:nvPr/>
        </p:nvSpPr>
        <p:spPr>
          <a:xfrm>
            <a:off x="3692652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18" name="p7.cell4.6.bg"/>
          <p:cNvSpPr/>
          <p:nvPr/>
        </p:nvSpPr>
        <p:spPr>
          <a:xfrm>
            <a:off x="4297679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p7.cell4.6.text"/>
          <p:cNvSpPr txBox="1"/>
          <p:nvPr/>
        </p:nvSpPr>
        <p:spPr>
          <a:xfrm>
            <a:off x="4311395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0" name="p7.cell4.7.bg"/>
          <p:cNvSpPr/>
          <p:nvPr/>
        </p:nvSpPr>
        <p:spPr>
          <a:xfrm>
            <a:off x="4916423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p7.cell4.7.text"/>
          <p:cNvSpPr txBox="1"/>
          <p:nvPr/>
        </p:nvSpPr>
        <p:spPr>
          <a:xfrm>
            <a:off x="4930139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2" name="p7.cell4.8.bg"/>
          <p:cNvSpPr/>
          <p:nvPr/>
        </p:nvSpPr>
        <p:spPr>
          <a:xfrm>
            <a:off x="5535167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p7.cell4.8.text"/>
          <p:cNvSpPr txBox="1"/>
          <p:nvPr/>
        </p:nvSpPr>
        <p:spPr>
          <a:xfrm>
            <a:off x="5548883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4" name="p7.cell4.9.bg"/>
          <p:cNvSpPr/>
          <p:nvPr/>
        </p:nvSpPr>
        <p:spPr>
          <a:xfrm>
            <a:off x="6153912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p7.cell4.9.text"/>
          <p:cNvSpPr txBox="1"/>
          <p:nvPr/>
        </p:nvSpPr>
        <p:spPr>
          <a:xfrm>
            <a:off x="6167627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6" name="p7.cell4.10.bg"/>
          <p:cNvSpPr/>
          <p:nvPr/>
        </p:nvSpPr>
        <p:spPr>
          <a:xfrm>
            <a:off x="6772656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p7.cell4.10.text"/>
          <p:cNvSpPr txBox="1"/>
          <p:nvPr/>
        </p:nvSpPr>
        <p:spPr>
          <a:xfrm>
            <a:off x="6786371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28" name="p7.cell4.11.bg"/>
          <p:cNvSpPr/>
          <p:nvPr/>
        </p:nvSpPr>
        <p:spPr>
          <a:xfrm>
            <a:off x="7391400" y="3948901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7.cell4.11.text"/>
          <p:cNvSpPr txBox="1"/>
          <p:nvPr/>
        </p:nvSpPr>
        <p:spPr>
          <a:xfrm>
            <a:off x="7405116" y="3980905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0" name="p7.cell5.0.bg"/>
          <p:cNvSpPr/>
          <p:nvPr/>
        </p:nvSpPr>
        <p:spPr>
          <a:xfrm>
            <a:off x="585216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7.cell5.0.text"/>
          <p:cNvSpPr txBox="1"/>
          <p:nvPr/>
        </p:nvSpPr>
        <p:spPr>
          <a:xfrm>
            <a:off x="598932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078F5"/>
                </a:solidFill>
                <a:latin typeface="Noto Sans CJK SC"/>
              </a:rPr>
              <a:t>P05</a:t>
            </a:r>
          </a:p>
        </p:txBody>
      </p:sp>
      <p:sp>
        <p:nvSpPr>
          <p:cNvPr id="132" name="p7.cell5.1.bg"/>
          <p:cNvSpPr/>
          <p:nvPr/>
        </p:nvSpPr>
        <p:spPr>
          <a:xfrm>
            <a:off x="1203960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p7.cell5.1.text"/>
          <p:cNvSpPr txBox="1"/>
          <p:nvPr/>
        </p:nvSpPr>
        <p:spPr>
          <a:xfrm>
            <a:off x="1217676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4" name="p7.cell5.2.bg"/>
          <p:cNvSpPr/>
          <p:nvPr/>
        </p:nvSpPr>
        <p:spPr>
          <a:xfrm>
            <a:off x="1822703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p7.cell5.2.text"/>
          <p:cNvSpPr txBox="1"/>
          <p:nvPr/>
        </p:nvSpPr>
        <p:spPr>
          <a:xfrm>
            <a:off x="1836420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6" name="p7.cell5.3.bg"/>
          <p:cNvSpPr/>
          <p:nvPr/>
        </p:nvSpPr>
        <p:spPr>
          <a:xfrm>
            <a:off x="2441448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p7.cell5.3.text"/>
          <p:cNvSpPr txBox="1"/>
          <p:nvPr/>
        </p:nvSpPr>
        <p:spPr>
          <a:xfrm>
            <a:off x="2455164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38" name="p7.cell5.4.bg"/>
          <p:cNvSpPr/>
          <p:nvPr/>
        </p:nvSpPr>
        <p:spPr>
          <a:xfrm>
            <a:off x="3060192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p7.cell5.4.text"/>
          <p:cNvSpPr txBox="1"/>
          <p:nvPr/>
        </p:nvSpPr>
        <p:spPr>
          <a:xfrm>
            <a:off x="3073908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0" name="p7.cell5.5.bg"/>
          <p:cNvSpPr/>
          <p:nvPr/>
        </p:nvSpPr>
        <p:spPr>
          <a:xfrm>
            <a:off x="3678936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7.cell5.5.text"/>
          <p:cNvSpPr txBox="1"/>
          <p:nvPr/>
        </p:nvSpPr>
        <p:spPr>
          <a:xfrm>
            <a:off x="3692652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2" name="p7.cell5.6.bg"/>
          <p:cNvSpPr/>
          <p:nvPr/>
        </p:nvSpPr>
        <p:spPr>
          <a:xfrm>
            <a:off x="4297679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p7.cell5.6.text"/>
          <p:cNvSpPr txBox="1"/>
          <p:nvPr/>
        </p:nvSpPr>
        <p:spPr>
          <a:xfrm>
            <a:off x="4311395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4" name="p7.cell5.7.bg"/>
          <p:cNvSpPr/>
          <p:nvPr/>
        </p:nvSpPr>
        <p:spPr>
          <a:xfrm>
            <a:off x="4916423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p7.cell5.7.text"/>
          <p:cNvSpPr txBox="1"/>
          <p:nvPr/>
        </p:nvSpPr>
        <p:spPr>
          <a:xfrm>
            <a:off x="4930139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6" name="p7.cell5.8.bg"/>
          <p:cNvSpPr/>
          <p:nvPr/>
        </p:nvSpPr>
        <p:spPr>
          <a:xfrm>
            <a:off x="5535167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p7.cell5.8.text"/>
          <p:cNvSpPr txBox="1"/>
          <p:nvPr/>
        </p:nvSpPr>
        <p:spPr>
          <a:xfrm>
            <a:off x="5548883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48" name="p7.cell5.9.bg"/>
          <p:cNvSpPr/>
          <p:nvPr/>
        </p:nvSpPr>
        <p:spPr>
          <a:xfrm>
            <a:off x="6153912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p7.cell5.9.text"/>
          <p:cNvSpPr txBox="1"/>
          <p:nvPr/>
        </p:nvSpPr>
        <p:spPr>
          <a:xfrm>
            <a:off x="6167627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0" name="p7.cell5.10.bg"/>
          <p:cNvSpPr/>
          <p:nvPr/>
        </p:nvSpPr>
        <p:spPr>
          <a:xfrm>
            <a:off x="6772656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p7.cell5.10.text"/>
          <p:cNvSpPr txBox="1"/>
          <p:nvPr/>
        </p:nvSpPr>
        <p:spPr>
          <a:xfrm>
            <a:off x="6786371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2" name="p7.cell5.11.bg"/>
          <p:cNvSpPr/>
          <p:nvPr/>
        </p:nvSpPr>
        <p:spPr>
          <a:xfrm>
            <a:off x="7391400" y="4458353"/>
            <a:ext cx="602284" cy="492992"/>
          </a:xfrm>
          <a:prstGeom prst="rect">
            <a:avLst/>
          </a:prstGeom>
          <a:solidFill>
            <a:srgbClr val="F6F8FB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p7.cell5.11.text"/>
          <p:cNvSpPr txBox="1"/>
          <p:nvPr/>
        </p:nvSpPr>
        <p:spPr>
          <a:xfrm>
            <a:off x="7405116" y="4490357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4" name="p7.cell6.0.bg"/>
          <p:cNvSpPr/>
          <p:nvPr/>
        </p:nvSpPr>
        <p:spPr>
          <a:xfrm>
            <a:off x="585216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p7.cell6.0.text"/>
          <p:cNvSpPr txBox="1"/>
          <p:nvPr/>
        </p:nvSpPr>
        <p:spPr>
          <a:xfrm>
            <a:off x="598932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3078F5"/>
                </a:solidFill>
                <a:latin typeface="Noto Sans CJK SC"/>
              </a:rPr>
              <a:t>P06</a:t>
            </a:r>
          </a:p>
        </p:txBody>
      </p:sp>
      <p:sp>
        <p:nvSpPr>
          <p:cNvPr id="156" name="p7.cell6.1.bg"/>
          <p:cNvSpPr/>
          <p:nvPr/>
        </p:nvSpPr>
        <p:spPr>
          <a:xfrm>
            <a:off x="1203960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p7.cell6.1.text"/>
          <p:cNvSpPr txBox="1"/>
          <p:nvPr/>
        </p:nvSpPr>
        <p:spPr>
          <a:xfrm>
            <a:off x="1217676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58" name="p7.cell6.2.bg"/>
          <p:cNvSpPr/>
          <p:nvPr/>
        </p:nvSpPr>
        <p:spPr>
          <a:xfrm>
            <a:off x="1822703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p7.cell6.2.text"/>
          <p:cNvSpPr txBox="1"/>
          <p:nvPr/>
        </p:nvSpPr>
        <p:spPr>
          <a:xfrm>
            <a:off x="1836420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0" name="p7.cell6.3.bg"/>
          <p:cNvSpPr/>
          <p:nvPr/>
        </p:nvSpPr>
        <p:spPr>
          <a:xfrm>
            <a:off x="2441448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p7.cell6.3.text"/>
          <p:cNvSpPr txBox="1"/>
          <p:nvPr/>
        </p:nvSpPr>
        <p:spPr>
          <a:xfrm>
            <a:off x="2455164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2" name="p7.cell6.4.bg"/>
          <p:cNvSpPr/>
          <p:nvPr/>
        </p:nvSpPr>
        <p:spPr>
          <a:xfrm>
            <a:off x="3060192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p7.cell6.4.text"/>
          <p:cNvSpPr txBox="1"/>
          <p:nvPr/>
        </p:nvSpPr>
        <p:spPr>
          <a:xfrm>
            <a:off x="3073908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4" name="p7.cell6.5.bg"/>
          <p:cNvSpPr/>
          <p:nvPr/>
        </p:nvSpPr>
        <p:spPr>
          <a:xfrm>
            <a:off x="3678936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7.cell6.5.text"/>
          <p:cNvSpPr txBox="1"/>
          <p:nvPr/>
        </p:nvSpPr>
        <p:spPr>
          <a:xfrm>
            <a:off x="3692652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6" name="p7.cell6.6.bg"/>
          <p:cNvSpPr/>
          <p:nvPr/>
        </p:nvSpPr>
        <p:spPr>
          <a:xfrm>
            <a:off x="4297679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p7.cell6.6.text"/>
          <p:cNvSpPr txBox="1"/>
          <p:nvPr/>
        </p:nvSpPr>
        <p:spPr>
          <a:xfrm>
            <a:off x="4311395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68" name="p7.cell6.7.bg"/>
          <p:cNvSpPr/>
          <p:nvPr/>
        </p:nvSpPr>
        <p:spPr>
          <a:xfrm>
            <a:off x="4916423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p7.cell6.7.text"/>
          <p:cNvSpPr txBox="1"/>
          <p:nvPr/>
        </p:nvSpPr>
        <p:spPr>
          <a:xfrm>
            <a:off x="4930139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0" name="p7.cell6.8.bg"/>
          <p:cNvSpPr/>
          <p:nvPr/>
        </p:nvSpPr>
        <p:spPr>
          <a:xfrm>
            <a:off x="5535167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p7.cell6.8.text"/>
          <p:cNvSpPr txBox="1"/>
          <p:nvPr/>
        </p:nvSpPr>
        <p:spPr>
          <a:xfrm>
            <a:off x="5548883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2" name="p7.cell6.9.bg"/>
          <p:cNvSpPr/>
          <p:nvPr/>
        </p:nvSpPr>
        <p:spPr>
          <a:xfrm>
            <a:off x="6153912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p7.cell6.9.text"/>
          <p:cNvSpPr txBox="1"/>
          <p:nvPr/>
        </p:nvSpPr>
        <p:spPr>
          <a:xfrm>
            <a:off x="6167627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4" name="p7.cell6.10.bg"/>
          <p:cNvSpPr/>
          <p:nvPr/>
        </p:nvSpPr>
        <p:spPr>
          <a:xfrm>
            <a:off x="6772656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p7.cell6.10.text"/>
          <p:cNvSpPr txBox="1"/>
          <p:nvPr/>
        </p:nvSpPr>
        <p:spPr>
          <a:xfrm>
            <a:off x="6786371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6" name="p7.cell6.11.bg"/>
          <p:cNvSpPr/>
          <p:nvPr/>
        </p:nvSpPr>
        <p:spPr>
          <a:xfrm>
            <a:off x="7391400" y="4967804"/>
            <a:ext cx="602284" cy="49299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p7.cell6.11.text"/>
          <p:cNvSpPr txBox="1"/>
          <p:nvPr/>
        </p:nvSpPr>
        <p:spPr>
          <a:xfrm>
            <a:off x="7405116" y="4999808"/>
            <a:ext cx="576681" cy="42989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263345"/>
                </a:solidFill>
                <a:latin typeface="Noto Sans CJK SC"/>
              </a:rPr>
              <a:t>—</a:t>
            </a:r>
          </a:p>
        </p:txBody>
      </p:sp>
      <p:sp>
        <p:nvSpPr>
          <p:cNvPr id="178" name="p7.legend"/>
          <p:cNvSpPr txBox="1"/>
          <p:nvPr/>
        </p:nvSpPr>
        <p:spPr>
          <a:xfrm>
            <a:off x="612648" y="1481328"/>
            <a:ext cx="7434072" cy="26517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F7B8D"/>
                </a:solidFill>
                <a:latin typeface="Noto Sans CJK SC"/>
              </a:rPr>
              <a:t>图例：[根据本批已确认的HDS区间填写标签与颜色]</a:t>
            </a:r>
          </a:p>
        </p:txBody>
      </p:sp>
      <p:sp>
        <p:nvSpPr>
          <p:cNvPr id="179" name="p7.pattern0.bg"/>
          <p:cNvSpPr/>
          <p:nvPr/>
        </p:nvSpPr>
        <p:spPr>
          <a:xfrm>
            <a:off x="8275320" y="1527048"/>
            <a:ext cx="3364992" cy="1225296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7.pattern0.stripe"/>
          <p:cNvSpPr/>
          <p:nvPr/>
        </p:nvSpPr>
        <p:spPr>
          <a:xfrm>
            <a:off x="8385048" y="1700784"/>
            <a:ext cx="32004" cy="219456"/>
          </a:xfrm>
          <a:prstGeom prst="rect">
            <a:avLst/>
          </a:prstGeom>
          <a:solidFill>
            <a:srgbClr val="E8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p7.pattern0.title"/>
          <p:cNvSpPr txBox="1"/>
          <p:nvPr/>
        </p:nvSpPr>
        <p:spPr>
          <a:xfrm>
            <a:off x="8494776" y="1609344"/>
            <a:ext cx="300837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[行为组合 1]</a:t>
            </a:r>
          </a:p>
        </p:txBody>
      </p:sp>
      <p:sp>
        <p:nvSpPr>
          <p:cNvPr id="182" name="p7.pattern0.body"/>
          <p:cNvSpPr txBox="1"/>
          <p:nvPr/>
        </p:nvSpPr>
        <p:spPr>
          <a:xfrm>
            <a:off x="8494776" y="2011680"/>
            <a:ext cx="2944368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[写共性或不同组合及工作影响，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不逐人罗列负面标签。]</a:t>
            </a:r>
          </a:p>
        </p:txBody>
      </p:sp>
      <p:sp>
        <p:nvSpPr>
          <p:cNvPr id="183" name="p7.pattern1.bg"/>
          <p:cNvSpPr/>
          <p:nvPr/>
        </p:nvSpPr>
        <p:spPr>
          <a:xfrm>
            <a:off x="8275320" y="2889504"/>
            <a:ext cx="3364992" cy="1225296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p7.pattern1.stripe"/>
          <p:cNvSpPr/>
          <p:nvPr/>
        </p:nvSpPr>
        <p:spPr>
          <a:xfrm>
            <a:off x="8385048" y="3063240"/>
            <a:ext cx="32004" cy="219456"/>
          </a:xfrm>
          <a:prstGeom prst="rect">
            <a:avLst/>
          </a:prstGeom>
          <a:solidFill>
            <a:srgbClr val="E8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p7.pattern1.title"/>
          <p:cNvSpPr txBox="1"/>
          <p:nvPr/>
        </p:nvSpPr>
        <p:spPr>
          <a:xfrm>
            <a:off x="8494776" y="2971800"/>
            <a:ext cx="300837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[行为组合 2]</a:t>
            </a:r>
          </a:p>
        </p:txBody>
      </p:sp>
      <p:sp>
        <p:nvSpPr>
          <p:cNvPr id="186" name="p7.pattern1.body"/>
          <p:cNvSpPr txBox="1"/>
          <p:nvPr/>
        </p:nvSpPr>
        <p:spPr>
          <a:xfrm>
            <a:off x="8494776" y="3374136"/>
            <a:ext cx="2944368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[写共性或不同组合及工作影响，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不逐人罗列负面标签。]</a:t>
            </a:r>
          </a:p>
        </p:txBody>
      </p:sp>
      <p:sp>
        <p:nvSpPr>
          <p:cNvPr id="187" name="p7.pattern2.bg"/>
          <p:cNvSpPr/>
          <p:nvPr/>
        </p:nvSpPr>
        <p:spPr>
          <a:xfrm>
            <a:off x="8275320" y="4251960"/>
            <a:ext cx="3364992" cy="1225296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p7.pattern2.stripe"/>
          <p:cNvSpPr/>
          <p:nvPr/>
        </p:nvSpPr>
        <p:spPr>
          <a:xfrm>
            <a:off x="8385048" y="4425696"/>
            <a:ext cx="32004" cy="219456"/>
          </a:xfrm>
          <a:prstGeom prst="rect">
            <a:avLst/>
          </a:prstGeom>
          <a:solidFill>
            <a:srgbClr val="E856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p7.pattern2.title"/>
          <p:cNvSpPr txBox="1"/>
          <p:nvPr/>
        </p:nvSpPr>
        <p:spPr>
          <a:xfrm>
            <a:off x="8494776" y="4334256"/>
            <a:ext cx="3008376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8565B"/>
                </a:solidFill>
                <a:latin typeface="Noto Sans CJK SC"/>
              </a:rPr>
              <a:t>[行为组合 3]</a:t>
            </a:r>
          </a:p>
        </p:txBody>
      </p:sp>
      <p:sp>
        <p:nvSpPr>
          <p:cNvPr id="190" name="p7.pattern2.body"/>
          <p:cNvSpPr txBox="1"/>
          <p:nvPr/>
        </p:nvSpPr>
        <p:spPr>
          <a:xfrm>
            <a:off x="8494776" y="4736592"/>
            <a:ext cx="2944368" cy="5669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[写共性或不同组合及工作影响，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不逐人罗列负面标签。]</a:t>
            </a:r>
          </a:p>
        </p:txBody>
      </p:sp>
      <p:sp>
        <p:nvSpPr>
          <p:cNvPr id="191" name="p7.expand"/>
          <p:cNvSpPr txBox="1"/>
          <p:nvPr/>
        </p:nvSpPr>
        <p:spPr>
          <a:xfrm>
            <a:off x="630936" y="5751576"/>
            <a:ext cx="7406640" cy="42062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按实际N增减行或分页，不能靠缩小字号塞人；“—”是空白占位，不是0分。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8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8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MVPI：{什么更能激发投入，哪些偏好不同}</a:t>
            </a:r>
          </a:p>
        </p:txBody>
      </p:sp>
      <p:sp>
        <p:nvSpPr>
          <p:cNvPr id="4" name="p8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动机与价值偏好  /  写任务与环境的匹配，不写能力高低</a:t>
            </a:r>
          </a:p>
        </p:txBody>
      </p:sp>
      <p:cxnSp>
        <p:nvCxnSpPr>
          <p:cNvPr id="5" name="p8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8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08</a:t>
            </a:r>
          </a:p>
        </p:txBody>
      </p:sp>
      <p:cxnSp>
        <p:nvCxnSpPr>
          <p:cNvPr id="7" name="p8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8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8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8.radar.ring0.2"/>
          <p:cNvSpPr/>
          <p:nvPr/>
        </p:nvSpPr>
        <p:spPr>
          <a:xfrm>
            <a:off x="2689917" y="3511323"/>
            <a:ext cx="609484" cy="609484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8.radar.ring0.4"/>
          <p:cNvSpPr/>
          <p:nvPr/>
        </p:nvSpPr>
        <p:spPr>
          <a:xfrm>
            <a:off x="2385175" y="3206581"/>
            <a:ext cx="1218968" cy="1218968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8.radar.ring0.6"/>
          <p:cNvSpPr/>
          <p:nvPr/>
        </p:nvSpPr>
        <p:spPr>
          <a:xfrm>
            <a:off x="2080433" y="2901839"/>
            <a:ext cx="1828452" cy="1828452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8.radar.ring0.8"/>
          <p:cNvSpPr/>
          <p:nvPr/>
        </p:nvSpPr>
        <p:spPr>
          <a:xfrm>
            <a:off x="1775691" y="2597097"/>
            <a:ext cx="2437936" cy="2437936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8.radar.ring1"/>
          <p:cNvSpPr/>
          <p:nvPr/>
        </p:nvSpPr>
        <p:spPr>
          <a:xfrm>
            <a:off x="1470949" y="2292355"/>
            <a:ext cx="3047420" cy="3047420"/>
          </a:xfrm>
          <a:prstGeom prst="ellipse">
            <a:avLst/>
          </a:prstGeom>
          <a:noFill/>
          <a:ln w="8890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p8.radar.axis0"/>
          <p:cNvCxnSpPr/>
          <p:nvPr/>
        </p:nvCxnSpPr>
        <p:spPr>
          <a:xfrm flipV="1">
            <a:off x="2994660" y="2292355"/>
            <a:ext cx="0" cy="152371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8.radar.dim0"/>
          <p:cNvSpPr txBox="1"/>
          <p:nvPr/>
        </p:nvSpPr>
        <p:spPr>
          <a:xfrm>
            <a:off x="2446020" y="1766635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认可</a:t>
            </a:r>
          </a:p>
        </p:txBody>
      </p:sp>
      <p:cxnSp>
        <p:nvCxnSpPr>
          <p:cNvPr id="17" name="p8.radar.axis1"/>
          <p:cNvCxnSpPr/>
          <p:nvPr/>
        </p:nvCxnSpPr>
        <p:spPr>
          <a:xfrm flipV="1">
            <a:off x="2994660" y="2583357"/>
            <a:ext cx="895614" cy="123270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8.radar.dim1"/>
          <p:cNvSpPr txBox="1"/>
          <p:nvPr/>
        </p:nvSpPr>
        <p:spPr>
          <a:xfrm>
            <a:off x="3529713" y="2118749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权力</a:t>
            </a:r>
          </a:p>
        </p:txBody>
      </p:sp>
      <p:cxnSp>
        <p:nvCxnSpPr>
          <p:cNvPr id="19" name="p8.radar.axis2"/>
          <p:cNvCxnSpPr/>
          <p:nvPr/>
        </p:nvCxnSpPr>
        <p:spPr>
          <a:xfrm flipV="1">
            <a:off x="2994660" y="3345213"/>
            <a:ext cx="1449134" cy="470852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8.radar.dim2"/>
          <p:cNvSpPr txBox="1"/>
          <p:nvPr/>
        </p:nvSpPr>
        <p:spPr>
          <a:xfrm>
            <a:off x="4199473" y="304059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享乐</a:t>
            </a:r>
          </a:p>
        </p:txBody>
      </p:sp>
      <p:cxnSp>
        <p:nvCxnSpPr>
          <p:cNvPr id="21" name="p8.radar.axis3"/>
          <p:cNvCxnSpPr/>
          <p:nvPr/>
        </p:nvCxnSpPr>
        <p:spPr>
          <a:xfrm>
            <a:off x="2994660" y="3816065"/>
            <a:ext cx="1449134" cy="470852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8.radar.dim3"/>
          <p:cNvSpPr txBox="1"/>
          <p:nvPr/>
        </p:nvSpPr>
        <p:spPr>
          <a:xfrm>
            <a:off x="4199473" y="418005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利他</a:t>
            </a:r>
          </a:p>
        </p:txBody>
      </p:sp>
      <p:cxnSp>
        <p:nvCxnSpPr>
          <p:cNvPr id="23" name="p8.radar.axis4"/>
          <p:cNvCxnSpPr/>
          <p:nvPr/>
        </p:nvCxnSpPr>
        <p:spPr>
          <a:xfrm>
            <a:off x="2994660" y="3816065"/>
            <a:ext cx="895614" cy="123270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8.radar.dim4"/>
          <p:cNvSpPr txBox="1"/>
          <p:nvPr/>
        </p:nvSpPr>
        <p:spPr>
          <a:xfrm>
            <a:off x="3529713" y="510190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归属</a:t>
            </a:r>
          </a:p>
        </p:txBody>
      </p:sp>
      <p:cxnSp>
        <p:nvCxnSpPr>
          <p:cNvPr id="25" name="p8.radar.axis5"/>
          <p:cNvCxnSpPr/>
          <p:nvPr/>
        </p:nvCxnSpPr>
        <p:spPr>
          <a:xfrm>
            <a:off x="2994660" y="3816065"/>
            <a:ext cx="0" cy="152371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8.radar.dim5"/>
          <p:cNvSpPr txBox="1"/>
          <p:nvPr/>
        </p:nvSpPr>
        <p:spPr>
          <a:xfrm>
            <a:off x="2446020" y="5454015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传统</a:t>
            </a:r>
          </a:p>
        </p:txBody>
      </p:sp>
      <p:cxnSp>
        <p:nvCxnSpPr>
          <p:cNvPr id="27" name="p8.radar.axis6"/>
          <p:cNvCxnSpPr/>
          <p:nvPr/>
        </p:nvCxnSpPr>
        <p:spPr>
          <a:xfrm flipH="1">
            <a:off x="2099045" y="3816065"/>
            <a:ext cx="895615" cy="123270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8.radar.dim6"/>
          <p:cNvSpPr txBox="1"/>
          <p:nvPr/>
        </p:nvSpPr>
        <p:spPr>
          <a:xfrm>
            <a:off x="1362326" y="5101901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保障</a:t>
            </a:r>
          </a:p>
        </p:txBody>
      </p:sp>
      <p:cxnSp>
        <p:nvCxnSpPr>
          <p:cNvPr id="29" name="p8.radar.axis7"/>
          <p:cNvCxnSpPr/>
          <p:nvPr/>
        </p:nvCxnSpPr>
        <p:spPr>
          <a:xfrm flipH="1">
            <a:off x="1545525" y="3816065"/>
            <a:ext cx="1449135" cy="470852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p8.radar.dim7"/>
          <p:cNvSpPr txBox="1"/>
          <p:nvPr/>
        </p:nvSpPr>
        <p:spPr>
          <a:xfrm>
            <a:off x="692566" y="4180056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商业</a:t>
            </a:r>
          </a:p>
        </p:txBody>
      </p:sp>
      <p:cxnSp>
        <p:nvCxnSpPr>
          <p:cNvPr id="31" name="p8.radar.axis8"/>
          <p:cNvCxnSpPr/>
          <p:nvPr/>
        </p:nvCxnSpPr>
        <p:spPr>
          <a:xfrm flipH="1" flipV="1">
            <a:off x="1545525" y="3345213"/>
            <a:ext cx="1449135" cy="470852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8.radar.dim8"/>
          <p:cNvSpPr txBox="1"/>
          <p:nvPr/>
        </p:nvSpPr>
        <p:spPr>
          <a:xfrm>
            <a:off x="692566" y="3040594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美感</a:t>
            </a:r>
          </a:p>
        </p:txBody>
      </p:sp>
      <p:cxnSp>
        <p:nvCxnSpPr>
          <p:cNvPr id="33" name="p8.radar.axis9"/>
          <p:cNvCxnSpPr/>
          <p:nvPr/>
        </p:nvCxnSpPr>
        <p:spPr>
          <a:xfrm flipH="1" flipV="1">
            <a:off x="2099045" y="2583357"/>
            <a:ext cx="895615" cy="1232708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8.radar.dim9"/>
          <p:cNvSpPr txBox="1"/>
          <p:nvPr/>
        </p:nvSpPr>
        <p:spPr>
          <a:xfrm>
            <a:off x="1362326" y="2118749"/>
            <a:ext cx="1097280" cy="41148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F7B8D"/>
                </a:solidFill>
                <a:latin typeface="Noto Sans CJK SC"/>
              </a:rPr>
              <a:t>科学</a:t>
            </a:r>
          </a:p>
        </p:txBody>
      </p:sp>
      <p:sp>
        <p:nvSpPr>
          <p:cNvPr id="35" name="p8.radar.caption.bg"/>
          <p:cNvSpPr/>
          <p:nvPr/>
        </p:nvSpPr>
        <p:spPr>
          <a:xfrm>
            <a:off x="1499616" y="3532601"/>
            <a:ext cx="2990088" cy="566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8.radar.replace"/>
          <p:cNvSpPr txBox="1"/>
          <p:nvPr/>
        </p:nvSpPr>
        <p:spPr>
          <a:xfrm>
            <a:off x="1549450" y="3550889"/>
            <a:ext cx="2890418" cy="53035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插入本批MVPI群体雷达图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F7B8D"/>
                </a:solidFill>
                <a:latin typeface="Noto Sans CJK SC"/>
              </a:rPr>
              <a:t>共同驱动与个体差异</a:t>
            </a:r>
          </a:p>
        </p:txBody>
      </p:sp>
      <p:sp>
        <p:nvSpPr>
          <p:cNvPr id="37" name="p8.finding0.bg"/>
          <p:cNvSpPr/>
          <p:nvPr/>
        </p:nvSpPr>
        <p:spPr>
          <a:xfrm>
            <a:off x="5769864" y="1463040"/>
            <a:ext cx="5870448" cy="996696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8.finding0.stripe"/>
          <p:cNvSpPr/>
          <p:nvPr/>
        </p:nvSpPr>
        <p:spPr>
          <a:xfrm>
            <a:off x="5879592" y="1636776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8.finding0.title"/>
          <p:cNvSpPr txBox="1"/>
          <p:nvPr/>
        </p:nvSpPr>
        <p:spPr>
          <a:xfrm>
            <a:off x="5989320" y="1545336"/>
            <a:ext cx="551383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[结论 1：更重视什么]</a:t>
            </a:r>
          </a:p>
        </p:txBody>
      </p:sp>
      <p:sp>
        <p:nvSpPr>
          <p:cNvPr id="40" name="p8.finding0.body"/>
          <p:cNvSpPr txBox="1"/>
          <p:nvPr/>
        </p:nvSpPr>
        <p:spPr>
          <a:xfrm>
            <a:off x="5989320" y="1947672"/>
            <a:ext cx="5449824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[怎样的任务或工作安排可能更有吸引力，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会影响投入的哪一方面；需与本人确认。]</a:t>
            </a:r>
          </a:p>
        </p:txBody>
      </p:sp>
      <p:sp>
        <p:nvSpPr>
          <p:cNvPr id="41" name="p8.finding1.bg"/>
          <p:cNvSpPr/>
          <p:nvPr/>
        </p:nvSpPr>
        <p:spPr>
          <a:xfrm>
            <a:off x="5769864" y="2587752"/>
            <a:ext cx="5870448" cy="996696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8.finding1.stripe"/>
          <p:cNvSpPr/>
          <p:nvPr/>
        </p:nvSpPr>
        <p:spPr>
          <a:xfrm>
            <a:off x="5879592" y="2761488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8.finding1.title"/>
          <p:cNvSpPr txBox="1"/>
          <p:nvPr/>
        </p:nvSpPr>
        <p:spPr>
          <a:xfrm>
            <a:off x="5989320" y="2670048"/>
            <a:ext cx="551383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[结论 2：更重视什么]</a:t>
            </a:r>
          </a:p>
        </p:txBody>
      </p:sp>
      <p:sp>
        <p:nvSpPr>
          <p:cNvPr id="44" name="p8.finding1.body"/>
          <p:cNvSpPr txBox="1"/>
          <p:nvPr/>
        </p:nvSpPr>
        <p:spPr>
          <a:xfrm>
            <a:off x="5989320" y="3072384"/>
            <a:ext cx="5449824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[怎样的任务或工作安排可能更有吸引力，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会影响投入的哪一方面；需与本人确认。]</a:t>
            </a:r>
          </a:p>
        </p:txBody>
      </p:sp>
      <p:sp>
        <p:nvSpPr>
          <p:cNvPr id="45" name="p8.finding2.bg"/>
          <p:cNvSpPr/>
          <p:nvPr/>
        </p:nvSpPr>
        <p:spPr>
          <a:xfrm>
            <a:off x="5769864" y="3712464"/>
            <a:ext cx="5870448" cy="996696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p8.finding2.stripe"/>
          <p:cNvSpPr/>
          <p:nvPr/>
        </p:nvSpPr>
        <p:spPr>
          <a:xfrm>
            <a:off x="5879592" y="3886200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p8.finding2.title"/>
          <p:cNvSpPr txBox="1"/>
          <p:nvPr/>
        </p:nvSpPr>
        <p:spPr>
          <a:xfrm>
            <a:off x="5989320" y="3794760"/>
            <a:ext cx="551383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[结论 3：更重视什么]</a:t>
            </a:r>
          </a:p>
        </p:txBody>
      </p:sp>
      <p:sp>
        <p:nvSpPr>
          <p:cNvPr id="48" name="p8.finding2.body"/>
          <p:cNvSpPr txBox="1"/>
          <p:nvPr/>
        </p:nvSpPr>
        <p:spPr>
          <a:xfrm>
            <a:off x="5989320" y="4197096"/>
            <a:ext cx="5449824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[怎样的任务或工作安排可能更有吸引力，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会影响投入的哪一方面；需与本人确认。]</a:t>
            </a:r>
          </a:p>
        </p:txBody>
      </p:sp>
      <p:sp>
        <p:nvSpPr>
          <p:cNvPr id="49" name="p8.finding3.bg"/>
          <p:cNvSpPr/>
          <p:nvPr/>
        </p:nvSpPr>
        <p:spPr>
          <a:xfrm>
            <a:off x="5769864" y="4837176"/>
            <a:ext cx="5870448" cy="996696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p8.finding3.stripe"/>
          <p:cNvSpPr/>
          <p:nvPr/>
        </p:nvSpPr>
        <p:spPr>
          <a:xfrm>
            <a:off x="5879592" y="5010912"/>
            <a:ext cx="32004" cy="21945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8.finding3.title"/>
          <p:cNvSpPr txBox="1"/>
          <p:nvPr/>
        </p:nvSpPr>
        <p:spPr>
          <a:xfrm>
            <a:off x="5989320" y="4919472"/>
            <a:ext cx="5513832" cy="35661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[结论 4：更重视什么]</a:t>
            </a:r>
          </a:p>
        </p:txBody>
      </p:sp>
      <p:sp>
        <p:nvSpPr>
          <p:cNvPr id="52" name="p8.finding3.body"/>
          <p:cNvSpPr txBox="1"/>
          <p:nvPr/>
        </p:nvSpPr>
        <p:spPr>
          <a:xfrm>
            <a:off x="5989320" y="5321808"/>
            <a:ext cx="5449824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[怎样的任务或工作安排可能更有吸引力，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263345"/>
                </a:solidFill>
                <a:latin typeface="Noto Sans CJK SC"/>
              </a:rPr>
              <a:t>会影响投入的哪一方面；需与本人确认。]</a:t>
            </a:r>
          </a:p>
        </p:txBody>
      </p:sp>
      <p:sp>
        <p:nvSpPr>
          <p:cNvPr id="53" name="p8.limit"/>
          <p:cNvSpPr txBox="1"/>
          <p:nvPr/>
        </p:nvSpPr>
        <p:spPr>
          <a:xfrm>
            <a:off x="676656" y="6126480"/>
            <a:ext cx="10927080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F7B8D"/>
                </a:solidFill>
                <a:latin typeface="Noto Sans CJK SC"/>
              </a:rPr>
              <a:t>传统低不等于不守规则；商业高不等于业务能力强。激励差异须逐人确认，不能只看平均分。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9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9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群体总结：{最重要的工作影响和观察重点}</a:t>
            </a:r>
          </a:p>
        </p:txBody>
      </p:sp>
      <p:sp>
        <p:nvSpPr>
          <p:cNvPr id="4" name="p9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从测评倾向到实际任务  /  不只罗列分数，不使用抽象口号</a:t>
            </a:r>
          </a:p>
        </p:txBody>
      </p:sp>
      <p:cxnSp>
        <p:nvCxnSpPr>
          <p:cNvPr id="5" name="p9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9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09</a:t>
            </a:r>
          </a:p>
        </p:txBody>
      </p:sp>
      <p:cxnSp>
        <p:nvCxnSpPr>
          <p:cNvPr id="7" name="p9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9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9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9.heading0.bg"/>
          <p:cNvSpPr/>
          <p:nvPr/>
        </p:nvSpPr>
        <p:spPr>
          <a:xfrm>
            <a:off x="585216" y="1499616"/>
            <a:ext cx="2267712" cy="466344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9.heading0.text"/>
          <p:cNvSpPr txBox="1"/>
          <p:nvPr/>
        </p:nvSpPr>
        <p:spPr>
          <a:xfrm>
            <a:off x="713232" y="1591056"/>
            <a:ext cx="2011680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具体工作场景</a:t>
            </a:r>
          </a:p>
        </p:txBody>
      </p:sp>
      <p:sp>
        <p:nvSpPr>
          <p:cNvPr id="12" name="p9.heading1.bg"/>
          <p:cNvSpPr/>
          <p:nvPr/>
        </p:nvSpPr>
        <p:spPr>
          <a:xfrm>
            <a:off x="2971800" y="1499616"/>
            <a:ext cx="5157216" cy="466344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9.heading1.text"/>
          <p:cNvSpPr txBox="1"/>
          <p:nvPr/>
        </p:nvSpPr>
        <p:spPr>
          <a:xfrm>
            <a:off x="3099816" y="1591056"/>
            <a:ext cx="4901183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可能的做法与工作影响</a:t>
            </a:r>
          </a:p>
        </p:txBody>
      </p:sp>
      <p:sp>
        <p:nvSpPr>
          <p:cNvPr id="14" name="p9.heading2.bg"/>
          <p:cNvSpPr/>
          <p:nvPr/>
        </p:nvSpPr>
        <p:spPr>
          <a:xfrm>
            <a:off x="8247888" y="1499616"/>
            <a:ext cx="3355848" cy="466344"/>
          </a:xfrm>
          <a:prstGeom prst="rect">
            <a:avLst/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9.heading2.text"/>
          <p:cNvSpPr txBox="1"/>
          <p:nvPr/>
        </p:nvSpPr>
        <p:spPr>
          <a:xfrm>
            <a:off x="8375904" y="1591056"/>
            <a:ext cx="3099815" cy="256032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078F5"/>
                </a:solidFill>
                <a:latin typeface="Noto Sans CJK SC"/>
              </a:rPr>
              <a:t>重点观察什么</a:t>
            </a:r>
          </a:p>
        </p:txBody>
      </p:sp>
      <p:sp>
        <p:nvSpPr>
          <p:cNvPr id="16" name="p9.row0.col0.bg"/>
          <p:cNvSpPr/>
          <p:nvPr/>
        </p:nvSpPr>
        <p:spPr>
          <a:xfrm>
            <a:off x="585216" y="2130552"/>
            <a:ext cx="2267712" cy="987552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9.row0.col0.text"/>
          <p:cNvSpPr txBox="1"/>
          <p:nvPr/>
        </p:nvSpPr>
        <p:spPr>
          <a:xfrm>
            <a:off x="731520" y="2249424"/>
            <a:ext cx="1975104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263345"/>
                </a:solidFill>
                <a:latin typeface="Noto Sans CJK SC"/>
              </a:rPr>
              <a:t>[日常推进任务]</a:t>
            </a:r>
          </a:p>
        </p:txBody>
      </p:sp>
      <p:sp>
        <p:nvSpPr>
          <p:cNvPr id="18" name="p9.row0.col1.bg"/>
          <p:cNvSpPr/>
          <p:nvPr/>
        </p:nvSpPr>
        <p:spPr>
          <a:xfrm>
            <a:off x="2971800" y="2130552"/>
            <a:ext cx="5157216" cy="987552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9.row0.col1.text"/>
          <p:cNvSpPr txBox="1"/>
          <p:nvPr/>
        </p:nvSpPr>
        <p:spPr>
          <a:xfrm>
            <a:off x="3118104" y="2249424"/>
            <a:ext cx="4864607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[哪些倾向有助推进？什么情况下可能返工、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遗漏跟进或拖慢关键工作？]</a:t>
            </a:r>
          </a:p>
        </p:txBody>
      </p:sp>
      <p:sp>
        <p:nvSpPr>
          <p:cNvPr id="20" name="p9.row0.col2.bg"/>
          <p:cNvSpPr/>
          <p:nvPr/>
        </p:nvSpPr>
        <p:spPr>
          <a:xfrm>
            <a:off x="8247888" y="2130552"/>
            <a:ext cx="3355848" cy="987552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9.row0.col2.text"/>
          <p:cNvSpPr txBox="1"/>
          <p:nvPr/>
        </p:nvSpPr>
        <p:spPr>
          <a:xfrm>
            <a:off x="8394192" y="2249424"/>
            <a:ext cx="3063240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[谁负责、何时交、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哪些地方要改做法？]</a:t>
            </a:r>
          </a:p>
        </p:txBody>
      </p:sp>
      <p:sp>
        <p:nvSpPr>
          <p:cNvPr id="22" name="p9.row1.col0.bg"/>
          <p:cNvSpPr/>
          <p:nvPr/>
        </p:nvSpPr>
        <p:spPr>
          <a:xfrm>
            <a:off x="585216" y="3291840"/>
            <a:ext cx="2267712" cy="98755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9.row1.col0.text"/>
          <p:cNvSpPr txBox="1"/>
          <p:nvPr/>
        </p:nvSpPr>
        <p:spPr>
          <a:xfrm>
            <a:off x="731520" y="3410712"/>
            <a:ext cx="1975104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263345"/>
                </a:solidFill>
                <a:latin typeface="Noto Sans CJK SC"/>
              </a:rPr>
              <a:t>[压力与分歧]</a:t>
            </a:r>
          </a:p>
        </p:txBody>
      </p:sp>
      <p:sp>
        <p:nvSpPr>
          <p:cNvPr id="24" name="p9.row1.col1.bg"/>
          <p:cNvSpPr/>
          <p:nvPr/>
        </p:nvSpPr>
        <p:spPr>
          <a:xfrm>
            <a:off x="2971800" y="3291840"/>
            <a:ext cx="5157216" cy="98755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9.row1.col1.text"/>
          <p:cNvSpPr txBox="1"/>
          <p:nvPr/>
        </p:nvSpPr>
        <p:spPr>
          <a:xfrm>
            <a:off x="3118104" y="3410712"/>
            <a:ext cx="4864607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[被质疑、任务变动或时间紧时，可能怎样回应？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对协作方、决策或交付会有什么影响？]</a:t>
            </a:r>
          </a:p>
        </p:txBody>
      </p:sp>
      <p:sp>
        <p:nvSpPr>
          <p:cNvPr id="26" name="p9.row1.col2.bg"/>
          <p:cNvSpPr/>
          <p:nvPr/>
        </p:nvSpPr>
        <p:spPr>
          <a:xfrm>
            <a:off x="8247888" y="3291840"/>
            <a:ext cx="3355848" cy="987552"/>
          </a:xfrm>
          <a:prstGeom prst="rect">
            <a:avLst/>
          </a:prstGeom>
          <a:solidFill>
            <a:srgbClr val="FFFFFF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9.row1.col2.text"/>
          <p:cNvSpPr txBox="1"/>
          <p:nvPr/>
        </p:nvSpPr>
        <p:spPr>
          <a:xfrm>
            <a:off x="8394192" y="3410712"/>
            <a:ext cx="3063240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[是否听清不同意见，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及时说明风险和困难？]</a:t>
            </a:r>
          </a:p>
        </p:txBody>
      </p:sp>
      <p:sp>
        <p:nvSpPr>
          <p:cNvPr id="28" name="p9.row2.col0.bg"/>
          <p:cNvSpPr/>
          <p:nvPr/>
        </p:nvSpPr>
        <p:spPr>
          <a:xfrm>
            <a:off x="585216" y="4453128"/>
            <a:ext cx="2267712" cy="987552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9.row2.col0.text"/>
          <p:cNvSpPr txBox="1"/>
          <p:nvPr/>
        </p:nvSpPr>
        <p:spPr>
          <a:xfrm>
            <a:off x="731520" y="4572000"/>
            <a:ext cx="1975104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263345"/>
                </a:solidFill>
                <a:latin typeface="Noto Sans CJK SC"/>
              </a:rPr>
              <a:t>[投入与工作安排]</a:t>
            </a:r>
          </a:p>
        </p:txBody>
      </p:sp>
      <p:sp>
        <p:nvSpPr>
          <p:cNvPr id="30" name="p9.row2.col1.bg"/>
          <p:cNvSpPr/>
          <p:nvPr/>
        </p:nvSpPr>
        <p:spPr>
          <a:xfrm>
            <a:off x="2971800" y="4453128"/>
            <a:ext cx="5157216" cy="987552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9.row2.col1.text"/>
          <p:cNvSpPr txBox="1"/>
          <p:nvPr/>
        </p:nvSpPr>
        <p:spPr>
          <a:xfrm>
            <a:off x="3118104" y="4572000"/>
            <a:ext cx="4864607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[怎样的任务、反馈和环境更可能让人愿意投入？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哪些差异需要分别沟通？]</a:t>
            </a:r>
          </a:p>
        </p:txBody>
      </p:sp>
      <p:sp>
        <p:nvSpPr>
          <p:cNvPr id="32" name="p9.row2.col2.bg"/>
          <p:cNvSpPr/>
          <p:nvPr/>
        </p:nvSpPr>
        <p:spPr>
          <a:xfrm>
            <a:off x="8247888" y="4453128"/>
            <a:ext cx="3355848" cy="987552"/>
          </a:xfrm>
          <a:prstGeom prst="rect">
            <a:avLst/>
          </a:prstGeom>
          <a:solidFill>
            <a:srgbClr val="FAFBFD"/>
          </a:solidFill>
          <a:ln w="8255">
            <a:solidFill>
              <a:srgbClr val="DFE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9.row2.col2.text"/>
          <p:cNvSpPr txBox="1"/>
          <p:nvPr/>
        </p:nvSpPr>
        <p:spPr>
          <a:xfrm>
            <a:off x="8394192" y="4572000"/>
            <a:ext cx="3063240" cy="73152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[实际参与是否增加？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263345"/>
                </a:solidFill>
                <a:latin typeface="Noto Sans CJK SC"/>
              </a:rPr>
              <a:t>任务结果是否更稳定？]</a:t>
            </a:r>
          </a:p>
        </p:txBody>
      </p:sp>
      <p:sp>
        <p:nvSpPr>
          <p:cNvPr id="34" name="p9.summary.bg"/>
          <p:cNvSpPr/>
          <p:nvPr/>
        </p:nvSpPr>
        <p:spPr>
          <a:xfrm>
            <a:off x="594360" y="5815584"/>
            <a:ext cx="11036808" cy="365760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p9.summary"/>
          <p:cNvSpPr txBox="1"/>
          <p:nvPr/>
        </p:nvSpPr>
        <p:spPr>
          <a:xfrm>
            <a:off x="777240" y="5870448"/>
            <a:ext cx="10680192" cy="23774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E8565B"/>
                </a:solidFill>
                <a:latin typeface="Noto Sans CJK SC"/>
              </a:rPr>
              <a:t>[一句话总结：当前最要看清的工作行为是什么；不要直接评价潜力或绩效。]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10.header.blue"/>
          <p:cNvSpPr/>
          <p:nvPr/>
        </p:nvSpPr>
        <p:spPr>
          <a:xfrm>
            <a:off x="457200" y="347472"/>
            <a:ext cx="50292" cy="310896"/>
          </a:xfrm>
          <a:prstGeom prst="rect">
            <a:avLst/>
          </a:prstGeom>
          <a:solidFill>
            <a:srgbClr val="307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10.title"/>
          <p:cNvSpPr txBox="1"/>
          <p:nvPr/>
        </p:nvSpPr>
        <p:spPr>
          <a:xfrm>
            <a:off x="658368" y="210312"/>
            <a:ext cx="10652760" cy="5486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63345"/>
                </a:solidFill>
                <a:latin typeface="Noto Sans CJK SC"/>
              </a:rPr>
              <a:t>阅读指南：先看倾向与证据，再用工作表现验证</a:t>
            </a:r>
          </a:p>
        </p:txBody>
      </p:sp>
      <p:sp>
        <p:nvSpPr>
          <p:cNvPr id="4" name="p10.subtitle"/>
          <p:cNvSpPr txBox="1"/>
          <p:nvPr/>
        </p:nvSpPr>
        <p:spPr>
          <a:xfrm>
            <a:off x="658368" y="786384"/>
            <a:ext cx="10698480" cy="31089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F7B8D"/>
                </a:solidFill>
                <a:latin typeface="Noto Sans CJK SC"/>
              </a:rPr>
              <a:t>方法与保密边界  /  不以单项分数替代人才判断</a:t>
            </a:r>
          </a:p>
        </p:txBody>
      </p:sp>
      <p:cxnSp>
        <p:nvCxnSpPr>
          <p:cNvPr id="5" name="p10.toprule"/>
          <p:cNvCxnSpPr/>
          <p:nvPr/>
        </p:nvCxnSpPr>
        <p:spPr>
          <a:xfrm>
            <a:off x="484632" y="1170432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10.index"/>
          <p:cNvSpPr txBox="1"/>
          <p:nvPr/>
        </p:nvSpPr>
        <p:spPr>
          <a:xfrm>
            <a:off x="11329416" y="292608"/>
            <a:ext cx="393192" cy="32918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078F5"/>
                </a:solidFill>
                <a:latin typeface="Noto Sans CJK SC"/>
              </a:rPr>
              <a:t>10</a:t>
            </a:r>
          </a:p>
        </p:txBody>
      </p:sp>
      <p:cxnSp>
        <p:nvCxnSpPr>
          <p:cNvPr id="7" name="p10.footrule"/>
          <p:cNvCxnSpPr/>
          <p:nvPr/>
        </p:nvCxnSpPr>
        <p:spPr>
          <a:xfrm>
            <a:off x="484632" y="6510528"/>
            <a:ext cx="11228832" cy="0"/>
          </a:xfrm>
          <a:prstGeom prst="line">
            <a:avLst/>
          </a:prstGeom>
          <a:ln w="8890">
            <a:solidFill>
              <a:srgbClr val="DF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10.footer"/>
          <p:cNvSpPr txBox="1"/>
          <p:nvPr/>
        </p:nvSpPr>
        <p:spPr>
          <a:xfrm>
            <a:off x="502920" y="6592824"/>
            <a:ext cx="8229600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{批次} · 样本 {N} 人  |  内部使用 · 结论需结合实际表现验证</a:t>
            </a:r>
          </a:p>
        </p:txBody>
      </p:sp>
      <p:sp>
        <p:nvSpPr>
          <p:cNvPr id="9" name="p10.template_mark"/>
          <p:cNvSpPr txBox="1"/>
          <p:nvPr/>
        </p:nvSpPr>
        <p:spPr>
          <a:xfrm>
            <a:off x="9308592" y="6592824"/>
            <a:ext cx="2414016" cy="14630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F7B8D"/>
                </a:solidFill>
                <a:latin typeface="Noto Sans CJK SC"/>
              </a:rPr>
              <a:t>空白模板 · 无真实数据</a:t>
            </a:r>
          </a:p>
        </p:txBody>
      </p:sp>
      <p:sp>
        <p:nvSpPr>
          <p:cNvPr id="10" name="p10.HPI.bg"/>
          <p:cNvSpPr/>
          <p:nvPr/>
        </p:nvSpPr>
        <p:spPr>
          <a:xfrm>
            <a:off x="585216" y="1426464"/>
            <a:ext cx="3575304" cy="1490472"/>
          </a:xfrm>
          <a:prstGeom prst="roundRect">
            <a:avLst>
              <a:gd name="adj" fmla="val 3500"/>
            </a:avLst>
          </a:prstGeom>
          <a:solidFill>
            <a:srgbClr val="F3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10.HPI.name"/>
          <p:cNvSpPr txBox="1"/>
          <p:nvPr/>
        </p:nvSpPr>
        <p:spPr>
          <a:xfrm>
            <a:off x="749808" y="1581912"/>
            <a:ext cx="3246120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3078F5"/>
                </a:solidFill>
                <a:latin typeface="Noto Sans CJK SC"/>
              </a:rPr>
              <a:t>HPI</a:t>
            </a:r>
          </a:p>
        </p:txBody>
      </p:sp>
      <p:sp>
        <p:nvSpPr>
          <p:cNvPr id="12" name="p10.HPI.sub"/>
          <p:cNvSpPr txBox="1"/>
          <p:nvPr/>
        </p:nvSpPr>
        <p:spPr>
          <a:xfrm>
            <a:off x="749808" y="1984248"/>
            <a:ext cx="32461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3345"/>
                </a:solidFill>
                <a:latin typeface="Noto Sans CJK SC"/>
              </a:rPr>
              <a:t>平时怎样做事</a:t>
            </a:r>
          </a:p>
        </p:txBody>
      </p:sp>
      <p:sp>
        <p:nvSpPr>
          <p:cNvPr id="13" name="p10.HPI.body"/>
          <p:cNvSpPr txBox="1"/>
          <p:nvPr/>
        </p:nvSpPr>
        <p:spPr>
          <a:xfrm>
            <a:off x="749808" y="2322576"/>
            <a:ext cx="3246120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日常如何承担任务、安排工作、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学习新东西和与人合作。</a:t>
            </a:r>
          </a:p>
        </p:txBody>
      </p:sp>
      <p:sp>
        <p:nvSpPr>
          <p:cNvPr id="14" name="p10.HDS.bg"/>
          <p:cNvSpPr/>
          <p:nvPr/>
        </p:nvSpPr>
        <p:spPr>
          <a:xfrm>
            <a:off x="4407407" y="1426464"/>
            <a:ext cx="3575304" cy="1490472"/>
          </a:xfrm>
          <a:prstGeom prst="roundRect">
            <a:avLst>
              <a:gd name="adj" fmla="val 3500"/>
            </a:avLst>
          </a:prstGeom>
          <a:solidFill>
            <a:srgbClr val="FC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10.HDS.name"/>
          <p:cNvSpPr txBox="1"/>
          <p:nvPr/>
        </p:nvSpPr>
        <p:spPr>
          <a:xfrm>
            <a:off x="4571999" y="1581912"/>
            <a:ext cx="3246120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8565B"/>
                </a:solidFill>
                <a:latin typeface="Noto Sans CJK SC"/>
              </a:rPr>
              <a:t>HDS</a:t>
            </a:r>
          </a:p>
        </p:txBody>
      </p:sp>
      <p:sp>
        <p:nvSpPr>
          <p:cNvPr id="16" name="p10.HDS.sub"/>
          <p:cNvSpPr txBox="1"/>
          <p:nvPr/>
        </p:nvSpPr>
        <p:spPr>
          <a:xfrm>
            <a:off x="4571999" y="1984248"/>
            <a:ext cx="32461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3345"/>
                </a:solidFill>
                <a:latin typeface="Noto Sans CJK SC"/>
              </a:rPr>
              <a:t>压力下可能怎样反应</a:t>
            </a:r>
          </a:p>
        </p:txBody>
      </p:sp>
      <p:sp>
        <p:nvSpPr>
          <p:cNvPr id="17" name="p10.HDS.body"/>
          <p:cNvSpPr txBox="1"/>
          <p:nvPr/>
        </p:nvSpPr>
        <p:spPr>
          <a:xfrm>
            <a:off x="4571999" y="2322576"/>
            <a:ext cx="3246120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特定状态下某些倾向可能被放大，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并影响任务推进或合作。</a:t>
            </a:r>
          </a:p>
        </p:txBody>
      </p:sp>
      <p:sp>
        <p:nvSpPr>
          <p:cNvPr id="18" name="p10.MVPI.bg"/>
          <p:cNvSpPr/>
          <p:nvPr/>
        </p:nvSpPr>
        <p:spPr>
          <a:xfrm>
            <a:off x="8229600" y="1426464"/>
            <a:ext cx="3575304" cy="1490472"/>
          </a:xfrm>
          <a:prstGeom prst="roundRect">
            <a:avLst>
              <a:gd name="adj" fmla="val 3500"/>
            </a:avLst>
          </a:prstGeom>
          <a:solidFill>
            <a:srgbClr val="F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10.MVPI.name"/>
          <p:cNvSpPr txBox="1"/>
          <p:nvPr/>
        </p:nvSpPr>
        <p:spPr>
          <a:xfrm>
            <a:off x="8394192" y="1581912"/>
            <a:ext cx="3246120" cy="2834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8B28"/>
                </a:solidFill>
                <a:latin typeface="Noto Sans CJK SC"/>
              </a:rPr>
              <a:t>MVPI</a:t>
            </a:r>
          </a:p>
        </p:txBody>
      </p:sp>
      <p:sp>
        <p:nvSpPr>
          <p:cNvPr id="20" name="p10.MVPI.sub"/>
          <p:cNvSpPr txBox="1"/>
          <p:nvPr/>
        </p:nvSpPr>
        <p:spPr>
          <a:xfrm>
            <a:off x="8394192" y="1984248"/>
            <a:ext cx="3246120" cy="22860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63345"/>
                </a:solidFill>
                <a:latin typeface="Noto Sans CJK SC"/>
              </a:rPr>
              <a:t>重视什么、为什么投入</a:t>
            </a:r>
          </a:p>
        </p:txBody>
      </p:sp>
      <p:sp>
        <p:nvSpPr>
          <p:cNvPr id="21" name="p10.MVPI.body"/>
          <p:cNvSpPr txBox="1"/>
          <p:nvPr/>
        </p:nvSpPr>
        <p:spPr>
          <a:xfrm>
            <a:off x="8394192" y="2322576"/>
            <a:ext cx="3246120" cy="402336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哪些目标和工作环境更有吸引力；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263345"/>
                </a:solidFill>
                <a:latin typeface="Noto Sans CJK SC"/>
              </a:rPr>
              <a:t>动机偏好不是能力。</a:t>
            </a:r>
          </a:p>
        </p:txBody>
      </p:sp>
      <p:sp>
        <p:nvSpPr>
          <p:cNvPr id="22" name="p10.section0.title"/>
          <p:cNvSpPr txBox="1"/>
          <p:nvPr/>
        </p:nvSpPr>
        <p:spPr>
          <a:xfrm>
            <a:off x="594360" y="3300984"/>
            <a:ext cx="5358384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078F5"/>
                </a:solidFill>
                <a:latin typeface="Noto Sans CJK SC"/>
              </a:rPr>
              <a:t>统计与来源</a:t>
            </a:r>
          </a:p>
        </p:txBody>
      </p:sp>
      <p:sp>
        <p:nvSpPr>
          <p:cNvPr id="23" name="p10.section0.body"/>
          <p:cNvSpPr txBox="1"/>
          <p:nvPr/>
        </p:nvSpPr>
        <p:spPr>
          <a:xfrm>
            <a:off x="621792" y="3794760"/>
            <a:ext cx="5376672" cy="16550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样本：{N}；常模/版本：{来源原文}。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均值、中位值、范围、人数均来自同一批可比数据。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分档：{与当批报告核对后填写}。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来源文件与实际页码：{仅写必要信息}。</a:t>
            </a:r>
          </a:p>
        </p:txBody>
      </p:sp>
      <p:sp>
        <p:nvSpPr>
          <p:cNvPr id="24" name="p10.section1.title"/>
          <p:cNvSpPr txBox="1"/>
          <p:nvPr/>
        </p:nvSpPr>
        <p:spPr>
          <a:xfrm>
            <a:off x="6355080" y="3300984"/>
            <a:ext cx="5358384" cy="320040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8565B"/>
                </a:solidFill>
                <a:latin typeface="Noto Sans CJK SC"/>
              </a:rPr>
              <a:t>解释与保密</a:t>
            </a:r>
          </a:p>
        </p:txBody>
      </p:sp>
      <p:sp>
        <p:nvSpPr>
          <p:cNvPr id="25" name="p10.section1.body"/>
          <p:cNvSpPr txBox="1"/>
          <p:nvPr/>
        </p:nvSpPr>
        <p:spPr>
          <a:xfrm>
            <a:off x="6382512" y="3794760"/>
            <a:ext cx="5376672" cy="1655064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事实、计算、推断分开；没有业务背景就不编造案例。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不把相对低分写成短板，不把风险倾向写成真实问题。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群体报告默认编号，身份映射不进共享备注。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63345"/>
                </a:solidFill>
                <a:latin typeface="Noto Sans CJK SC"/>
              </a:rPr>
              <a:t>真实数据、报告和图像不进入公共GitHub仓库。</a:t>
            </a:r>
          </a:p>
        </p:txBody>
      </p:sp>
      <p:sp>
        <p:nvSpPr>
          <p:cNvPr id="26" name="p10.limit"/>
          <p:cNvSpPr txBox="1"/>
          <p:nvPr/>
        </p:nvSpPr>
        <p:spPr>
          <a:xfrm>
            <a:off x="685800" y="5961888"/>
            <a:ext cx="10817352" cy="338328"/>
          </a:xfrm>
          <a:prstGeom prst="rect">
            <a:avLst/>
          </a:prstGeom>
          <a:noFill/>
          <a:effectLst/>
        </p:spPr>
        <p:txBody>
          <a:bodyPr wrap="square" lIns="13716" rIns="13716" tIns="5486" bIns="5486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F7B8D"/>
                </a:solidFill>
                <a:latin typeface="Noto Sans CJK SC"/>
              </a:rPr>
              <a:t>测评用于发展性反馈；不是临床诊断，也不作为自动招聘筛选、排名、任用或淘汰依据。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Hogan群体报告空白模板</dc:title>
  <dc:subject>Blank workflow template; no actual assessment data</dc:subject>
  <dc:creator>Hogan Workflow Template</dc:creator>
  <cp:keywords>blank template</cp:keywords>
  <dc:description/>
  <cp:lastModifiedBy>Hogan Workflow Template</cp:lastModifiedBy>
  <cp:revision>1</cp:revision>
  <dcterms:created xsi:type="dcterms:W3CDTF">2026-10-15T00:00:00Z</dcterms:created>
  <dcterms:modified xsi:type="dcterms:W3CDTF">2026-10-15T00:00:00Z</dcterms:modified>
  <cp:category/>
</cp:coreProperties>
</file>