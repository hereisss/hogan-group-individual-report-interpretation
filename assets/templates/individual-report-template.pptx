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空白模板，不含真实人员、分值或业务资料。</a:t>
            </a:r>
          </a:p>
          <a:p>
            <a:r>
              <a:t>核心画像：优先HPI单点与HPI内部组合；HDS/MVPI不固定塞入核心画像。</a:t>
            </a:r>
          </a:p>
          <a:p>
            <a:r>
              <a:t>原图替换区域以template-map.json的chart_regions为准，先移除对应radar.*占位对象，再等比放入确认图片。</a:t>
            </a:r>
          </a:p>
          <a:p>
            <a:r>
              <a:t>请填证据：来源文件/页码、原分/均值/差值、维度解释、组合假设、具体工作场景、观察重点。</a:t>
            </a:r>
          </a:p>
          <a:p>
            <a:r>
              <a:t>成稿核验：所有占位已替换；数据来源和页码可追溯；行为影响标为假设；正文可编辑；全页渲染检查。</a:t>
            </a:r>
          </a:p>
          <a:p>
            <a:r>
              <a:t>保密：不要在共享备注中放真实姓名映射、测试账号、联系方式或无关内部资料。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rson.alias"/>
          <p:cNvSpPr txBox="1"/>
          <p:nvPr/>
        </p:nvSpPr>
        <p:spPr>
          <a:xfrm>
            <a:off x="373075" y="146304"/>
            <a:ext cx="4206240" cy="42062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3078F5"/>
                </a:solidFill>
                <a:latin typeface="Noto Sans CJK SC"/>
              </a:rPr>
              <a:t>{成员代号}</a:t>
            </a:r>
          </a:p>
        </p:txBody>
      </p:sp>
      <p:sp>
        <p:nvSpPr>
          <p:cNvPr id="3" name="person.batch"/>
          <p:cNvSpPr txBox="1"/>
          <p:nvPr/>
        </p:nvSpPr>
        <p:spPr>
          <a:xfrm>
            <a:off x="6492240" y="210312"/>
            <a:ext cx="5029200" cy="27432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7B8D"/>
                </a:solidFill>
                <a:latin typeface="Noto Sans CJK SC"/>
              </a:rPr>
              <a:t>{届别 / 批次}  |  个人Hogan报告解读</a:t>
            </a:r>
          </a:p>
        </p:txBody>
      </p:sp>
      <p:cxnSp>
        <p:nvCxnSpPr>
          <p:cNvPr id="4" name="header.rule.blue"/>
          <p:cNvCxnSpPr/>
          <p:nvPr/>
        </p:nvCxnSpPr>
        <p:spPr>
          <a:xfrm>
            <a:off x="374904" y="601675"/>
            <a:ext cx="5715000" cy="0"/>
          </a:xfrm>
          <a:prstGeom prst="line">
            <a:avLst/>
          </a:prstGeom>
          <a:ln w="13970">
            <a:solidFill>
              <a:srgbClr val="3078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header.rule.red"/>
          <p:cNvCxnSpPr/>
          <p:nvPr/>
        </p:nvCxnSpPr>
        <p:spPr>
          <a:xfrm>
            <a:off x="6089904" y="601675"/>
            <a:ext cx="5715000" cy="0"/>
          </a:xfrm>
          <a:prstGeom prst="line">
            <a:avLst/>
          </a:prstGeom>
          <a:ln w="13970">
            <a:solidFill>
              <a:srgbClr val="E856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re.bg"/>
          <p:cNvSpPr/>
          <p:nvPr/>
        </p:nvSpPr>
        <p:spPr>
          <a:xfrm>
            <a:off x="350215" y="768096"/>
            <a:ext cx="11491264" cy="512064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re.label"/>
          <p:cNvSpPr txBox="1"/>
          <p:nvPr/>
        </p:nvSpPr>
        <p:spPr>
          <a:xfrm>
            <a:off x="502920" y="896112"/>
            <a:ext cx="859536" cy="20116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078F5"/>
                </a:solidFill>
                <a:latin typeface="Noto Sans CJK SC"/>
              </a:rPr>
              <a:t>核心画像</a:t>
            </a:r>
          </a:p>
        </p:txBody>
      </p:sp>
      <p:sp>
        <p:nvSpPr>
          <p:cNvPr id="8" name="core.text"/>
          <p:cNvSpPr txBox="1"/>
          <p:nvPr/>
        </p:nvSpPr>
        <p:spPr>
          <a:xfrm>
            <a:off x="1554480" y="818388"/>
            <a:ext cx="10104120" cy="40233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263345"/>
                </a:solidFill>
                <a:latin typeface="Noto Sans CJK SC"/>
              </a:rPr>
              <a:t>[以HPI写清通常怎样做事、如何与人合作。]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263345"/>
                </a:solidFill>
                <a:latin typeface="Noto Sans CJK SC"/>
              </a:rPr>
              <a:t>[补充最有解释力的HPI组合，不并排罗列高分项。]</a:t>
            </a:r>
          </a:p>
        </p:txBody>
      </p:sp>
      <p:sp>
        <p:nvSpPr>
          <p:cNvPr id="9" name="focus.bg"/>
          <p:cNvSpPr/>
          <p:nvPr/>
        </p:nvSpPr>
        <p:spPr>
          <a:xfrm>
            <a:off x="350215" y="1344168"/>
            <a:ext cx="11491264" cy="512064"/>
          </a:xfrm>
          <a:prstGeom prst="roundRect">
            <a:avLst>
              <a:gd name="adj" fmla="val 3500"/>
            </a:avLst>
          </a:prstGeom>
          <a:solidFill>
            <a:srgbClr val="FC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ocus.label"/>
          <p:cNvSpPr txBox="1"/>
          <p:nvPr/>
        </p:nvSpPr>
        <p:spPr>
          <a:xfrm>
            <a:off x="502920" y="1472184"/>
            <a:ext cx="859536" cy="20116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565B"/>
                </a:solidFill>
                <a:latin typeface="Noto Sans CJK SC"/>
              </a:rPr>
              <a:t>需关注</a:t>
            </a:r>
          </a:p>
        </p:txBody>
      </p:sp>
      <p:sp>
        <p:nvSpPr>
          <p:cNvPr id="11" name="focus.text"/>
          <p:cNvSpPr txBox="1"/>
          <p:nvPr/>
        </p:nvSpPr>
        <p:spPr>
          <a:xfrm>
            <a:off x="1554480" y="1385316"/>
            <a:ext cx="1010412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345"/>
                </a:solidFill>
                <a:latin typeface="Noto Sans CJK SC"/>
              </a:rPr>
              <a:t>[在具体工作场景中，可能出现什么行为、影响哪一步工作。]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63345"/>
                </a:solidFill>
                <a:latin typeface="Noto Sans CJK SC"/>
              </a:rPr>
              <a:t>[分别说明重点观察什么，不写成已经发生的问题。]</a:t>
            </a:r>
          </a:p>
        </p:txBody>
      </p:sp>
      <p:sp>
        <p:nvSpPr>
          <p:cNvPr id="12" name="HPI.panel"/>
          <p:cNvSpPr/>
          <p:nvPr/>
        </p:nvSpPr>
        <p:spPr>
          <a:xfrm>
            <a:off x="350215" y="1929384"/>
            <a:ext cx="3707891" cy="45902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PI.header.bg"/>
          <p:cNvSpPr/>
          <p:nvPr/>
        </p:nvSpPr>
        <p:spPr>
          <a:xfrm>
            <a:off x="363931" y="1941271"/>
            <a:ext cx="3680460" cy="381304"/>
          </a:xfrm>
          <a:prstGeom prst="rect">
            <a:avLst/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PI.header.mark"/>
          <p:cNvSpPr/>
          <p:nvPr/>
        </p:nvSpPr>
        <p:spPr>
          <a:xfrm>
            <a:off x="505663" y="2057400"/>
            <a:ext cx="32004" cy="155448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PI.header"/>
          <p:cNvSpPr txBox="1"/>
          <p:nvPr/>
        </p:nvSpPr>
        <p:spPr>
          <a:xfrm>
            <a:off x="606247" y="1984248"/>
            <a:ext cx="777240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078F5"/>
                </a:solidFill>
                <a:latin typeface="Noto Sans CJK SC"/>
              </a:rPr>
              <a:t>HPI</a:t>
            </a:r>
          </a:p>
        </p:txBody>
      </p:sp>
      <p:sp>
        <p:nvSpPr>
          <p:cNvPr id="16" name="HPI.subtitle"/>
          <p:cNvSpPr txBox="1"/>
          <p:nvPr/>
        </p:nvSpPr>
        <p:spPr>
          <a:xfrm>
            <a:off x="1502359" y="2011680"/>
            <a:ext cx="2340864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263345"/>
                </a:solidFill>
                <a:latin typeface="Noto Sans CJK SC"/>
              </a:rPr>
              <a:t>日常工作风格</a:t>
            </a:r>
          </a:p>
        </p:txBody>
      </p:sp>
      <p:sp>
        <p:nvSpPr>
          <p:cNvPr id="17" name="HPI.radar.ring0.2"/>
          <p:cNvSpPr/>
          <p:nvPr/>
        </p:nvSpPr>
        <p:spPr>
          <a:xfrm>
            <a:off x="2163872" y="3236829"/>
            <a:ext cx="282659" cy="282659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PI.radar.ring0.4"/>
          <p:cNvSpPr/>
          <p:nvPr/>
        </p:nvSpPr>
        <p:spPr>
          <a:xfrm>
            <a:off x="2022543" y="3095500"/>
            <a:ext cx="565318" cy="565318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PI.radar.ring0.6"/>
          <p:cNvSpPr/>
          <p:nvPr/>
        </p:nvSpPr>
        <p:spPr>
          <a:xfrm>
            <a:off x="1881213" y="2954170"/>
            <a:ext cx="847977" cy="847977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PI.radar.ring0.8"/>
          <p:cNvSpPr/>
          <p:nvPr/>
        </p:nvSpPr>
        <p:spPr>
          <a:xfrm>
            <a:off x="1739883" y="2812840"/>
            <a:ext cx="1130637" cy="1130637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PI.radar.ring1"/>
          <p:cNvSpPr/>
          <p:nvPr/>
        </p:nvSpPr>
        <p:spPr>
          <a:xfrm>
            <a:off x="1598554" y="2671511"/>
            <a:ext cx="1413296" cy="1413296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HPI.radar.axis0"/>
          <p:cNvCxnSpPr/>
          <p:nvPr/>
        </p:nvCxnSpPr>
        <p:spPr>
          <a:xfrm flipV="1">
            <a:off x="2305202" y="2671511"/>
            <a:ext cx="0" cy="706648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HPI.radar.dim0"/>
          <p:cNvSpPr txBox="1"/>
          <p:nvPr/>
        </p:nvSpPr>
        <p:spPr>
          <a:xfrm>
            <a:off x="1971446" y="2390526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调适</a:t>
            </a:r>
          </a:p>
        </p:txBody>
      </p:sp>
      <p:cxnSp>
        <p:nvCxnSpPr>
          <p:cNvPr id="24" name="HPI.radar.axis1"/>
          <p:cNvCxnSpPr/>
          <p:nvPr/>
        </p:nvCxnSpPr>
        <p:spPr>
          <a:xfrm flipV="1">
            <a:off x="2305202" y="2937571"/>
            <a:ext cx="552480" cy="440588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HPI.radar.dim1"/>
          <p:cNvSpPr txBox="1"/>
          <p:nvPr/>
        </p:nvSpPr>
        <p:spPr>
          <a:xfrm>
            <a:off x="2639947" y="2712459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抱负</a:t>
            </a:r>
          </a:p>
        </p:txBody>
      </p:sp>
      <p:cxnSp>
        <p:nvCxnSpPr>
          <p:cNvPr id="26" name="HPI.radar.axis2"/>
          <p:cNvCxnSpPr/>
          <p:nvPr/>
        </p:nvCxnSpPr>
        <p:spPr>
          <a:xfrm>
            <a:off x="2305202" y="3378159"/>
            <a:ext cx="688931" cy="157244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HPI.radar.dim2"/>
          <p:cNvSpPr txBox="1"/>
          <p:nvPr/>
        </p:nvSpPr>
        <p:spPr>
          <a:xfrm>
            <a:off x="2805053" y="3435836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社交</a:t>
            </a:r>
          </a:p>
        </p:txBody>
      </p:sp>
      <p:cxnSp>
        <p:nvCxnSpPr>
          <p:cNvPr id="28" name="HPI.radar.axis3"/>
          <p:cNvCxnSpPr/>
          <p:nvPr/>
        </p:nvCxnSpPr>
        <p:spPr>
          <a:xfrm>
            <a:off x="2305202" y="3378159"/>
            <a:ext cx="306603" cy="636668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HPI.radar.dim3"/>
          <p:cNvSpPr txBox="1"/>
          <p:nvPr/>
        </p:nvSpPr>
        <p:spPr>
          <a:xfrm>
            <a:off x="2342436" y="4015939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人际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敏感度</a:t>
            </a:r>
          </a:p>
        </p:txBody>
      </p:sp>
      <p:cxnSp>
        <p:nvCxnSpPr>
          <p:cNvPr id="30" name="HPI.radar.axis4"/>
          <p:cNvCxnSpPr/>
          <p:nvPr/>
        </p:nvCxnSpPr>
        <p:spPr>
          <a:xfrm flipH="1">
            <a:off x="1998599" y="3378159"/>
            <a:ext cx="306603" cy="636668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HPI.radar.dim4"/>
          <p:cNvSpPr txBox="1"/>
          <p:nvPr/>
        </p:nvSpPr>
        <p:spPr>
          <a:xfrm>
            <a:off x="1600456" y="4015939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审慎</a:t>
            </a:r>
          </a:p>
        </p:txBody>
      </p:sp>
      <p:cxnSp>
        <p:nvCxnSpPr>
          <p:cNvPr id="32" name="HPI.radar.axis5"/>
          <p:cNvCxnSpPr/>
          <p:nvPr/>
        </p:nvCxnSpPr>
        <p:spPr>
          <a:xfrm flipH="1">
            <a:off x="1616271" y="3378159"/>
            <a:ext cx="688931" cy="157244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HPI.radar.dim5"/>
          <p:cNvSpPr txBox="1"/>
          <p:nvPr/>
        </p:nvSpPr>
        <p:spPr>
          <a:xfrm>
            <a:off x="1137839" y="3435836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好奇</a:t>
            </a:r>
          </a:p>
        </p:txBody>
      </p:sp>
      <p:cxnSp>
        <p:nvCxnSpPr>
          <p:cNvPr id="34" name="HPI.radar.axis6"/>
          <p:cNvCxnSpPr/>
          <p:nvPr/>
        </p:nvCxnSpPr>
        <p:spPr>
          <a:xfrm flipH="1" flipV="1">
            <a:off x="1752722" y="2937571"/>
            <a:ext cx="552480" cy="440588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HPI.radar.dim6"/>
          <p:cNvSpPr txBox="1"/>
          <p:nvPr/>
        </p:nvSpPr>
        <p:spPr>
          <a:xfrm>
            <a:off x="1302945" y="2712459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学习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方式</a:t>
            </a:r>
          </a:p>
        </p:txBody>
      </p:sp>
      <p:sp>
        <p:nvSpPr>
          <p:cNvPr id="36" name="HPI.radar.caption.bg"/>
          <p:cNvSpPr/>
          <p:nvPr/>
        </p:nvSpPr>
        <p:spPr>
          <a:xfrm>
            <a:off x="1635312" y="3094695"/>
            <a:ext cx="1339778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HPI.radar.replace"/>
          <p:cNvSpPr txBox="1"/>
          <p:nvPr/>
        </p:nvSpPr>
        <p:spPr>
          <a:xfrm>
            <a:off x="1657642" y="3112983"/>
            <a:ext cx="1295119" cy="53035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F7B8D"/>
                </a:solidFill>
                <a:latin typeface="Noto Sans CJK SC"/>
              </a:rPr>
              <a:t>插入已确认的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F7B8D"/>
                </a:solidFill>
                <a:latin typeface="Noto Sans CJK SC"/>
              </a:rPr>
              <a:t>HPI雷达图</a:t>
            </a:r>
          </a:p>
        </p:txBody>
      </p:sp>
      <p:sp>
        <p:nvSpPr>
          <p:cNvPr id="38" name="HPI.difference"/>
          <p:cNvSpPr txBox="1"/>
          <p:nvPr/>
        </p:nvSpPr>
        <p:spPr>
          <a:xfrm>
            <a:off x="523951" y="4421124"/>
            <a:ext cx="3374136" cy="21031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3078F5"/>
                </a:solidFill>
                <a:latin typeface="Noto Sans CJK SC"/>
              </a:rPr>
              <a:t>最大差异：{维度}  {个人分} / 本批 {均值}</a:t>
            </a:r>
          </a:p>
        </p:txBody>
      </p:sp>
      <p:cxnSp>
        <p:nvCxnSpPr>
          <p:cNvPr id="39" name="HPI.text.rule"/>
          <p:cNvCxnSpPr/>
          <p:nvPr/>
        </p:nvCxnSpPr>
        <p:spPr>
          <a:xfrm>
            <a:off x="514807" y="4654296"/>
            <a:ext cx="3374136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HPI.section0.label"/>
          <p:cNvSpPr txBox="1"/>
          <p:nvPr/>
        </p:nvSpPr>
        <p:spPr>
          <a:xfrm>
            <a:off x="523951" y="4695444"/>
            <a:ext cx="3364992" cy="17373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3078F5"/>
                </a:solidFill>
                <a:latin typeface="Noto Sans CJK SC"/>
              </a:rPr>
              <a:t>突出特点</a:t>
            </a:r>
          </a:p>
        </p:txBody>
      </p:sp>
      <p:sp>
        <p:nvSpPr>
          <p:cNvPr id="41" name="HPI.section0.body"/>
          <p:cNvSpPr txBox="1"/>
          <p:nvPr/>
        </p:nvSpPr>
        <p:spPr>
          <a:xfrm>
            <a:off x="523951" y="4878324"/>
            <a:ext cx="3364992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263345"/>
                </a:solidFill>
                <a:latin typeface="Noto Sans CJK SC"/>
              </a:rPr>
              <a:t>[单点或HPI组合体现的做事方式；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263345"/>
                </a:solidFill>
                <a:latin typeface="Noto Sans CJK SC"/>
              </a:rPr>
              <a:t>不把风格写成能力。]</a:t>
            </a:r>
          </a:p>
        </p:txBody>
      </p:sp>
      <p:sp>
        <p:nvSpPr>
          <p:cNvPr id="42" name="HPI.section1.label"/>
          <p:cNvSpPr txBox="1"/>
          <p:nvPr/>
        </p:nvSpPr>
        <p:spPr>
          <a:xfrm>
            <a:off x="523951" y="5301691"/>
            <a:ext cx="3364992" cy="17373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3078F5"/>
                </a:solidFill>
                <a:latin typeface="Noto Sans CJK SC"/>
              </a:rPr>
              <a:t>群体差异</a:t>
            </a:r>
          </a:p>
        </p:txBody>
      </p:sp>
      <p:sp>
        <p:nvSpPr>
          <p:cNvPr id="43" name="HPI.section1.body"/>
          <p:cNvSpPr txBox="1"/>
          <p:nvPr/>
        </p:nvSpPr>
        <p:spPr>
          <a:xfrm>
            <a:off x="523951" y="5484571"/>
            <a:ext cx="3364992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263345"/>
                </a:solidFill>
                <a:latin typeface="Noto Sans CJK SC"/>
              </a:rPr>
              <a:t>[比本批更突出或较少表现的倾向；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263345"/>
                </a:solidFill>
                <a:latin typeface="Noto Sans CJK SC"/>
              </a:rPr>
              <a:t>低于均值不等于短板。]</a:t>
            </a:r>
          </a:p>
        </p:txBody>
      </p:sp>
      <p:sp>
        <p:nvSpPr>
          <p:cNvPr id="44" name="HPI.section2.label"/>
          <p:cNvSpPr txBox="1"/>
          <p:nvPr/>
        </p:nvSpPr>
        <p:spPr>
          <a:xfrm>
            <a:off x="523951" y="5907938"/>
            <a:ext cx="3364992" cy="17373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3078F5"/>
                </a:solidFill>
                <a:latin typeface="Noto Sans CJK SC"/>
              </a:rPr>
              <a:t>低位与关注</a:t>
            </a:r>
          </a:p>
        </p:txBody>
      </p:sp>
      <p:sp>
        <p:nvSpPr>
          <p:cNvPr id="45" name="HPI.section2.body"/>
          <p:cNvSpPr txBox="1"/>
          <p:nvPr/>
        </p:nvSpPr>
        <p:spPr>
          <a:xfrm>
            <a:off x="523951" y="6090818"/>
            <a:ext cx="3364992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263345"/>
                </a:solidFill>
                <a:latin typeface="Noto Sans CJK SC"/>
              </a:rPr>
              <a:t>[有依据的场景、行为与工作影响；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263345"/>
                </a:solidFill>
                <a:latin typeface="Noto Sans CJK SC"/>
              </a:rPr>
              <a:t>没有低位，不硬凑缺点。]</a:t>
            </a:r>
          </a:p>
        </p:txBody>
      </p:sp>
      <p:sp>
        <p:nvSpPr>
          <p:cNvPr id="46" name="HDS.panel"/>
          <p:cNvSpPr/>
          <p:nvPr/>
        </p:nvSpPr>
        <p:spPr>
          <a:xfrm>
            <a:off x="4241901" y="1929384"/>
            <a:ext cx="3707891" cy="45902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HDS.header.bg"/>
          <p:cNvSpPr/>
          <p:nvPr/>
        </p:nvSpPr>
        <p:spPr>
          <a:xfrm>
            <a:off x="4255617" y="1941271"/>
            <a:ext cx="3680460" cy="381304"/>
          </a:xfrm>
          <a:prstGeom prst="rect">
            <a:avLst/>
          </a:prstGeom>
          <a:solidFill>
            <a:srgbClr val="FC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DS.header.mark"/>
          <p:cNvSpPr/>
          <p:nvPr/>
        </p:nvSpPr>
        <p:spPr>
          <a:xfrm>
            <a:off x="4397349" y="2057400"/>
            <a:ext cx="32004" cy="155448"/>
          </a:xfrm>
          <a:prstGeom prst="rect">
            <a:avLst/>
          </a:prstGeom>
          <a:solidFill>
            <a:srgbClr val="E85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HDS.header"/>
          <p:cNvSpPr txBox="1"/>
          <p:nvPr/>
        </p:nvSpPr>
        <p:spPr>
          <a:xfrm>
            <a:off x="4497933" y="1984248"/>
            <a:ext cx="777240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565B"/>
                </a:solidFill>
                <a:latin typeface="Noto Sans CJK SC"/>
              </a:rPr>
              <a:t>HDS</a:t>
            </a:r>
          </a:p>
        </p:txBody>
      </p:sp>
      <p:sp>
        <p:nvSpPr>
          <p:cNvPr id="50" name="HDS.subtitle"/>
          <p:cNvSpPr txBox="1"/>
          <p:nvPr/>
        </p:nvSpPr>
        <p:spPr>
          <a:xfrm>
            <a:off x="5394045" y="2011680"/>
            <a:ext cx="2340864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263345"/>
                </a:solidFill>
                <a:latin typeface="Noto Sans CJK SC"/>
              </a:rPr>
              <a:t>压力下的行为风险</a:t>
            </a:r>
          </a:p>
        </p:txBody>
      </p:sp>
      <p:sp>
        <p:nvSpPr>
          <p:cNvPr id="51" name="HDS.radar.ring0.2"/>
          <p:cNvSpPr/>
          <p:nvPr/>
        </p:nvSpPr>
        <p:spPr>
          <a:xfrm>
            <a:off x="6063331" y="3236829"/>
            <a:ext cx="282659" cy="282659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HDS.radar.ring0.4"/>
          <p:cNvSpPr/>
          <p:nvPr/>
        </p:nvSpPr>
        <p:spPr>
          <a:xfrm>
            <a:off x="5922001" y="3095500"/>
            <a:ext cx="565318" cy="565318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HDS.radar.ring0.6"/>
          <p:cNvSpPr/>
          <p:nvPr/>
        </p:nvSpPr>
        <p:spPr>
          <a:xfrm>
            <a:off x="5780672" y="2954170"/>
            <a:ext cx="847977" cy="847977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HDS.radar.ring0.8"/>
          <p:cNvSpPr/>
          <p:nvPr/>
        </p:nvSpPr>
        <p:spPr>
          <a:xfrm>
            <a:off x="5639342" y="2812840"/>
            <a:ext cx="1130637" cy="1130637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HDS.radar.ring1"/>
          <p:cNvSpPr/>
          <p:nvPr/>
        </p:nvSpPr>
        <p:spPr>
          <a:xfrm>
            <a:off x="5498012" y="2671511"/>
            <a:ext cx="1413296" cy="1413296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HDS.radar.axis0"/>
          <p:cNvCxnSpPr/>
          <p:nvPr/>
        </p:nvCxnSpPr>
        <p:spPr>
          <a:xfrm flipV="1">
            <a:off x="6204661" y="2671511"/>
            <a:ext cx="0" cy="706648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HDS.radar.dim0"/>
          <p:cNvSpPr txBox="1"/>
          <p:nvPr/>
        </p:nvSpPr>
        <p:spPr>
          <a:xfrm>
            <a:off x="5870905" y="2390526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激动</a:t>
            </a:r>
          </a:p>
        </p:txBody>
      </p:sp>
      <p:cxnSp>
        <p:nvCxnSpPr>
          <p:cNvPr id="58" name="HDS.radar.axis1"/>
          <p:cNvCxnSpPr/>
          <p:nvPr/>
        </p:nvCxnSpPr>
        <p:spPr>
          <a:xfrm flipV="1">
            <a:off x="6204661" y="2783688"/>
            <a:ext cx="382043" cy="594471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HDS.radar.dim1"/>
          <p:cNvSpPr txBox="1"/>
          <p:nvPr/>
        </p:nvSpPr>
        <p:spPr>
          <a:xfrm>
            <a:off x="6333177" y="2526262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多疑</a:t>
            </a:r>
          </a:p>
        </p:txBody>
      </p:sp>
      <p:cxnSp>
        <p:nvCxnSpPr>
          <p:cNvPr id="60" name="HDS.radar.axis2"/>
          <p:cNvCxnSpPr/>
          <p:nvPr/>
        </p:nvCxnSpPr>
        <p:spPr>
          <a:xfrm flipV="1">
            <a:off x="6204661" y="3084607"/>
            <a:ext cx="642790" cy="293552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HDS.radar.dim2"/>
          <p:cNvSpPr txBox="1"/>
          <p:nvPr/>
        </p:nvSpPr>
        <p:spPr>
          <a:xfrm>
            <a:off x="6648681" y="2890373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谨慎</a:t>
            </a:r>
          </a:p>
        </p:txBody>
      </p:sp>
      <p:cxnSp>
        <p:nvCxnSpPr>
          <p:cNvPr id="62" name="HDS.radar.axis3"/>
          <p:cNvCxnSpPr/>
          <p:nvPr/>
        </p:nvCxnSpPr>
        <p:spPr>
          <a:xfrm>
            <a:off x="6204661" y="3378159"/>
            <a:ext cx="699455" cy="100566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HDS.radar.dim3"/>
          <p:cNvSpPr txBox="1"/>
          <p:nvPr/>
        </p:nvSpPr>
        <p:spPr>
          <a:xfrm>
            <a:off x="6717246" y="3367256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内敛</a:t>
            </a:r>
          </a:p>
        </p:txBody>
      </p:sp>
      <p:cxnSp>
        <p:nvCxnSpPr>
          <p:cNvPr id="64" name="HDS.radar.axis4"/>
          <p:cNvCxnSpPr/>
          <p:nvPr/>
        </p:nvCxnSpPr>
        <p:spPr>
          <a:xfrm>
            <a:off x="6204661" y="3378159"/>
            <a:ext cx="534049" cy="462756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HDS.radar.dim4"/>
          <p:cNvSpPr txBox="1"/>
          <p:nvPr/>
        </p:nvSpPr>
        <p:spPr>
          <a:xfrm>
            <a:off x="6517104" y="3805506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消极</a:t>
            </a:r>
          </a:p>
        </p:txBody>
      </p:sp>
      <p:cxnSp>
        <p:nvCxnSpPr>
          <p:cNvPr id="66" name="HDS.radar.axis5"/>
          <p:cNvCxnSpPr/>
          <p:nvPr/>
        </p:nvCxnSpPr>
        <p:spPr>
          <a:xfrm>
            <a:off x="6204661" y="3378159"/>
            <a:ext cx="199086" cy="678024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HDS.radar.dim5"/>
          <p:cNvSpPr txBox="1"/>
          <p:nvPr/>
        </p:nvSpPr>
        <p:spPr>
          <a:xfrm>
            <a:off x="6111799" y="4065980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自大</a:t>
            </a:r>
          </a:p>
        </p:txBody>
      </p:sp>
      <p:cxnSp>
        <p:nvCxnSpPr>
          <p:cNvPr id="68" name="HDS.radar.axis6"/>
          <p:cNvCxnSpPr/>
          <p:nvPr/>
        </p:nvCxnSpPr>
        <p:spPr>
          <a:xfrm flipH="1">
            <a:off x="6005575" y="3378159"/>
            <a:ext cx="199086" cy="678024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HDS.radar.dim6"/>
          <p:cNvSpPr txBox="1"/>
          <p:nvPr/>
        </p:nvSpPr>
        <p:spPr>
          <a:xfrm>
            <a:off x="5630011" y="4065980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狡猾</a:t>
            </a:r>
          </a:p>
        </p:txBody>
      </p:sp>
      <p:cxnSp>
        <p:nvCxnSpPr>
          <p:cNvPr id="70" name="HDS.radar.axis7"/>
          <p:cNvCxnSpPr/>
          <p:nvPr/>
        </p:nvCxnSpPr>
        <p:spPr>
          <a:xfrm flipH="1">
            <a:off x="5670612" y="3378159"/>
            <a:ext cx="534049" cy="462756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HDS.radar.dim7"/>
          <p:cNvSpPr txBox="1"/>
          <p:nvPr/>
        </p:nvSpPr>
        <p:spPr>
          <a:xfrm>
            <a:off x="5224705" y="3805506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戏剧化</a:t>
            </a:r>
          </a:p>
        </p:txBody>
      </p:sp>
      <p:cxnSp>
        <p:nvCxnSpPr>
          <p:cNvPr id="72" name="HDS.radar.axis8"/>
          <p:cNvCxnSpPr/>
          <p:nvPr/>
        </p:nvCxnSpPr>
        <p:spPr>
          <a:xfrm flipH="1">
            <a:off x="5505205" y="3378159"/>
            <a:ext cx="699456" cy="100566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HDS.radar.dim8"/>
          <p:cNvSpPr txBox="1"/>
          <p:nvPr/>
        </p:nvSpPr>
        <p:spPr>
          <a:xfrm>
            <a:off x="5024563" y="3367256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幻想</a:t>
            </a:r>
          </a:p>
        </p:txBody>
      </p:sp>
      <p:cxnSp>
        <p:nvCxnSpPr>
          <p:cNvPr id="74" name="HDS.radar.axis9"/>
          <p:cNvCxnSpPr/>
          <p:nvPr/>
        </p:nvCxnSpPr>
        <p:spPr>
          <a:xfrm flipH="1" flipV="1">
            <a:off x="5561871" y="3084607"/>
            <a:ext cx="642790" cy="293552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HDS.radar.dim9"/>
          <p:cNvSpPr txBox="1"/>
          <p:nvPr/>
        </p:nvSpPr>
        <p:spPr>
          <a:xfrm>
            <a:off x="5093129" y="2890373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苛求</a:t>
            </a:r>
          </a:p>
        </p:txBody>
      </p:sp>
      <p:cxnSp>
        <p:nvCxnSpPr>
          <p:cNvPr id="76" name="HDS.radar.axis10"/>
          <p:cNvCxnSpPr/>
          <p:nvPr/>
        </p:nvCxnSpPr>
        <p:spPr>
          <a:xfrm flipH="1" flipV="1">
            <a:off x="5822618" y="2783688"/>
            <a:ext cx="382043" cy="594471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HDS.radar.dim10"/>
          <p:cNvSpPr txBox="1"/>
          <p:nvPr/>
        </p:nvSpPr>
        <p:spPr>
          <a:xfrm>
            <a:off x="5408633" y="2526262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恭顺</a:t>
            </a:r>
          </a:p>
        </p:txBody>
      </p:sp>
      <p:sp>
        <p:nvSpPr>
          <p:cNvPr id="78" name="HDS.radar.caption.bg"/>
          <p:cNvSpPr/>
          <p:nvPr/>
        </p:nvSpPr>
        <p:spPr>
          <a:xfrm>
            <a:off x="5542727" y="3094695"/>
            <a:ext cx="1323868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HDS.radar.replace"/>
          <p:cNvSpPr txBox="1"/>
          <p:nvPr/>
        </p:nvSpPr>
        <p:spPr>
          <a:xfrm>
            <a:off x="5564791" y="3112983"/>
            <a:ext cx="1279739" cy="53035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F7B8D"/>
                </a:solidFill>
                <a:latin typeface="Noto Sans CJK SC"/>
              </a:rPr>
              <a:t>插入已确认的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F7B8D"/>
                </a:solidFill>
                <a:latin typeface="Noto Sans CJK SC"/>
              </a:rPr>
              <a:t>HDS雷达图</a:t>
            </a:r>
          </a:p>
        </p:txBody>
      </p:sp>
      <p:sp>
        <p:nvSpPr>
          <p:cNvPr id="80" name="HDS.difference"/>
          <p:cNvSpPr txBox="1"/>
          <p:nvPr/>
        </p:nvSpPr>
        <p:spPr>
          <a:xfrm>
            <a:off x="4415637" y="4421124"/>
            <a:ext cx="3374136" cy="21031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E8565B"/>
                </a:solidFill>
                <a:latin typeface="Noto Sans CJK SC"/>
              </a:rPr>
              <a:t>最大差异：{维度}  {个人分} / 本批 {均值}</a:t>
            </a:r>
          </a:p>
        </p:txBody>
      </p:sp>
      <p:cxnSp>
        <p:nvCxnSpPr>
          <p:cNvPr id="81" name="HDS.text.rule"/>
          <p:cNvCxnSpPr/>
          <p:nvPr/>
        </p:nvCxnSpPr>
        <p:spPr>
          <a:xfrm>
            <a:off x="4406493" y="4654296"/>
            <a:ext cx="3374136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HDS.section0.label"/>
          <p:cNvSpPr txBox="1"/>
          <p:nvPr/>
        </p:nvSpPr>
        <p:spPr>
          <a:xfrm>
            <a:off x="4415637" y="4695444"/>
            <a:ext cx="3364992" cy="17373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E8565B"/>
                </a:solidFill>
                <a:latin typeface="Noto Sans CJK SC"/>
              </a:rPr>
              <a:t>突出倾向</a:t>
            </a:r>
          </a:p>
        </p:txBody>
      </p:sp>
      <p:sp>
        <p:nvSpPr>
          <p:cNvPr id="83" name="HDS.section0.body"/>
          <p:cNvSpPr txBox="1"/>
          <p:nvPr/>
        </p:nvSpPr>
        <p:spPr>
          <a:xfrm>
            <a:off x="4415637" y="4878324"/>
            <a:ext cx="3364992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263345"/>
                </a:solidFill>
                <a:latin typeface="Noto Sans CJK SC"/>
              </a:rPr>
              <a:t>[何种压力情境下可能怎样反应；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263345"/>
                </a:solidFill>
                <a:latin typeface="Noto Sans CJK SC"/>
              </a:rPr>
              <a:t>不要把量表名称当品行标签。]</a:t>
            </a:r>
          </a:p>
        </p:txBody>
      </p:sp>
      <p:sp>
        <p:nvSpPr>
          <p:cNvPr id="84" name="HDS.section1.label"/>
          <p:cNvSpPr txBox="1"/>
          <p:nvPr/>
        </p:nvSpPr>
        <p:spPr>
          <a:xfrm>
            <a:off x="4415637" y="5301691"/>
            <a:ext cx="3364992" cy="17373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E8565B"/>
                </a:solidFill>
                <a:latin typeface="Noto Sans CJK SC"/>
              </a:rPr>
              <a:t>群体差异</a:t>
            </a:r>
          </a:p>
        </p:txBody>
      </p:sp>
      <p:sp>
        <p:nvSpPr>
          <p:cNvPr id="85" name="HDS.section1.body"/>
          <p:cNvSpPr txBox="1"/>
          <p:nvPr/>
        </p:nvSpPr>
        <p:spPr>
          <a:xfrm>
            <a:off x="4415637" y="5484571"/>
            <a:ext cx="3364992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263345"/>
                </a:solidFill>
                <a:latin typeface="Noto Sans CJK SC"/>
              </a:rPr>
              <a:t>[相对群体的压力反应差别；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263345"/>
                </a:solidFill>
                <a:latin typeface="Noto Sans CJK SC"/>
              </a:rPr>
              <a:t>结合实际分档与分布。]</a:t>
            </a:r>
          </a:p>
        </p:txBody>
      </p:sp>
      <p:sp>
        <p:nvSpPr>
          <p:cNvPr id="86" name="HDS.section2.label"/>
          <p:cNvSpPr txBox="1"/>
          <p:nvPr/>
        </p:nvSpPr>
        <p:spPr>
          <a:xfrm>
            <a:off x="4415637" y="5907938"/>
            <a:ext cx="3364992" cy="17373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E8565B"/>
                </a:solidFill>
                <a:latin typeface="Noto Sans CJK SC"/>
              </a:rPr>
              <a:t>风险与关注</a:t>
            </a:r>
          </a:p>
        </p:txBody>
      </p:sp>
      <p:sp>
        <p:nvSpPr>
          <p:cNvPr id="87" name="HDS.section2.body"/>
          <p:cNvSpPr txBox="1"/>
          <p:nvPr/>
        </p:nvSpPr>
        <p:spPr>
          <a:xfrm>
            <a:off x="4415637" y="6090818"/>
            <a:ext cx="3364992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263345"/>
                </a:solidFill>
                <a:latin typeface="Noto Sans CJK SC"/>
              </a:rPr>
              <a:t>[对进度、交付或合作的影响；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263345"/>
                </a:solidFill>
                <a:latin typeface="Noto Sans CJK SC"/>
              </a:rPr>
              <a:t>写明需要观察的行为。]</a:t>
            </a:r>
          </a:p>
        </p:txBody>
      </p:sp>
      <p:sp>
        <p:nvSpPr>
          <p:cNvPr id="88" name="MVPI.panel"/>
          <p:cNvSpPr/>
          <p:nvPr/>
        </p:nvSpPr>
        <p:spPr>
          <a:xfrm>
            <a:off x="8132673" y="1929384"/>
            <a:ext cx="3707891" cy="45902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MVPI.header.bg"/>
          <p:cNvSpPr/>
          <p:nvPr/>
        </p:nvSpPr>
        <p:spPr>
          <a:xfrm>
            <a:off x="8146389" y="1941271"/>
            <a:ext cx="3680460" cy="381304"/>
          </a:xfrm>
          <a:prstGeom prst="rect">
            <a:avLst/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MVPI.header.mark"/>
          <p:cNvSpPr/>
          <p:nvPr/>
        </p:nvSpPr>
        <p:spPr>
          <a:xfrm>
            <a:off x="8288121" y="2057400"/>
            <a:ext cx="32004" cy="155448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MVPI.header"/>
          <p:cNvSpPr txBox="1"/>
          <p:nvPr/>
        </p:nvSpPr>
        <p:spPr>
          <a:xfrm>
            <a:off x="8388705" y="1984248"/>
            <a:ext cx="777240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078F5"/>
                </a:solidFill>
                <a:latin typeface="Noto Sans CJK SC"/>
              </a:rPr>
              <a:t>MVPI</a:t>
            </a:r>
          </a:p>
        </p:txBody>
      </p:sp>
      <p:sp>
        <p:nvSpPr>
          <p:cNvPr id="92" name="MVPI.subtitle"/>
          <p:cNvSpPr txBox="1"/>
          <p:nvPr/>
        </p:nvSpPr>
        <p:spPr>
          <a:xfrm>
            <a:off x="9284817" y="2011680"/>
            <a:ext cx="2340864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263345"/>
                </a:solidFill>
                <a:latin typeface="Noto Sans CJK SC"/>
              </a:rPr>
              <a:t>动机与价值偏好</a:t>
            </a:r>
          </a:p>
        </p:txBody>
      </p:sp>
      <p:sp>
        <p:nvSpPr>
          <p:cNvPr id="93" name="MVPI.radar.ring0.2"/>
          <p:cNvSpPr/>
          <p:nvPr/>
        </p:nvSpPr>
        <p:spPr>
          <a:xfrm>
            <a:off x="9954103" y="3236829"/>
            <a:ext cx="282659" cy="282659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MVPI.radar.ring0.4"/>
          <p:cNvSpPr/>
          <p:nvPr/>
        </p:nvSpPr>
        <p:spPr>
          <a:xfrm>
            <a:off x="9812773" y="3095500"/>
            <a:ext cx="565318" cy="565318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MVPI.radar.ring0.6"/>
          <p:cNvSpPr/>
          <p:nvPr/>
        </p:nvSpPr>
        <p:spPr>
          <a:xfrm>
            <a:off x="9671444" y="2954170"/>
            <a:ext cx="847977" cy="847977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MVPI.radar.ring0.8"/>
          <p:cNvSpPr/>
          <p:nvPr/>
        </p:nvSpPr>
        <p:spPr>
          <a:xfrm>
            <a:off x="9530114" y="2812840"/>
            <a:ext cx="1130637" cy="1130637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MVPI.radar.ring1"/>
          <p:cNvSpPr/>
          <p:nvPr/>
        </p:nvSpPr>
        <p:spPr>
          <a:xfrm>
            <a:off x="9388784" y="2671511"/>
            <a:ext cx="1413296" cy="1413296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MVPI.radar.axis0"/>
          <p:cNvCxnSpPr/>
          <p:nvPr/>
        </p:nvCxnSpPr>
        <p:spPr>
          <a:xfrm flipV="1">
            <a:off x="10095433" y="2671511"/>
            <a:ext cx="0" cy="706648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MVPI.radar.dim0"/>
          <p:cNvSpPr txBox="1"/>
          <p:nvPr/>
        </p:nvSpPr>
        <p:spPr>
          <a:xfrm>
            <a:off x="9761677" y="2390526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认可</a:t>
            </a:r>
          </a:p>
        </p:txBody>
      </p:sp>
      <p:cxnSp>
        <p:nvCxnSpPr>
          <p:cNvPr id="100" name="MVPI.radar.axis1"/>
          <p:cNvCxnSpPr/>
          <p:nvPr/>
        </p:nvCxnSpPr>
        <p:spPr>
          <a:xfrm flipV="1">
            <a:off x="10095433" y="2806468"/>
            <a:ext cx="415357" cy="571691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MVPI.radar.dim1"/>
          <p:cNvSpPr txBox="1"/>
          <p:nvPr/>
        </p:nvSpPr>
        <p:spPr>
          <a:xfrm>
            <a:off x="10264259" y="2553825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权力</a:t>
            </a:r>
          </a:p>
        </p:txBody>
      </p:sp>
      <p:cxnSp>
        <p:nvCxnSpPr>
          <p:cNvPr id="102" name="MVPI.radar.axis2"/>
          <p:cNvCxnSpPr/>
          <p:nvPr/>
        </p:nvCxnSpPr>
        <p:spPr>
          <a:xfrm flipV="1">
            <a:off x="10095433" y="3159793"/>
            <a:ext cx="672062" cy="218366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MVPI.radar.dim2"/>
          <p:cNvSpPr txBox="1"/>
          <p:nvPr/>
        </p:nvSpPr>
        <p:spPr>
          <a:xfrm>
            <a:off x="10574872" y="2981348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享乐</a:t>
            </a:r>
          </a:p>
        </p:txBody>
      </p:sp>
      <p:cxnSp>
        <p:nvCxnSpPr>
          <p:cNvPr id="104" name="MVPI.radar.axis3"/>
          <p:cNvCxnSpPr/>
          <p:nvPr/>
        </p:nvCxnSpPr>
        <p:spPr>
          <a:xfrm>
            <a:off x="10095433" y="3378159"/>
            <a:ext cx="672062" cy="218366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MVPI.radar.dim3"/>
          <p:cNvSpPr txBox="1"/>
          <p:nvPr/>
        </p:nvSpPr>
        <p:spPr>
          <a:xfrm>
            <a:off x="10574872" y="3509794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利他</a:t>
            </a:r>
          </a:p>
        </p:txBody>
      </p:sp>
      <p:cxnSp>
        <p:nvCxnSpPr>
          <p:cNvPr id="106" name="MVPI.radar.axis4"/>
          <p:cNvCxnSpPr/>
          <p:nvPr/>
        </p:nvCxnSpPr>
        <p:spPr>
          <a:xfrm>
            <a:off x="10095433" y="3378159"/>
            <a:ext cx="415357" cy="57169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MVPI.radar.dim4"/>
          <p:cNvSpPr txBox="1"/>
          <p:nvPr/>
        </p:nvSpPr>
        <p:spPr>
          <a:xfrm>
            <a:off x="10264259" y="3937316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归属</a:t>
            </a:r>
          </a:p>
        </p:txBody>
      </p:sp>
      <p:cxnSp>
        <p:nvCxnSpPr>
          <p:cNvPr id="108" name="MVPI.radar.axis5"/>
          <p:cNvCxnSpPr/>
          <p:nvPr/>
        </p:nvCxnSpPr>
        <p:spPr>
          <a:xfrm>
            <a:off x="10095433" y="3378159"/>
            <a:ext cx="0" cy="706648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MVPI.radar.dim5"/>
          <p:cNvSpPr txBox="1"/>
          <p:nvPr/>
        </p:nvSpPr>
        <p:spPr>
          <a:xfrm>
            <a:off x="9761677" y="4100615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传统</a:t>
            </a:r>
          </a:p>
        </p:txBody>
      </p:sp>
      <p:cxnSp>
        <p:nvCxnSpPr>
          <p:cNvPr id="110" name="MVPI.radar.axis6"/>
          <p:cNvCxnSpPr/>
          <p:nvPr/>
        </p:nvCxnSpPr>
        <p:spPr>
          <a:xfrm flipH="1">
            <a:off x="9680075" y="3378159"/>
            <a:ext cx="415358" cy="57169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MVPI.radar.dim6"/>
          <p:cNvSpPr txBox="1"/>
          <p:nvPr/>
        </p:nvSpPr>
        <p:spPr>
          <a:xfrm>
            <a:off x="9259094" y="3937316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保障</a:t>
            </a:r>
          </a:p>
        </p:txBody>
      </p:sp>
      <p:cxnSp>
        <p:nvCxnSpPr>
          <p:cNvPr id="112" name="MVPI.radar.axis7"/>
          <p:cNvCxnSpPr/>
          <p:nvPr/>
        </p:nvCxnSpPr>
        <p:spPr>
          <a:xfrm flipH="1">
            <a:off x="9423370" y="3378159"/>
            <a:ext cx="672063" cy="218366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MVPI.radar.dim7"/>
          <p:cNvSpPr txBox="1"/>
          <p:nvPr/>
        </p:nvSpPr>
        <p:spPr>
          <a:xfrm>
            <a:off x="8948481" y="3509794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商业</a:t>
            </a:r>
          </a:p>
        </p:txBody>
      </p:sp>
      <p:cxnSp>
        <p:nvCxnSpPr>
          <p:cNvPr id="114" name="MVPI.radar.axis8"/>
          <p:cNvCxnSpPr/>
          <p:nvPr/>
        </p:nvCxnSpPr>
        <p:spPr>
          <a:xfrm flipH="1" flipV="1">
            <a:off x="9423370" y="3159793"/>
            <a:ext cx="672063" cy="218366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MVPI.radar.dim8"/>
          <p:cNvSpPr txBox="1"/>
          <p:nvPr/>
        </p:nvSpPr>
        <p:spPr>
          <a:xfrm>
            <a:off x="8948481" y="2981348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美感</a:t>
            </a:r>
          </a:p>
        </p:txBody>
      </p:sp>
      <p:cxnSp>
        <p:nvCxnSpPr>
          <p:cNvPr id="116" name="MVPI.radar.axis9"/>
          <p:cNvCxnSpPr/>
          <p:nvPr/>
        </p:nvCxnSpPr>
        <p:spPr>
          <a:xfrm flipH="1" flipV="1">
            <a:off x="9680075" y="2806468"/>
            <a:ext cx="415358" cy="571691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MVPI.radar.dim9"/>
          <p:cNvSpPr txBox="1"/>
          <p:nvPr/>
        </p:nvSpPr>
        <p:spPr>
          <a:xfrm>
            <a:off x="9259094" y="2553825"/>
            <a:ext cx="667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科学</a:t>
            </a:r>
          </a:p>
        </p:txBody>
      </p:sp>
      <p:sp>
        <p:nvSpPr>
          <p:cNvPr id="118" name="MVPI.radar.caption.bg"/>
          <p:cNvSpPr/>
          <p:nvPr/>
        </p:nvSpPr>
        <p:spPr>
          <a:xfrm>
            <a:off x="9457090" y="3094695"/>
            <a:ext cx="1276685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MVPI.radar.replace"/>
          <p:cNvSpPr txBox="1"/>
          <p:nvPr/>
        </p:nvSpPr>
        <p:spPr>
          <a:xfrm>
            <a:off x="9478368" y="3112983"/>
            <a:ext cx="1234129" cy="53035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F7B8D"/>
                </a:solidFill>
                <a:latin typeface="Noto Sans CJK SC"/>
              </a:rPr>
              <a:t>插入已确认的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F7B8D"/>
                </a:solidFill>
                <a:latin typeface="Noto Sans CJK SC"/>
              </a:rPr>
              <a:t>MVPI雷达图</a:t>
            </a:r>
          </a:p>
        </p:txBody>
      </p:sp>
      <p:sp>
        <p:nvSpPr>
          <p:cNvPr id="120" name="MVPI.difference"/>
          <p:cNvSpPr txBox="1"/>
          <p:nvPr/>
        </p:nvSpPr>
        <p:spPr>
          <a:xfrm>
            <a:off x="8306409" y="4421124"/>
            <a:ext cx="3374136" cy="21031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3078F5"/>
                </a:solidFill>
                <a:latin typeface="Noto Sans CJK SC"/>
              </a:rPr>
              <a:t>最大差异：{维度}  {个人分} / 本批 {均值}</a:t>
            </a:r>
          </a:p>
        </p:txBody>
      </p:sp>
      <p:cxnSp>
        <p:nvCxnSpPr>
          <p:cNvPr id="121" name="MVPI.text.rule"/>
          <p:cNvCxnSpPr/>
          <p:nvPr/>
        </p:nvCxnSpPr>
        <p:spPr>
          <a:xfrm>
            <a:off x="8297265" y="4654296"/>
            <a:ext cx="3374136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MVPI.section0.label"/>
          <p:cNvSpPr txBox="1"/>
          <p:nvPr/>
        </p:nvSpPr>
        <p:spPr>
          <a:xfrm>
            <a:off x="8306409" y="4695444"/>
            <a:ext cx="3364992" cy="17373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3078F5"/>
                </a:solidFill>
                <a:latin typeface="Noto Sans CJK SC"/>
              </a:rPr>
              <a:t>核心驱动</a:t>
            </a:r>
          </a:p>
        </p:txBody>
      </p:sp>
      <p:sp>
        <p:nvSpPr>
          <p:cNvPr id="123" name="MVPI.section0.body"/>
          <p:cNvSpPr txBox="1"/>
          <p:nvPr/>
        </p:nvSpPr>
        <p:spPr>
          <a:xfrm>
            <a:off x="8306409" y="4878324"/>
            <a:ext cx="3364992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263345"/>
                </a:solidFill>
                <a:latin typeface="Noto Sans CJK SC"/>
              </a:rPr>
              <a:t>[哪些目标和工作环境更能激发投入；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263345"/>
                </a:solidFill>
                <a:latin typeface="Noto Sans CJK SC"/>
              </a:rPr>
              <a:t>动机偏好不是能力。]</a:t>
            </a:r>
          </a:p>
        </p:txBody>
      </p:sp>
      <p:sp>
        <p:nvSpPr>
          <p:cNvPr id="124" name="MVPI.section1.label"/>
          <p:cNvSpPr txBox="1"/>
          <p:nvPr/>
        </p:nvSpPr>
        <p:spPr>
          <a:xfrm>
            <a:off x="8306409" y="5301691"/>
            <a:ext cx="3364992" cy="17373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3078F5"/>
                </a:solidFill>
                <a:latin typeface="Noto Sans CJK SC"/>
              </a:rPr>
              <a:t>群体差异</a:t>
            </a:r>
          </a:p>
        </p:txBody>
      </p:sp>
      <p:sp>
        <p:nvSpPr>
          <p:cNvPr id="125" name="MVPI.section1.body"/>
          <p:cNvSpPr txBox="1"/>
          <p:nvPr/>
        </p:nvSpPr>
        <p:spPr>
          <a:xfrm>
            <a:off x="8306409" y="5484571"/>
            <a:ext cx="3364992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263345"/>
                </a:solidFill>
                <a:latin typeface="Noto Sans CJK SC"/>
              </a:rPr>
              <a:t>[本人与本批的投入来源差异；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263345"/>
                </a:solidFill>
                <a:latin typeface="Noto Sans CJK SC"/>
              </a:rPr>
              <a:t>不是价值观优劣。]</a:t>
            </a:r>
          </a:p>
        </p:txBody>
      </p:sp>
      <p:sp>
        <p:nvSpPr>
          <p:cNvPr id="126" name="MVPI.section2.label"/>
          <p:cNvSpPr txBox="1"/>
          <p:nvPr/>
        </p:nvSpPr>
        <p:spPr>
          <a:xfrm>
            <a:off x="8306409" y="5907938"/>
            <a:ext cx="3364992" cy="17373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3078F5"/>
                </a:solidFill>
                <a:latin typeface="Noto Sans CJK SC"/>
              </a:rPr>
              <a:t>低位与关注</a:t>
            </a:r>
          </a:p>
        </p:txBody>
      </p:sp>
      <p:sp>
        <p:nvSpPr>
          <p:cNvPr id="127" name="MVPI.section2.body"/>
          <p:cNvSpPr txBox="1"/>
          <p:nvPr/>
        </p:nvSpPr>
        <p:spPr>
          <a:xfrm>
            <a:off x="8306409" y="6090818"/>
            <a:ext cx="3364992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263345"/>
                </a:solidFill>
                <a:latin typeface="Noto Sans CJK SC"/>
              </a:rPr>
              <a:t>[什么安排可能有效或不适合；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263345"/>
                </a:solidFill>
                <a:latin typeface="Noto Sans CJK SC"/>
              </a:rPr>
              <a:t>应与本人确认，不预设事实。]</a:t>
            </a:r>
          </a:p>
        </p:txBody>
      </p:sp>
      <p:sp>
        <p:nvSpPr>
          <p:cNvPr id="128" name="footer.method"/>
          <p:cNvSpPr txBox="1"/>
          <p:nvPr/>
        </p:nvSpPr>
        <p:spPr>
          <a:xfrm>
            <a:off x="374904" y="6601968"/>
            <a:ext cx="10698480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6F7B8D"/>
                </a:solidFill>
                <a:latin typeface="Noto Sans CJK SC"/>
              </a:rPr>
              <a:t>群体基准：{本批N人，含本人}；分档：{核对当批报告}。行为与工作影响为待验证假设，不作为单一人事决策依据。</a:t>
            </a:r>
          </a:p>
        </p:txBody>
      </p:sp>
      <p:sp>
        <p:nvSpPr>
          <p:cNvPr id="129" name="footer.internal"/>
          <p:cNvSpPr txBox="1"/>
          <p:nvPr/>
        </p:nvSpPr>
        <p:spPr>
          <a:xfrm>
            <a:off x="11045952" y="6601968"/>
            <a:ext cx="749808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F7B8D"/>
                </a:solidFill>
                <a:latin typeface="Noto Sans CJK SC"/>
              </a:rPr>
              <a:t>内部使用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Hogan个人报告空白模板</dc:title>
  <dc:subject>Blank workflow template; no actual assessment data</dc:subject>
  <dc:creator>Hogan Workflow Template</dc:creator>
  <cp:keywords>blank template</cp:keywords>
  <dc:description/>
  <cp:lastModifiedBy>Hogan Workflow Template</cp:lastModifiedBy>
  <cp:revision>1</cp:revision>
  <dcterms:created xsi:type="dcterms:W3CDTF">2026-10-15T00:00:00Z</dcterms:created>
  <dcterms:modified xsi:type="dcterms:W3CDTF">2026-10-15T00:00:00Z</dcterms:modified>
  <cp:category/>
</cp:coreProperties>
</file>