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6" r:id="rId18"/>
    <p:sldId id="262" r:id="rId14"/>
    <p:sldId id="263" r:id="rId15"/>
    <p:sldId id="267" r:id="rId19"/>
    <p:sldId id="268" r:id="rId20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填写本批信息，不沿用历史年份/人数。不默认添加个人报告附录。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正文每条有工作行为和一步工作后果；群体/人数须原分支持，不仅凭均值推定多数。写法见writing-style.md。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按当批数据生成均值和中位值曲线，数值标在对应点旁，颜色和线型与图例一致。不要改成横轴下面的数据表。无实际数据，不能把占位图当统计结果。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同页左侧群体雷达图、右侧群体结论、底部差异卡。差异须基于本批原分与解释价值，高低两端有证据才选；不固定三人、不把相对低分叫低能力或统计显著。姓名模式依本次受众授权，默认代号。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用户确认既有项目规则后才使用：结果=抱负≥65；过程=审慎≥65；创新=好奇≥50且抱负≥35；务实=人际敏感度&lt;65且好奇&lt;50；关系=人际敏感度≥50且社交≥35。不是Hogan官方标准，不推断能力/绩效。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本页只解释HDS主量表与压力条件；子维度拆在下一页。重点依据本批分布选择，不固定四项。风险不是已发生行为，说明具体工作影响。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六行与三张观察卡只是模板容量，不是本批人数或筛选规则。按N增减或分页；保留完整表。色带为显示占位，须核对源区间；显示标签变化不得改变阈值。观察对象按本批证据选，不默认五人或某个固定分数规则。真实身份映射不发布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共同驱动与差异个体同时呈现。MVPI不是能力或道德判断，不声称最有效激励。低传统不等于不守规则。工作安排为待验证建议，引用必须来自当批报告。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按实际输入填写，而非继承模板中的“已核对”。引用来源与计算方法写受限备注，身份映射始终单独保存。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只有可读原图及定义时填写。满格计数是项目规则，不等同主量表风险概率。不得强行把风险美化成优点，未提供资料时注明未统计或按请求删除本页。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四个场景仅示范结构。只要结论时，可删除支持方式列，不自动加培养方案。建议不能超出前述证据；实际任务记录与测评推测要分开。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三栏回应前文，底部说明业务影响。只要结论时第三栏替换为观察重点，不自动给发展建议。不要把旧群体结论和数据迁入新批次。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.blue"/>
          <p:cNvSpPr/>
          <p:nvPr/>
        </p:nvSpPr>
        <p:spPr>
          <a:xfrm>
            <a:off x="731520" y="1097280"/>
            <a:ext cx="91440" cy="2743200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.red"/>
          <p:cNvSpPr/>
          <p:nvPr/>
        </p:nvSpPr>
        <p:spPr>
          <a:xfrm>
            <a:off x="731520" y="3941063"/>
            <a:ext cx="91440" cy="484632"/>
          </a:xfrm>
          <a:prstGeom prst="rect">
            <a:avLst/>
          </a:prstGeom>
          <a:solidFill>
            <a:srgbClr val="E85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ver.kicker"/>
          <p:cNvSpPr txBox="1"/>
          <p:nvPr/>
        </p:nvSpPr>
        <p:spPr>
          <a:xfrm>
            <a:off x="1042415" y="1097280"/>
            <a:ext cx="9784080" cy="47548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078F5"/>
                </a:solidFill>
                <a:latin typeface="Noto Sans CJK SC"/>
              </a:rPr>
              <a:t>{届别 / 培养项目 / 批次}</a:t>
            </a:r>
          </a:p>
        </p:txBody>
      </p:sp>
      <p:sp>
        <p:nvSpPr>
          <p:cNvPr id="5" name="cover.title"/>
          <p:cNvSpPr txBox="1"/>
          <p:nvPr/>
        </p:nvSpPr>
        <p:spPr>
          <a:xfrm>
            <a:off x="1024128" y="1856231"/>
            <a:ext cx="7863840" cy="1508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63345"/>
                </a:solidFill>
                <a:latin typeface="Noto Sans CJK SC"/>
              </a:rPr>
              <a:t>Hogan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63345"/>
                </a:solidFill>
                <a:latin typeface="Noto Sans CJK SC"/>
              </a:rPr>
              <a:t>群体分析报告</a:t>
            </a:r>
          </a:p>
        </p:txBody>
      </p:sp>
      <p:sp>
        <p:nvSpPr>
          <p:cNvPr id="6" name="cover.subtitle"/>
          <p:cNvSpPr txBox="1"/>
          <p:nvPr/>
        </p:nvSpPr>
        <p:spPr>
          <a:xfrm>
            <a:off x="1042415" y="3712463"/>
            <a:ext cx="9784080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F7B8D"/>
                </a:solidFill>
                <a:latin typeface="Noto Sans CJK SC"/>
              </a:rPr>
              <a:t>日常风格  ·  压力风险  ·  动机价值偏好</a:t>
            </a:r>
          </a:p>
        </p:txBody>
      </p:sp>
      <p:sp>
        <p:nvSpPr>
          <p:cNvPr id="7" name="cover.scope"/>
          <p:cNvSpPr txBox="1"/>
          <p:nvPr/>
        </p:nvSpPr>
        <p:spPr>
          <a:xfrm>
            <a:off x="1042415" y="4361688"/>
            <a:ext cx="9784080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F7B8D"/>
                </a:solidFill>
                <a:latin typeface="Noto Sans CJK SC"/>
              </a:rPr>
              <a:t>样本 {N} 人  |  {分析目的 / 报告日期}</a:t>
            </a:r>
          </a:p>
        </p:txBody>
      </p:sp>
      <p:sp>
        <p:nvSpPr>
          <p:cNvPr id="8" name="cover.readme.bg"/>
          <p:cNvSpPr/>
          <p:nvPr/>
        </p:nvSpPr>
        <p:spPr>
          <a:xfrm>
            <a:off x="1033271" y="5148072"/>
            <a:ext cx="10113264" cy="585216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ver.readme"/>
          <p:cNvSpPr txBox="1"/>
          <p:nvPr/>
        </p:nvSpPr>
        <p:spPr>
          <a:xfrm>
            <a:off x="1261872" y="5276088"/>
            <a:ext cx="9637776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078F5"/>
                </a:solidFill>
                <a:latin typeface="Noto Sans CJK SC"/>
              </a:rPr>
              <a:t>看见群体共性与内部差异，具体说明对工作有哪些可能影响。</a:t>
            </a:r>
          </a:p>
        </p:txBody>
      </p:sp>
      <p:sp>
        <p:nvSpPr>
          <p:cNvPr id="10" name="cover.footer"/>
          <p:cNvSpPr txBox="1"/>
          <p:nvPr/>
        </p:nvSpPr>
        <p:spPr>
          <a:xfrm>
            <a:off x="1042415" y="6263640"/>
            <a:ext cx="987552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7B8D"/>
                </a:solidFill>
                <a:latin typeface="Noto Sans CJK SC"/>
              </a:rPr>
              <a:t>内部使用  |  空白模板，不含真实测评信息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2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2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整体画像：{先用一句话概括这批人的共同特点}</a:t>
            </a:r>
          </a:p>
        </p:txBody>
      </p:sp>
      <p:sp>
        <p:nvSpPr>
          <p:cNvPr id="4" name="p2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群体结论  /  先说行为与工作影响，再给少量数据</a:t>
            </a:r>
          </a:p>
        </p:txBody>
      </p:sp>
      <p:cxnSp>
        <p:nvCxnSpPr>
          <p:cNvPr id="5" name="p2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2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02</a:t>
            </a:r>
          </a:p>
        </p:txBody>
      </p:sp>
      <p:cxnSp>
        <p:nvCxnSpPr>
          <p:cNvPr id="7" name="p2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2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2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p2.summary.bg"/>
          <p:cNvSpPr/>
          <p:nvPr/>
        </p:nvSpPr>
        <p:spPr>
          <a:xfrm>
            <a:off x="512064" y="1362456"/>
            <a:ext cx="11173968" cy="502920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2.summary"/>
          <p:cNvSpPr txBox="1"/>
          <p:nvPr/>
        </p:nvSpPr>
        <p:spPr>
          <a:xfrm>
            <a:off x="713232" y="1453896"/>
            <a:ext cx="10762488" cy="28346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078F5"/>
                </a:solidFill>
                <a:latin typeface="Noto Sans CJK SC"/>
              </a:rPr>
              <a:t>[两三种主要做事倾向怎样组合？对当前工作最值得关注的是什么？]</a:t>
            </a:r>
          </a:p>
        </p:txBody>
      </p:sp>
      <p:sp>
        <p:nvSpPr>
          <p:cNvPr id="12" name="p2.可发挥的优势.heading"/>
          <p:cNvSpPr txBox="1"/>
          <p:nvPr/>
        </p:nvSpPr>
        <p:spPr>
          <a:xfrm>
            <a:off x="530352" y="1993392"/>
            <a:ext cx="5230368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078F5"/>
                </a:solidFill>
                <a:latin typeface="Noto Sans CJK SC"/>
              </a:rPr>
              <a:t>可发挥的优势</a:t>
            </a:r>
          </a:p>
        </p:txBody>
      </p:sp>
      <p:sp>
        <p:nvSpPr>
          <p:cNvPr id="13" name="p2.可发挥的优势.0.num"/>
          <p:cNvSpPr txBox="1"/>
          <p:nvPr/>
        </p:nvSpPr>
        <p:spPr>
          <a:xfrm>
            <a:off x="576072" y="2468880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1</a:t>
            </a:r>
          </a:p>
        </p:txBody>
      </p:sp>
      <p:sp>
        <p:nvSpPr>
          <p:cNvPr id="14" name="p2.可发挥的优势.0.title"/>
          <p:cNvSpPr txBox="1"/>
          <p:nvPr/>
        </p:nvSpPr>
        <p:spPr>
          <a:xfrm>
            <a:off x="932688" y="2450592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[结论1：用完整的一句话说明]</a:t>
            </a:r>
          </a:p>
        </p:txBody>
      </p:sp>
      <p:sp>
        <p:nvSpPr>
          <p:cNvPr id="15" name="p2.可发挥的优势.0.body"/>
          <p:cNvSpPr txBox="1"/>
          <p:nvPr/>
        </p:nvSpPr>
        <p:spPr>
          <a:xfrm>
            <a:off x="932688" y="2761488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16" name="p2.可发挥的优势.0.evidence"/>
          <p:cNvSpPr txBox="1"/>
          <p:nvPr/>
        </p:nvSpPr>
        <p:spPr>
          <a:xfrm>
            <a:off x="932688" y="3172968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  <p:sp>
        <p:nvSpPr>
          <p:cNvPr id="17" name="p2.可发挥的优势.1.bg"/>
          <p:cNvSpPr/>
          <p:nvPr/>
        </p:nvSpPr>
        <p:spPr>
          <a:xfrm>
            <a:off x="475488" y="3355848"/>
            <a:ext cx="5394960" cy="86868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2.可发挥的优势.1.num"/>
          <p:cNvSpPr txBox="1"/>
          <p:nvPr/>
        </p:nvSpPr>
        <p:spPr>
          <a:xfrm>
            <a:off x="576072" y="3410712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2</a:t>
            </a:r>
          </a:p>
        </p:txBody>
      </p:sp>
      <p:sp>
        <p:nvSpPr>
          <p:cNvPr id="19" name="p2.可发挥的优势.1.title"/>
          <p:cNvSpPr txBox="1"/>
          <p:nvPr/>
        </p:nvSpPr>
        <p:spPr>
          <a:xfrm>
            <a:off x="932688" y="3392424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[结论2：用完整的一句话说明]</a:t>
            </a:r>
          </a:p>
        </p:txBody>
      </p:sp>
      <p:sp>
        <p:nvSpPr>
          <p:cNvPr id="20" name="p2.可发挥的优势.1.body"/>
          <p:cNvSpPr txBox="1"/>
          <p:nvPr/>
        </p:nvSpPr>
        <p:spPr>
          <a:xfrm>
            <a:off x="932688" y="3703320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21" name="p2.可发挥的优势.1.evidence"/>
          <p:cNvSpPr txBox="1"/>
          <p:nvPr/>
        </p:nvSpPr>
        <p:spPr>
          <a:xfrm>
            <a:off x="932688" y="4114800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  <p:sp>
        <p:nvSpPr>
          <p:cNvPr id="22" name="p2.可发挥的优势.2.num"/>
          <p:cNvSpPr txBox="1"/>
          <p:nvPr/>
        </p:nvSpPr>
        <p:spPr>
          <a:xfrm>
            <a:off x="576072" y="4352544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3</a:t>
            </a:r>
          </a:p>
        </p:txBody>
      </p:sp>
      <p:sp>
        <p:nvSpPr>
          <p:cNvPr id="23" name="p2.可发挥的优势.2.title"/>
          <p:cNvSpPr txBox="1"/>
          <p:nvPr/>
        </p:nvSpPr>
        <p:spPr>
          <a:xfrm>
            <a:off x="932688" y="4334256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[结论3：用完整的一句话说明]</a:t>
            </a:r>
          </a:p>
        </p:txBody>
      </p:sp>
      <p:sp>
        <p:nvSpPr>
          <p:cNvPr id="24" name="p2.可发挥的优势.2.body"/>
          <p:cNvSpPr txBox="1"/>
          <p:nvPr/>
        </p:nvSpPr>
        <p:spPr>
          <a:xfrm>
            <a:off x="932688" y="4645152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25" name="p2.可发挥的优势.2.evidence"/>
          <p:cNvSpPr txBox="1"/>
          <p:nvPr/>
        </p:nvSpPr>
        <p:spPr>
          <a:xfrm>
            <a:off x="932688" y="5056631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  <p:sp>
        <p:nvSpPr>
          <p:cNvPr id="26" name="p2.可发挥的优势.3.bg"/>
          <p:cNvSpPr/>
          <p:nvPr/>
        </p:nvSpPr>
        <p:spPr>
          <a:xfrm>
            <a:off x="475488" y="5239512"/>
            <a:ext cx="5394960" cy="86868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2.可发挥的优势.3.num"/>
          <p:cNvSpPr txBox="1"/>
          <p:nvPr/>
        </p:nvSpPr>
        <p:spPr>
          <a:xfrm>
            <a:off x="576072" y="5294376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4</a:t>
            </a:r>
          </a:p>
        </p:txBody>
      </p:sp>
      <p:sp>
        <p:nvSpPr>
          <p:cNvPr id="28" name="p2.可发挥的优势.3.title"/>
          <p:cNvSpPr txBox="1"/>
          <p:nvPr/>
        </p:nvSpPr>
        <p:spPr>
          <a:xfrm>
            <a:off x="932688" y="5276088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[结论4：用完整的一句话说明]</a:t>
            </a:r>
          </a:p>
        </p:txBody>
      </p:sp>
      <p:sp>
        <p:nvSpPr>
          <p:cNvPr id="29" name="p2.可发挥的优势.3.body"/>
          <p:cNvSpPr txBox="1"/>
          <p:nvPr/>
        </p:nvSpPr>
        <p:spPr>
          <a:xfrm>
            <a:off x="932688" y="5586984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30" name="p2.可发挥的优势.3.evidence"/>
          <p:cNvSpPr txBox="1"/>
          <p:nvPr/>
        </p:nvSpPr>
        <p:spPr>
          <a:xfrm>
            <a:off x="932688" y="5998464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  <p:sp>
        <p:nvSpPr>
          <p:cNvPr id="31" name="p2.重点关注的工作影响.heading"/>
          <p:cNvSpPr txBox="1"/>
          <p:nvPr/>
        </p:nvSpPr>
        <p:spPr>
          <a:xfrm>
            <a:off x="6291072" y="1993392"/>
            <a:ext cx="5230368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8565B"/>
                </a:solidFill>
                <a:latin typeface="Noto Sans CJK SC"/>
              </a:rPr>
              <a:t>重点关注的工作影响</a:t>
            </a:r>
          </a:p>
        </p:txBody>
      </p:sp>
      <p:sp>
        <p:nvSpPr>
          <p:cNvPr id="32" name="p2.重点关注的工作影响.0.num"/>
          <p:cNvSpPr txBox="1"/>
          <p:nvPr/>
        </p:nvSpPr>
        <p:spPr>
          <a:xfrm>
            <a:off x="6336792" y="2468880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65B"/>
                </a:solidFill>
                <a:latin typeface="Noto Sans CJK SC"/>
              </a:rPr>
              <a:t>1</a:t>
            </a:r>
          </a:p>
        </p:txBody>
      </p:sp>
      <p:sp>
        <p:nvSpPr>
          <p:cNvPr id="33" name="p2.重点关注的工作影响.0.title"/>
          <p:cNvSpPr txBox="1"/>
          <p:nvPr/>
        </p:nvSpPr>
        <p:spPr>
          <a:xfrm>
            <a:off x="6693408" y="2450592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[结论1：用完整的一句话说明]</a:t>
            </a:r>
          </a:p>
        </p:txBody>
      </p:sp>
      <p:sp>
        <p:nvSpPr>
          <p:cNvPr id="34" name="p2.重点关注的工作影响.0.body"/>
          <p:cNvSpPr txBox="1"/>
          <p:nvPr/>
        </p:nvSpPr>
        <p:spPr>
          <a:xfrm>
            <a:off x="6693408" y="2761488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35" name="p2.重点关注的工作影响.0.evidence"/>
          <p:cNvSpPr txBox="1"/>
          <p:nvPr/>
        </p:nvSpPr>
        <p:spPr>
          <a:xfrm>
            <a:off x="6693408" y="3172968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  <p:sp>
        <p:nvSpPr>
          <p:cNvPr id="36" name="p2.重点关注的工作影响.1.bg"/>
          <p:cNvSpPr/>
          <p:nvPr/>
        </p:nvSpPr>
        <p:spPr>
          <a:xfrm>
            <a:off x="6236208" y="3355848"/>
            <a:ext cx="5394960" cy="86868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2.重点关注的工作影响.1.num"/>
          <p:cNvSpPr txBox="1"/>
          <p:nvPr/>
        </p:nvSpPr>
        <p:spPr>
          <a:xfrm>
            <a:off x="6336792" y="3410712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65B"/>
                </a:solidFill>
                <a:latin typeface="Noto Sans CJK SC"/>
              </a:rPr>
              <a:t>2</a:t>
            </a:r>
          </a:p>
        </p:txBody>
      </p:sp>
      <p:sp>
        <p:nvSpPr>
          <p:cNvPr id="38" name="p2.重点关注的工作影响.1.title"/>
          <p:cNvSpPr txBox="1"/>
          <p:nvPr/>
        </p:nvSpPr>
        <p:spPr>
          <a:xfrm>
            <a:off x="6693408" y="3392424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[结论2：用完整的一句话说明]</a:t>
            </a:r>
          </a:p>
        </p:txBody>
      </p:sp>
      <p:sp>
        <p:nvSpPr>
          <p:cNvPr id="39" name="p2.重点关注的工作影响.1.body"/>
          <p:cNvSpPr txBox="1"/>
          <p:nvPr/>
        </p:nvSpPr>
        <p:spPr>
          <a:xfrm>
            <a:off x="6693408" y="3703320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40" name="p2.重点关注的工作影响.1.evidence"/>
          <p:cNvSpPr txBox="1"/>
          <p:nvPr/>
        </p:nvSpPr>
        <p:spPr>
          <a:xfrm>
            <a:off x="6693408" y="4114800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  <p:sp>
        <p:nvSpPr>
          <p:cNvPr id="41" name="p2.重点关注的工作影响.2.num"/>
          <p:cNvSpPr txBox="1"/>
          <p:nvPr/>
        </p:nvSpPr>
        <p:spPr>
          <a:xfrm>
            <a:off x="6336792" y="4352544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65B"/>
                </a:solidFill>
                <a:latin typeface="Noto Sans CJK SC"/>
              </a:rPr>
              <a:t>3</a:t>
            </a:r>
          </a:p>
        </p:txBody>
      </p:sp>
      <p:sp>
        <p:nvSpPr>
          <p:cNvPr id="42" name="p2.重点关注的工作影响.2.title"/>
          <p:cNvSpPr txBox="1"/>
          <p:nvPr/>
        </p:nvSpPr>
        <p:spPr>
          <a:xfrm>
            <a:off x="6693408" y="4334256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[结论3：用完整的一句话说明]</a:t>
            </a:r>
          </a:p>
        </p:txBody>
      </p:sp>
      <p:sp>
        <p:nvSpPr>
          <p:cNvPr id="43" name="p2.重点关注的工作影响.2.body"/>
          <p:cNvSpPr txBox="1"/>
          <p:nvPr/>
        </p:nvSpPr>
        <p:spPr>
          <a:xfrm>
            <a:off x="6693408" y="4645152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44" name="p2.重点关注的工作影响.2.evidence"/>
          <p:cNvSpPr txBox="1"/>
          <p:nvPr/>
        </p:nvSpPr>
        <p:spPr>
          <a:xfrm>
            <a:off x="6693408" y="5056631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  <p:sp>
        <p:nvSpPr>
          <p:cNvPr id="45" name="p2.重点关注的工作影响.3.bg"/>
          <p:cNvSpPr/>
          <p:nvPr/>
        </p:nvSpPr>
        <p:spPr>
          <a:xfrm>
            <a:off x="6236208" y="5239512"/>
            <a:ext cx="5394960" cy="86868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2.重点关注的工作影响.3.num"/>
          <p:cNvSpPr txBox="1"/>
          <p:nvPr/>
        </p:nvSpPr>
        <p:spPr>
          <a:xfrm>
            <a:off x="6336792" y="5294376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65B"/>
                </a:solidFill>
                <a:latin typeface="Noto Sans CJK SC"/>
              </a:rPr>
              <a:t>4</a:t>
            </a:r>
          </a:p>
        </p:txBody>
      </p:sp>
      <p:sp>
        <p:nvSpPr>
          <p:cNvPr id="47" name="p2.重点关注的工作影响.3.title"/>
          <p:cNvSpPr txBox="1"/>
          <p:nvPr/>
        </p:nvSpPr>
        <p:spPr>
          <a:xfrm>
            <a:off x="6693408" y="5276088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[结论4：用完整的一句话说明]</a:t>
            </a:r>
          </a:p>
        </p:txBody>
      </p:sp>
      <p:sp>
        <p:nvSpPr>
          <p:cNvPr id="48" name="p2.重点关注的工作影响.3.body"/>
          <p:cNvSpPr txBox="1"/>
          <p:nvPr/>
        </p:nvSpPr>
        <p:spPr>
          <a:xfrm>
            <a:off x="6693408" y="5586984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49" name="p2.重点关注的工作影响.3.evidence"/>
          <p:cNvSpPr txBox="1"/>
          <p:nvPr/>
        </p:nvSpPr>
        <p:spPr>
          <a:xfrm>
            <a:off x="6693408" y="5998464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3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3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均值与中位值：{哪些接近，哪些还要看内部差异}</a:t>
            </a:r>
          </a:p>
        </p:txBody>
      </p:sp>
      <p:sp>
        <p:nvSpPr>
          <p:cNvPr id="4" name="p3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数据概览  /  同一批原分计算；统计不等于能力得分</a:t>
            </a:r>
          </a:p>
        </p:txBody>
      </p:sp>
      <p:cxnSp>
        <p:nvCxnSpPr>
          <p:cNvPr id="5" name="p3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3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03</a:t>
            </a:r>
          </a:p>
        </p:txBody>
      </p:sp>
      <p:cxnSp>
        <p:nvCxnSpPr>
          <p:cNvPr id="7" name="p3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3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3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p3.HPI.header.bg"/>
          <p:cNvSpPr/>
          <p:nvPr/>
        </p:nvSpPr>
        <p:spPr>
          <a:xfrm>
            <a:off x="548640" y="1399032"/>
            <a:ext cx="3630168" cy="786384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3.HPI.header"/>
          <p:cNvSpPr txBox="1"/>
          <p:nvPr/>
        </p:nvSpPr>
        <p:spPr>
          <a:xfrm>
            <a:off x="685800" y="1481328"/>
            <a:ext cx="3346704" cy="23774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078F5"/>
                </a:solidFill>
                <a:latin typeface="Noto Sans CJK SC"/>
              </a:rPr>
              <a:t>HPI</a:t>
            </a:r>
          </a:p>
        </p:txBody>
      </p:sp>
      <p:sp>
        <p:nvSpPr>
          <p:cNvPr id="12" name="p3.HPI.summary"/>
          <p:cNvSpPr txBox="1"/>
          <p:nvPr/>
        </p:nvSpPr>
        <p:spPr>
          <a:xfrm>
            <a:off x="685800" y="1801368"/>
            <a:ext cx="3346704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6F7B8D"/>
                </a:solidFill>
                <a:latin typeface="Noto Sans CJK SC"/>
              </a:rPr>
              <a:t>[该量表最主要的共性或分化]</a:t>
            </a:r>
          </a:p>
        </p:txBody>
      </p:sp>
      <p:sp>
        <p:nvSpPr>
          <p:cNvPr id="13" name="p3.HPI.chart.band0"/>
          <p:cNvSpPr/>
          <p:nvPr/>
        </p:nvSpPr>
        <p:spPr>
          <a:xfrm>
            <a:off x="804672" y="2596896"/>
            <a:ext cx="3264408" cy="633222"/>
          </a:xfrm>
          <a:prstGeom prst="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3.HPI.chart.band1"/>
          <p:cNvSpPr/>
          <p:nvPr/>
        </p:nvSpPr>
        <p:spPr>
          <a:xfrm>
            <a:off x="804672" y="3230118"/>
            <a:ext cx="3264408" cy="633222"/>
          </a:xfrm>
          <a:prstGeom prst="rect">
            <a:avLst/>
          </a:prstGeom>
          <a:solidFill>
            <a:srgbClr val="F9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3.HPI.chart.band2"/>
          <p:cNvSpPr/>
          <p:nvPr/>
        </p:nvSpPr>
        <p:spPr>
          <a:xfrm>
            <a:off x="804672" y="3863339"/>
            <a:ext cx="3264408" cy="633222"/>
          </a:xfrm>
          <a:prstGeom prst="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3.HPI.chart.band3"/>
          <p:cNvSpPr/>
          <p:nvPr/>
        </p:nvSpPr>
        <p:spPr>
          <a:xfrm>
            <a:off x="804672" y="4496562"/>
            <a:ext cx="3264408" cy="633222"/>
          </a:xfrm>
          <a:prstGeom prst="rect">
            <a:avLst/>
          </a:prstGeom>
          <a:solidFill>
            <a:srgbClr val="F9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p3.HPI.chart.grid0"/>
          <p:cNvCxnSpPr/>
          <p:nvPr/>
        </p:nvCxnSpPr>
        <p:spPr>
          <a:xfrm>
            <a:off x="804672" y="2596896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3.HPI.chart.tick0"/>
          <p:cNvSpPr txBox="1"/>
          <p:nvPr/>
        </p:nvSpPr>
        <p:spPr>
          <a:xfrm>
            <a:off x="530352" y="2505456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100</a:t>
            </a:r>
          </a:p>
        </p:txBody>
      </p:sp>
      <p:cxnSp>
        <p:nvCxnSpPr>
          <p:cNvPr id="19" name="p3.HPI.chart.grid1"/>
          <p:cNvCxnSpPr/>
          <p:nvPr/>
        </p:nvCxnSpPr>
        <p:spPr>
          <a:xfrm>
            <a:off x="804672" y="3230118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3.HPI.chart.tick1"/>
          <p:cNvSpPr txBox="1"/>
          <p:nvPr/>
        </p:nvSpPr>
        <p:spPr>
          <a:xfrm>
            <a:off x="530352" y="3138677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75</a:t>
            </a:r>
          </a:p>
        </p:txBody>
      </p:sp>
      <p:cxnSp>
        <p:nvCxnSpPr>
          <p:cNvPr id="21" name="p3.HPI.chart.grid2"/>
          <p:cNvCxnSpPr/>
          <p:nvPr/>
        </p:nvCxnSpPr>
        <p:spPr>
          <a:xfrm>
            <a:off x="804672" y="3863339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3.HPI.chart.tick2"/>
          <p:cNvSpPr txBox="1"/>
          <p:nvPr/>
        </p:nvSpPr>
        <p:spPr>
          <a:xfrm>
            <a:off x="530352" y="3771900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50</a:t>
            </a:r>
          </a:p>
        </p:txBody>
      </p:sp>
      <p:cxnSp>
        <p:nvCxnSpPr>
          <p:cNvPr id="23" name="p3.HPI.chart.grid3"/>
          <p:cNvCxnSpPr/>
          <p:nvPr/>
        </p:nvCxnSpPr>
        <p:spPr>
          <a:xfrm>
            <a:off x="804672" y="4496562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3.HPI.chart.tick3"/>
          <p:cNvSpPr txBox="1"/>
          <p:nvPr/>
        </p:nvSpPr>
        <p:spPr>
          <a:xfrm>
            <a:off x="530352" y="4405122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25</a:t>
            </a:r>
          </a:p>
        </p:txBody>
      </p:sp>
      <p:cxnSp>
        <p:nvCxnSpPr>
          <p:cNvPr id="25" name="p3.HPI.chart.grid4"/>
          <p:cNvCxnSpPr/>
          <p:nvPr/>
        </p:nvCxnSpPr>
        <p:spPr>
          <a:xfrm>
            <a:off x="804672" y="5129783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3.HPI.chart.tick4"/>
          <p:cNvSpPr txBox="1"/>
          <p:nvPr/>
        </p:nvSpPr>
        <p:spPr>
          <a:xfrm>
            <a:off x="530352" y="5038344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0</a:t>
            </a:r>
          </a:p>
        </p:txBody>
      </p:sp>
      <p:sp>
        <p:nvSpPr>
          <p:cNvPr id="27" name="p3.HPI.chart.dim0"/>
          <p:cNvSpPr txBox="1"/>
          <p:nvPr/>
        </p:nvSpPr>
        <p:spPr>
          <a:xfrm>
            <a:off x="804672" y="5221223"/>
            <a:ext cx="46634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调适</a:t>
            </a:r>
          </a:p>
        </p:txBody>
      </p:sp>
      <p:sp>
        <p:nvSpPr>
          <p:cNvPr id="28" name="p3.HPI.chart.dim1"/>
          <p:cNvSpPr txBox="1"/>
          <p:nvPr/>
        </p:nvSpPr>
        <p:spPr>
          <a:xfrm>
            <a:off x="1271016" y="5221223"/>
            <a:ext cx="46634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抱负</a:t>
            </a:r>
          </a:p>
        </p:txBody>
      </p:sp>
      <p:sp>
        <p:nvSpPr>
          <p:cNvPr id="29" name="p3.HPI.chart.dim2"/>
          <p:cNvSpPr txBox="1"/>
          <p:nvPr/>
        </p:nvSpPr>
        <p:spPr>
          <a:xfrm>
            <a:off x="1737360" y="5221223"/>
            <a:ext cx="46634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社交</a:t>
            </a:r>
          </a:p>
        </p:txBody>
      </p:sp>
      <p:sp>
        <p:nvSpPr>
          <p:cNvPr id="30" name="p3.HPI.chart.dim3"/>
          <p:cNvSpPr txBox="1"/>
          <p:nvPr/>
        </p:nvSpPr>
        <p:spPr>
          <a:xfrm>
            <a:off x="2203704" y="5221223"/>
            <a:ext cx="46634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人际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敏感度</a:t>
            </a:r>
          </a:p>
        </p:txBody>
      </p:sp>
      <p:sp>
        <p:nvSpPr>
          <p:cNvPr id="31" name="p3.HPI.chart.dim4"/>
          <p:cNvSpPr txBox="1"/>
          <p:nvPr/>
        </p:nvSpPr>
        <p:spPr>
          <a:xfrm>
            <a:off x="2670048" y="5221223"/>
            <a:ext cx="46634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审慎</a:t>
            </a:r>
          </a:p>
        </p:txBody>
      </p:sp>
      <p:sp>
        <p:nvSpPr>
          <p:cNvPr id="32" name="p3.HPI.chart.dim5"/>
          <p:cNvSpPr txBox="1"/>
          <p:nvPr/>
        </p:nvSpPr>
        <p:spPr>
          <a:xfrm>
            <a:off x="3136392" y="5221223"/>
            <a:ext cx="46634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好奇</a:t>
            </a:r>
          </a:p>
        </p:txBody>
      </p:sp>
      <p:sp>
        <p:nvSpPr>
          <p:cNvPr id="33" name="p3.HPI.chart.dim6"/>
          <p:cNvSpPr txBox="1"/>
          <p:nvPr/>
        </p:nvSpPr>
        <p:spPr>
          <a:xfrm>
            <a:off x="3602736" y="5221223"/>
            <a:ext cx="46634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学习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方式</a:t>
            </a:r>
          </a:p>
        </p:txBody>
      </p:sp>
      <p:sp>
        <p:nvSpPr>
          <p:cNvPr id="34" name="p3.HPI.chart.replace"/>
          <p:cNvSpPr txBox="1"/>
          <p:nvPr/>
        </p:nvSpPr>
        <p:spPr>
          <a:xfrm>
            <a:off x="859536" y="3686037"/>
            <a:ext cx="3154680" cy="43891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[均值 / 中位值折线；数值直接标在点位旁]</a:t>
            </a:r>
          </a:p>
        </p:txBody>
      </p:sp>
      <p:sp>
        <p:nvSpPr>
          <p:cNvPr id="35" name="p3.HPI.foot"/>
          <p:cNvSpPr txBox="1"/>
          <p:nvPr/>
        </p:nvSpPr>
        <p:spPr>
          <a:xfrm>
            <a:off x="658368" y="5751576"/>
            <a:ext cx="3401568" cy="4023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F7B8D"/>
                </a:solidFill>
                <a:latin typeface="Noto Sans CJK SC"/>
              </a:rPr>
              <a:t>[结合范围和分布解释，不用均值代替个人。]</a:t>
            </a:r>
          </a:p>
        </p:txBody>
      </p:sp>
      <p:sp>
        <p:nvSpPr>
          <p:cNvPr id="36" name="p3.HDS.header.bg"/>
          <p:cNvSpPr/>
          <p:nvPr/>
        </p:nvSpPr>
        <p:spPr>
          <a:xfrm>
            <a:off x="4379976" y="1399032"/>
            <a:ext cx="3630168" cy="786384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3.HDS.header"/>
          <p:cNvSpPr txBox="1"/>
          <p:nvPr/>
        </p:nvSpPr>
        <p:spPr>
          <a:xfrm>
            <a:off x="4517136" y="1481328"/>
            <a:ext cx="3346704" cy="23774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8565B"/>
                </a:solidFill>
                <a:latin typeface="Noto Sans CJK SC"/>
              </a:rPr>
              <a:t>HDS</a:t>
            </a:r>
          </a:p>
        </p:txBody>
      </p:sp>
      <p:sp>
        <p:nvSpPr>
          <p:cNvPr id="38" name="p3.HDS.summary"/>
          <p:cNvSpPr txBox="1"/>
          <p:nvPr/>
        </p:nvSpPr>
        <p:spPr>
          <a:xfrm>
            <a:off x="4517136" y="1801368"/>
            <a:ext cx="3346704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6F7B8D"/>
                </a:solidFill>
                <a:latin typeface="Noto Sans CJK SC"/>
              </a:rPr>
              <a:t>[该量表最主要的共性或分化]</a:t>
            </a:r>
          </a:p>
        </p:txBody>
      </p:sp>
      <p:sp>
        <p:nvSpPr>
          <p:cNvPr id="39" name="p3.HDS.chart.band0"/>
          <p:cNvSpPr/>
          <p:nvPr/>
        </p:nvSpPr>
        <p:spPr>
          <a:xfrm>
            <a:off x="4636008" y="2596896"/>
            <a:ext cx="3264408" cy="633222"/>
          </a:xfrm>
          <a:prstGeom prst="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3.HDS.chart.band1"/>
          <p:cNvSpPr/>
          <p:nvPr/>
        </p:nvSpPr>
        <p:spPr>
          <a:xfrm>
            <a:off x="4636008" y="3230118"/>
            <a:ext cx="3264408" cy="633222"/>
          </a:xfrm>
          <a:prstGeom prst="rect">
            <a:avLst/>
          </a:prstGeom>
          <a:solidFill>
            <a:srgbClr val="F9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3.HDS.chart.band2"/>
          <p:cNvSpPr/>
          <p:nvPr/>
        </p:nvSpPr>
        <p:spPr>
          <a:xfrm>
            <a:off x="4636008" y="3863339"/>
            <a:ext cx="3264408" cy="633222"/>
          </a:xfrm>
          <a:prstGeom prst="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3.HDS.chart.band3"/>
          <p:cNvSpPr/>
          <p:nvPr/>
        </p:nvSpPr>
        <p:spPr>
          <a:xfrm>
            <a:off x="4636008" y="4496562"/>
            <a:ext cx="3264408" cy="633222"/>
          </a:xfrm>
          <a:prstGeom prst="rect">
            <a:avLst/>
          </a:prstGeom>
          <a:solidFill>
            <a:srgbClr val="F9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p3.HDS.chart.grid0"/>
          <p:cNvCxnSpPr/>
          <p:nvPr/>
        </p:nvCxnSpPr>
        <p:spPr>
          <a:xfrm>
            <a:off x="4636008" y="2596896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p3.HDS.chart.tick0"/>
          <p:cNvSpPr txBox="1"/>
          <p:nvPr/>
        </p:nvSpPr>
        <p:spPr>
          <a:xfrm>
            <a:off x="4361688" y="2505456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100</a:t>
            </a:r>
          </a:p>
        </p:txBody>
      </p:sp>
      <p:cxnSp>
        <p:nvCxnSpPr>
          <p:cNvPr id="45" name="p3.HDS.chart.grid1"/>
          <p:cNvCxnSpPr/>
          <p:nvPr/>
        </p:nvCxnSpPr>
        <p:spPr>
          <a:xfrm>
            <a:off x="4636008" y="3230118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p3.HDS.chart.tick1"/>
          <p:cNvSpPr txBox="1"/>
          <p:nvPr/>
        </p:nvSpPr>
        <p:spPr>
          <a:xfrm>
            <a:off x="4361688" y="3138677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75</a:t>
            </a:r>
          </a:p>
        </p:txBody>
      </p:sp>
      <p:cxnSp>
        <p:nvCxnSpPr>
          <p:cNvPr id="47" name="p3.HDS.chart.grid2"/>
          <p:cNvCxnSpPr/>
          <p:nvPr/>
        </p:nvCxnSpPr>
        <p:spPr>
          <a:xfrm>
            <a:off x="4636008" y="3863339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3.HDS.chart.tick2"/>
          <p:cNvSpPr txBox="1"/>
          <p:nvPr/>
        </p:nvSpPr>
        <p:spPr>
          <a:xfrm>
            <a:off x="4361688" y="3771900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50</a:t>
            </a:r>
          </a:p>
        </p:txBody>
      </p:sp>
      <p:cxnSp>
        <p:nvCxnSpPr>
          <p:cNvPr id="49" name="p3.HDS.chart.grid3"/>
          <p:cNvCxnSpPr/>
          <p:nvPr/>
        </p:nvCxnSpPr>
        <p:spPr>
          <a:xfrm>
            <a:off x="4636008" y="4496562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p3.HDS.chart.tick3"/>
          <p:cNvSpPr txBox="1"/>
          <p:nvPr/>
        </p:nvSpPr>
        <p:spPr>
          <a:xfrm>
            <a:off x="4361688" y="4405122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25</a:t>
            </a:r>
          </a:p>
        </p:txBody>
      </p:sp>
      <p:cxnSp>
        <p:nvCxnSpPr>
          <p:cNvPr id="51" name="p3.HDS.chart.grid4"/>
          <p:cNvCxnSpPr/>
          <p:nvPr/>
        </p:nvCxnSpPr>
        <p:spPr>
          <a:xfrm>
            <a:off x="4636008" y="5129783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p3.HDS.chart.tick4"/>
          <p:cNvSpPr txBox="1"/>
          <p:nvPr/>
        </p:nvSpPr>
        <p:spPr>
          <a:xfrm>
            <a:off x="4361688" y="5038344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0</a:t>
            </a:r>
          </a:p>
        </p:txBody>
      </p:sp>
      <p:sp>
        <p:nvSpPr>
          <p:cNvPr id="53" name="p3.HDS.chart.dim0"/>
          <p:cNvSpPr txBox="1"/>
          <p:nvPr/>
        </p:nvSpPr>
        <p:spPr>
          <a:xfrm>
            <a:off x="4636008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激动</a:t>
            </a:r>
          </a:p>
        </p:txBody>
      </p:sp>
      <p:sp>
        <p:nvSpPr>
          <p:cNvPr id="54" name="p3.HDS.chart.dim1"/>
          <p:cNvSpPr txBox="1"/>
          <p:nvPr/>
        </p:nvSpPr>
        <p:spPr>
          <a:xfrm>
            <a:off x="4932772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多疑</a:t>
            </a:r>
          </a:p>
        </p:txBody>
      </p:sp>
      <p:sp>
        <p:nvSpPr>
          <p:cNvPr id="55" name="p3.HDS.chart.dim2"/>
          <p:cNvSpPr txBox="1"/>
          <p:nvPr/>
        </p:nvSpPr>
        <p:spPr>
          <a:xfrm>
            <a:off x="5229536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谨慎</a:t>
            </a:r>
          </a:p>
        </p:txBody>
      </p:sp>
      <p:sp>
        <p:nvSpPr>
          <p:cNvPr id="56" name="p3.HDS.chart.dim3"/>
          <p:cNvSpPr txBox="1"/>
          <p:nvPr/>
        </p:nvSpPr>
        <p:spPr>
          <a:xfrm>
            <a:off x="5526301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内敛</a:t>
            </a:r>
          </a:p>
        </p:txBody>
      </p:sp>
      <p:sp>
        <p:nvSpPr>
          <p:cNvPr id="57" name="p3.HDS.chart.dim4"/>
          <p:cNvSpPr txBox="1"/>
          <p:nvPr/>
        </p:nvSpPr>
        <p:spPr>
          <a:xfrm>
            <a:off x="5823065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消极</a:t>
            </a:r>
          </a:p>
        </p:txBody>
      </p:sp>
      <p:sp>
        <p:nvSpPr>
          <p:cNvPr id="58" name="p3.HDS.chart.dim5"/>
          <p:cNvSpPr txBox="1"/>
          <p:nvPr/>
        </p:nvSpPr>
        <p:spPr>
          <a:xfrm>
            <a:off x="6119829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自大</a:t>
            </a:r>
          </a:p>
        </p:txBody>
      </p:sp>
      <p:sp>
        <p:nvSpPr>
          <p:cNvPr id="59" name="p3.HDS.chart.dim6"/>
          <p:cNvSpPr txBox="1"/>
          <p:nvPr/>
        </p:nvSpPr>
        <p:spPr>
          <a:xfrm>
            <a:off x="6416594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狡猾</a:t>
            </a:r>
          </a:p>
        </p:txBody>
      </p:sp>
      <p:sp>
        <p:nvSpPr>
          <p:cNvPr id="60" name="p3.HDS.chart.dim7"/>
          <p:cNvSpPr txBox="1"/>
          <p:nvPr/>
        </p:nvSpPr>
        <p:spPr>
          <a:xfrm>
            <a:off x="6713358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戏剧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化</a:t>
            </a:r>
          </a:p>
        </p:txBody>
      </p:sp>
      <p:sp>
        <p:nvSpPr>
          <p:cNvPr id="61" name="p3.HDS.chart.dim8"/>
          <p:cNvSpPr txBox="1"/>
          <p:nvPr/>
        </p:nvSpPr>
        <p:spPr>
          <a:xfrm>
            <a:off x="7010122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幻想</a:t>
            </a:r>
          </a:p>
        </p:txBody>
      </p:sp>
      <p:sp>
        <p:nvSpPr>
          <p:cNvPr id="62" name="p3.HDS.chart.dim9"/>
          <p:cNvSpPr txBox="1"/>
          <p:nvPr/>
        </p:nvSpPr>
        <p:spPr>
          <a:xfrm>
            <a:off x="7306887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苛求</a:t>
            </a:r>
          </a:p>
        </p:txBody>
      </p:sp>
      <p:sp>
        <p:nvSpPr>
          <p:cNvPr id="63" name="p3.HDS.chart.dim10"/>
          <p:cNvSpPr txBox="1"/>
          <p:nvPr/>
        </p:nvSpPr>
        <p:spPr>
          <a:xfrm>
            <a:off x="7603651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恭顺</a:t>
            </a:r>
          </a:p>
        </p:txBody>
      </p:sp>
      <p:sp>
        <p:nvSpPr>
          <p:cNvPr id="64" name="p3.HDS.chart.replace"/>
          <p:cNvSpPr txBox="1"/>
          <p:nvPr/>
        </p:nvSpPr>
        <p:spPr>
          <a:xfrm>
            <a:off x="4690872" y="3686037"/>
            <a:ext cx="3154680" cy="43891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[均值 / 中位值折线；数值直接标在点位旁]</a:t>
            </a:r>
          </a:p>
        </p:txBody>
      </p:sp>
      <p:sp>
        <p:nvSpPr>
          <p:cNvPr id="65" name="p3.HDS.foot"/>
          <p:cNvSpPr txBox="1"/>
          <p:nvPr/>
        </p:nvSpPr>
        <p:spPr>
          <a:xfrm>
            <a:off x="4489704" y="5751576"/>
            <a:ext cx="3401568" cy="4023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F7B8D"/>
                </a:solidFill>
                <a:latin typeface="Noto Sans CJK SC"/>
              </a:rPr>
              <a:t>[结合范围和分布解释，不用均值代替个人。]</a:t>
            </a:r>
          </a:p>
        </p:txBody>
      </p:sp>
      <p:sp>
        <p:nvSpPr>
          <p:cNvPr id="66" name="p3.MVPI.header.bg"/>
          <p:cNvSpPr/>
          <p:nvPr/>
        </p:nvSpPr>
        <p:spPr>
          <a:xfrm>
            <a:off x="8211312" y="1399032"/>
            <a:ext cx="3630168" cy="786384"/>
          </a:xfrm>
          <a:prstGeom prst="roundRect">
            <a:avLst>
              <a:gd name="adj" fmla="val 3500"/>
            </a:avLst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3.MVPI.header"/>
          <p:cNvSpPr txBox="1"/>
          <p:nvPr/>
        </p:nvSpPr>
        <p:spPr>
          <a:xfrm>
            <a:off x="8348472" y="1481328"/>
            <a:ext cx="3346704" cy="23774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48B28"/>
                </a:solidFill>
                <a:latin typeface="Noto Sans CJK SC"/>
              </a:rPr>
              <a:t>MVPI</a:t>
            </a:r>
          </a:p>
        </p:txBody>
      </p:sp>
      <p:sp>
        <p:nvSpPr>
          <p:cNvPr id="68" name="p3.MVPI.summary"/>
          <p:cNvSpPr txBox="1"/>
          <p:nvPr/>
        </p:nvSpPr>
        <p:spPr>
          <a:xfrm>
            <a:off x="8348472" y="1801368"/>
            <a:ext cx="3346704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6F7B8D"/>
                </a:solidFill>
                <a:latin typeface="Noto Sans CJK SC"/>
              </a:rPr>
              <a:t>[该量表最主要的共性或分化]</a:t>
            </a:r>
          </a:p>
        </p:txBody>
      </p:sp>
      <p:sp>
        <p:nvSpPr>
          <p:cNvPr id="69" name="p3.MVPI.chart.band0"/>
          <p:cNvSpPr/>
          <p:nvPr/>
        </p:nvSpPr>
        <p:spPr>
          <a:xfrm>
            <a:off x="8467344" y="2596896"/>
            <a:ext cx="3264408" cy="633222"/>
          </a:xfrm>
          <a:prstGeom prst="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3.MVPI.chart.band1"/>
          <p:cNvSpPr/>
          <p:nvPr/>
        </p:nvSpPr>
        <p:spPr>
          <a:xfrm>
            <a:off x="8467344" y="3230118"/>
            <a:ext cx="3264408" cy="633222"/>
          </a:xfrm>
          <a:prstGeom prst="rect">
            <a:avLst/>
          </a:prstGeom>
          <a:solidFill>
            <a:srgbClr val="F9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3.MVPI.chart.band2"/>
          <p:cNvSpPr/>
          <p:nvPr/>
        </p:nvSpPr>
        <p:spPr>
          <a:xfrm>
            <a:off x="8467344" y="3863339"/>
            <a:ext cx="3264408" cy="633222"/>
          </a:xfrm>
          <a:prstGeom prst="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p3.MVPI.chart.band3"/>
          <p:cNvSpPr/>
          <p:nvPr/>
        </p:nvSpPr>
        <p:spPr>
          <a:xfrm>
            <a:off x="8467344" y="4496562"/>
            <a:ext cx="3264408" cy="633222"/>
          </a:xfrm>
          <a:prstGeom prst="rect">
            <a:avLst/>
          </a:prstGeom>
          <a:solidFill>
            <a:srgbClr val="F9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p3.MVPI.chart.grid0"/>
          <p:cNvCxnSpPr/>
          <p:nvPr/>
        </p:nvCxnSpPr>
        <p:spPr>
          <a:xfrm>
            <a:off x="8467344" y="2596896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p3.MVPI.chart.tick0"/>
          <p:cNvSpPr txBox="1"/>
          <p:nvPr/>
        </p:nvSpPr>
        <p:spPr>
          <a:xfrm>
            <a:off x="8193024" y="2505456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100</a:t>
            </a:r>
          </a:p>
        </p:txBody>
      </p:sp>
      <p:cxnSp>
        <p:nvCxnSpPr>
          <p:cNvPr id="75" name="p3.MVPI.chart.grid1"/>
          <p:cNvCxnSpPr/>
          <p:nvPr/>
        </p:nvCxnSpPr>
        <p:spPr>
          <a:xfrm>
            <a:off x="8467344" y="3230118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p3.MVPI.chart.tick1"/>
          <p:cNvSpPr txBox="1"/>
          <p:nvPr/>
        </p:nvSpPr>
        <p:spPr>
          <a:xfrm>
            <a:off x="8193024" y="3138677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75</a:t>
            </a:r>
          </a:p>
        </p:txBody>
      </p:sp>
      <p:cxnSp>
        <p:nvCxnSpPr>
          <p:cNvPr id="77" name="p3.MVPI.chart.grid2"/>
          <p:cNvCxnSpPr/>
          <p:nvPr/>
        </p:nvCxnSpPr>
        <p:spPr>
          <a:xfrm>
            <a:off x="8467344" y="3863339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p3.MVPI.chart.tick2"/>
          <p:cNvSpPr txBox="1"/>
          <p:nvPr/>
        </p:nvSpPr>
        <p:spPr>
          <a:xfrm>
            <a:off x="8193024" y="3771900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50</a:t>
            </a:r>
          </a:p>
        </p:txBody>
      </p:sp>
      <p:cxnSp>
        <p:nvCxnSpPr>
          <p:cNvPr id="79" name="p3.MVPI.chart.grid3"/>
          <p:cNvCxnSpPr/>
          <p:nvPr/>
        </p:nvCxnSpPr>
        <p:spPr>
          <a:xfrm>
            <a:off x="8467344" y="4496562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p3.MVPI.chart.tick3"/>
          <p:cNvSpPr txBox="1"/>
          <p:nvPr/>
        </p:nvSpPr>
        <p:spPr>
          <a:xfrm>
            <a:off x="8193024" y="4405122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25</a:t>
            </a:r>
          </a:p>
        </p:txBody>
      </p:sp>
      <p:cxnSp>
        <p:nvCxnSpPr>
          <p:cNvPr id="81" name="p3.MVPI.chart.grid4"/>
          <p:cNvCxnSpPr/>
          <p:nvPr/>
        </p:nvCxnSpPr>
        <p:spPr>
          <a:xfrm>
            <a:off x="8467344" y="5129783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p3.MVPI.chart.tick4"/>
          <p:cNvSpPr txBox="1"/>
          <p:nvPr/>
        </p:nvSpPr>
        <p:spPr>
          <a:xfrm>
            <a:off x="8193024" y="5038344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0</a:t>
            </a:r>
          </a:p>
        </p:txBody>
      </p:sp>
      <p:sp>
        <p:nvSpPr>
          <p:cNvPr id="83" name="p3.MVPI.chart.dim0"/>
          <p:cNvSpPr txBox="1"/>
          <p:nvPr/>
        </p:nvSpPr>
        <p:spPr>
          <a:xfrm>
            <a:off x="8467344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认可</a:t>
            </a:r>
          </a:p>
        </p:txBody>
      </p:sp>
      <p:sp>
        <p:nvSpPr>
          <p:cNvPr id="84" name="p3.MVPI.chart.dim1"/>
          <p:cNvSpPr txBox="1"/>
          <p:nvPr/>
        </p:nvSpPr>
        <p:spPr>
          <a:xfrm>
            <a:off x="8793784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权力</a:t>
            </a:r>
          </a:p>
        </p:txBody>
      </p:sp>
      <p:sp>
        <p:nvSpPr>
          <p:cNvPr id="85" name="p3.MVPI.chart.dim2"/>
          <p:cNvSpPr txBox="1"/>
          <p:nvPr/>
        </p:nvSpPr>
        <p:spPr>
          <a:xfrm>
            <a:off x="9120225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享乐</a:t>
            </a:r>
          </a:p>
        </p:txBody>
      </p:sp>
      <p:sp>
        <p:nvSpPr>
          <p:cNvPr id="86" name="p3.MVPI.chart.dim3"/>
          <p:cNvSpPr txBox="1"/>
          <p:nvPr/>
        </p:nvSpPr>
        <p:spPr>
          <a:xfrm>
            <a:off x="9446666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利他</a:t>
            </a:r>
          </a:p>
        </p:txBody>
      </p:sp>
      <p:sp>
        <p:nvSpPr>
          <p:cNvPr id="87" name="p3.MVPI.chart.dim4"/>
          <p:cNvSpPr txBox="1"/>
          <p:nvPr/>
        </p:nvSpPr>
        <p:spPr>
          <a:xfrm>
            <a:off x="9773107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归属</a:t>
            </a:r>
          </a:p>
        </p:txBody>
      </p:sp>
      <p:sp>
        <p:nvSpPr>
          <p:cNvPr id="88" name="p3.MVPI.chart.dim5"/>
          <p:cNvSpPr txBox="1"/>
          <p:nvPr/>
        </p:nvSpPr>
        <p:spPr>
          <a:xfrm>
            <a:off x="10099548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传统</a:t>
            </a:r>
          </a:p>
        </p:txBody>
      </p:sp>
      <p:sp>
        <p:nvSpPr>
          <p:cNvPr id="89" name="p3.MVPI.chart.dim6"/>
          <p:cNvSpPr txBox="1"/>
          <p:nvPr/>
        </p:nvSpPr>
        <p:spPr>
          <a:xfrm>
            <a:off x="10425988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保障</a:t>
            </a:r>
          </a:p>
        </p:txBody>
      </p:sp>
      <p:sp>
        <p:nvSpPr>
          <p:cNvPr id="90" name="p3.MVPI.chart.dim7"/>
          <p:cNvSpPr txBox="1"/>
          <p:nvPr/>
        </p:nvSpPr>
        <p:spPr>
          <a:xfrm>
            <a:off x="10752429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商业</a:t>
            </a:r>
          </a:p>
        </p:txBody>
      </p:sp>
      <p:sp>
        <p:nvSpPr>
          <p:cNvPr id="91" name="p3.MVPI.chart.dim8"/>
          <p:cNvSpPr txBox="1"/>
          <p:nvPr/>
        </p:nvSpPr>
        <p:spPr>
          <a:xfrm>
            <a:off x="11078870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美感</a:t>
            </a:r>
          </a:p>
        </p:txBody>
      </p:sp>
      <p:sp>
        <p:nvSpPr>
          <p:cNvPr id="92" name="p3.MVPI.chart.dim9"/>
          <p:cNvSpPr txBox="1"/>
          <p:nvPr/>
        </p:nvSpPr>
        <p:spPr>
          <a:xfrm>
            <a:off x="11405311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科学</a:t>
            </a:r>
          </a:p>
        </p:txBody>
      </p:sp>
      <p:sp>
        <p:nvSpPr>
          <p:cNvPr id="93" name="p3.MVPI.chart.replace"/>
          <p:cNvSpPr txBox="1"/>
          <p:nvPr/>
        </p:nvSpPr>
        <p:spPr>
          <a:xfrm>
            <a:off x="8522208" y="3686037"/>
            <a:ext cx="3154680" cy="43891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[均值 / 中位值折线；数值直接标在点位旁]</a:t>
            </a:r>
          </a:p>
        </p:txBody>
      </p:sp>
      <p:sp>
        <p:nvSpPr>
          <p:cNvPr id="94" name="p3.MVPI.foot"/>
          <p:cNvSpPr txBox="1"/>
          <p:nvPr/>
        </p:nvSpPr>
        <p:spPr>
          <a:xfrm>
            <a:off x="8321040" y="5751576"/>
            <a:ext cx="3401568" cy="4023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F7B8D"/>
                </a:solidFill>
                <a:latin typeface="Noto Sans CJK SC"/>
              </a:rPr>
              <a:t>[结合范围和分布解释，不用均值代替个人。]</a:t>
            </a:r>
          </a:p>
        </p:txBody>
      </p:sp>
      <p:cxnSp>
        <p:nvCxnSpPr>
          <p:cNvPr id="95" name="p3.legend.mean"/>
          <p:cNvCxnSpPr/>
          <p:nvPr/>
        </p:nvCxnSpPr>
        <p:spPr>
          <a:xfrm>
            <a:off x="7818120" y="6254496"/>
            <a:ext cx="393192" cy="0"/>
          </a:xfrm>
          <a:prstGeom prst="line">
            <a:avLst/>
          </a:prstGeom>
          <a:ln w="21590">
            <a:solidFill>
              <a:srgbClr val="3078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p3.legend.mean.text"/>
          <p:cNvSpPr txBox="1"/>
          <p:nvPr/>
        </p:nvSpPr>
        <p:spPr>
          <a:xfrm>
            <a:off x="8275320" y="6126480"/>
            <a:ext cx="521207" cy="24688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3345"/>
                </a:solidFill>
                <a:latin typeface="Noto Sans CJK SC"/>
              </a:rPr>
              <a:t>均值</a:t>
            </a:r>
          </a:p>
        </p:txBody>
      </p:sp>
      <p:cxnSp>
        <p:nvCxnSpPr>
          <p:cNvPr id="97" name="p3.legend.median"/>
          <p:cNvCxnSpPr/>
          <p:nvPr/>
        </p:nvCxnSpPr>
        <p:spPr>
          <a:xfrm>
            <a:off x="9290304" y="6254496"/>
            <a:ext cx="393192" cy="0"/>
          </a:xfrm>
          <a:prstGeom prst="line">
            <a:avLst/>
          </a:prstGeom>
          <a:ln w="21590">
            <a:solidFill>
              <a:srgbClr val="E8565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p3.legend.median.text"/>
          <p:cNvSpPr txBox="1"/>
          <p:nvPr/>
        </p:nvSpPr>
        <p:spPr>
          <a:xfrm>
            <a:off x="9747504" y="6126480"/>
            <a:ext cx="749808" cy="24688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3345"/>
                </a:solidFill>
                <a:latin typeface="Noto Sans CJK SC"/>
              </a:rPr>
              <a:t>中位值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4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4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HPI：{群体做事特点，以及需要区别看待的个体}</a:t>
            </a:r>
          </a:p>
        </p:txBody>
      </p:sp>
      <p:sp>
        <p:nvSpPr>
          <p:cNvPr id="4" name="p4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日常工作风格  /  群体共性 + 有依据的高低差异；不作能力排名</a:t>
            </a:r>
          </a:p>
        </p:txBody>
      </p:sp>
      <p:cxnSp>
        <p:nvCxnSpPr>
          <p:cNvPr id="5" name="p4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4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04</a:t>
            </a:r>
          </a:p>
        </p:txBody>
      </p:sp>
      <p:cxnSp>
        <p:nvCxnSpPr>
          <p:cNvPr id="7" name="p4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4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4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m4.radar.ring0.2"/>
          <p:cNvSpPr/>
          <p:nvPr/>
        </p:nvSpPr>
        <p:spPr>
          <a:xfrm>
            <a:off x="2773503" y="2996982"/>
            <a:ext cx="497177" cy="497177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4.radar.ring0.4"/>
          <p:cNvSpPr/>
          <p:nvPr/>
        </p:nvSpPr>
        <p:spPr>
          <a:xfrm>
            <a:off x="2524914" y="2748393"/>
            <a:ext cx="994355" cy="994355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4.radar.ring0.6"/>
          <p:cNvSpPr/>
          <p:nvPr/>
        </p:nvSpPr>
        <p:spPr>
          <a:xfrm>
            <a:off x="2276325" y="2499805"/>
            <a:ext cx="1491532" cy="1491532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4.radar.ring0.8"/>
          <p:cNvSpPr/>
          <p:nvPr/>
        </p:nvSpPr>
        <p:spPr>
          <a:xfrm>
            <a:off x="2027736" y="2251216"/>
            <a:ext cx="1988710" cy="1988710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4.radar.ring1"/>
          <p:cNvSpPr/>
          <p:nvPr/>
        </p:nvSpPr>
        <p:spPr>
          <a:xfrm>
            <a:off x="1779148" y="2002627"/>
            <a:ext cx="2485887" cy="2485887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m4.radar.axis0"/>
          <p:cNvCxnSpPr/>
          <p:nvPr/>
        </p:nvCxnSpPr>
        <p:spPr>
          <a:xfrm flipV="1">
            <a:off x="3022092" y="2002627"/>
            <a:ext cx="0" cy="1242944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4.radar.dim0"/>
          <p:cNvSpPr txBox="1"/>
          <p:nvPr/>
        </p:nvSpPr>
        <p:spPr>
          <a:xfrm>
            <a:off x="2473452" y="1535869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调适</a:t>
            </a:r>
          </a:p>
        </p:txBody>
      </p:sp>
      <p:cxnSp>
        <p:nvCxnSpPr>
          <p:cNvPr id="17" name="m4.radar.axis1"/>
          <p:cNvCxnSpPr/>
          <p:nvPr/>
        </p:nvCxnSpPr>
        <p:spPr>
          <a:xfrm flipV="1">
            <a:off x="3022092" y="2470608"/>
            <a:ext cx="971772" cy="774963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4.radar.dim1"/>
          <p:cNvSpPr txBox="1"/>
          <p:nvPr/>
        </p:nvSpPr>
        <p:spPr>
          <a:xfrm>
            <a:off x="3649296" y="2102126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抱负</a:t>
            </a:r>
          </a:p>
        </p:txBody>
      </p:sp>
      <p:cxnSp>
        <p:nvCxnSpPr>
          <p:cNvPr id="19" name="m4.radar.axis2"/>
          <p:cNvCxnSpPr/>
          <p:nvPr/>
        </p:nvCxnSpPr>
        <p:spPr>
          <a:xfrm>
            <a:off x="3022092" y="3245571"/>
            <a:ext cx="1211780" cy="27658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4.radar.dim2"/>
          <p:cNvSpPr txBox="1"/>
          <p:nvPr/>
        </p:nvSpPr>
        <p:spPr>
          <a:xfrm>
            <a:off x="3939706" y="3374494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社交</a:t>
            </a:r>
          </a:p>
        </p:txBody>
      </p:sp>
      <p:cxnSp>
        <p:nvCxnSpPr>
          <p:cNvPr id="21" name="m4.radar.axis3"/>
          <p:cNvCxnSpPr/>
          <p:nvPr/>
        </p:nvCxnSpPr>
        <p:spPr>
          <a:xfrm>
            <a:off x="3022092" y="3245571"/>
            <a:ext cx="539293" cy="1119854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4.radar.dim3"/>
          <p:cNvSpPr txBox="1"/>
          <p:nvPr/>
        </p:nvSpPr>
        <p:spPr>
          <a:xfrm>
            <a:off x="3125996" y="4394854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人际敏感度</a:t>
            </a:r>
          </a:p>
        </p:txBody>
      </p:sp>
      <p:cxnSp>
        <p:nvCxnSpPr>
          <p:cNvPr id="23" name="m4.radar.axis4"/>
          <p:cNvCxnSpPr/>
          <p:nvPr/>
        </p:nvCxnSpPr>
        <p:spPr>
          <a:xfrm flipH="1">
            <a:off x="2482798" y="3245571"/>
            <a:ext cx="539294" cy="1119854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4.radar.dim4"/>
          <p:cNvSpPr txBox="1"/>
          <p:nvPr/>
        </p:nvSpPr>
        <p:spPr>
          <a:xfrm>
            <a:off x="1820907" y="4394854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审慎</a:t>
            </a:r>
          </a:p>
        </p:txBody>
      </p:sp>
      <p:cxnSp>
        <p:nvCxnSpPr>
          <p:cNvPr id="25" name="m4.radar.axis5"/>
          <p:cNvCxnSpPr/>
          <p:nvPr/>
        </p:nvCxnSpPr>
        <p:spPr>
          <a:xfrm flipH="1">
            <a:off x="1810311" y="3245571"/>
            <a:ext cx="1211781" cy="27658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4.radar.dim5"/>
          <p:cNvSpPr txBox="1"/>
          <p:nvPr/>
        </p:nvSpPr>
        <p:spPr>
          <a:xfrm>
            <a:off x="1007197" y="3374494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好奇</a:t>
            </a:r>
          </a:p>
        </p:txBody>
      </p:sp>
      <p:cxnSp>
        <p:nvCxnSpPr>
          <p:cNvPr id="27" name="m4.radar.axis6"/>
          <p:cNvCxnSpPr/>
          <p:nvPr/>
        </p:nvCxnSpPr>
        <p:spPr>
          <a:xfrm flipH="1" flipV="1">
            <a:off x="2050319" y="2470608"/>
            <a:ext cx="971773" cy="774963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4.radar.dim6"/>
          <p:cNvSpPr txBox="1"/>
          <p:nvPr/>
        </p:nvSpPr>
        <p:spPr>
          <a:xfrm>
            <a:off x="1297607" y="2102126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学习方式</a:t>
            </a:r>
          </a:p>
        </p:txBody>
      </p:sp>
      <p:sp>
        <p:nvSpPr>
          <p:cNvPr id="29" name="m4.radar.caption.bg"/>
          <p:cNvSpPr/>
          <p:nvPr/>
        </p:nvSpPr>
        <p:spPr>
          <a:xfrm>
            <a:off x="1516075" y="2962107"/>
            <a:ext cx="3012033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4.radar.replace"/>
          <p:cNvSpPr txBox="1"/>
          <p:nvPr/>
        </p:nvSpPr>
        <p:spPr>
          <a:xfrm>
            <a:off x="1566275" y="2980395"/>
            <a:ext cx="2911632" cy="5303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本批HPI群体雷达图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均值 / 中位值 / 个体轮廓</a:t>
            </a:r>
          </a:p>
        </p:txBody>
      </p:sp>
      <p:sp>
        <p:nvSpPr>
          <p:cNvPr id="31" name="m4.finding0.bg"/>
          <p:cNvSpPr/>
          <p:nvPr/>
        </p:nvSpPr>
        <p:spPr>
          <a:xfrm>
            <a:off x="5724144" y="1417320"/>
            <a:ext cx="5925312" cy="1024128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4.finding0.stripe"/>
          <p:cNvSpPr/>
          <p:nvPr/>
        </p:nvSpPr>
        <p:spPr>
          <a:xfrm>
            <a:off x="5833872" y="1591056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4.finding0.title"/>
          <p:cNvSpPr txBox="1"/>
          <p:nvPr/>
        </p:nvSpPr>
        <p:spPr>
          <a:xfrm>
            <a:off x="5943600" y="1499616"/>
            <a:ext cx="5568696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[群体结论1：具体怎样做事]</a:t>
            </a:r>
          </a:p>
        </p:txBody>
      </p:sp>
      <p:sp>
        <p:nvSpPr>
          <p:cNvPr id="34" name="m4.finding0.body"/>
          <p:cNvSpPr txBox="1"/>
          <p:nvPr/>
        </p:nvSpPr>
        <p:spPr>
          <a:xfrm>
            <a:off x="5943600" y="1901952"/>
            <a:ext cx="5504688" cy="1280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[在任务中的可能表现；对理解、推进或合作的影响。]</a:t>
            </a:r>
          </a:p>
        </p:txBody>
      </p:sp>
      <p:sp>
        <p:nvSpPr>
          <p:cNvPr id="35" name="m4.finding0.evidence"/>
          <p:cNvSpPr txBox="1"/>
          <p:nvPr/>
        </p:nvSpPr>
        <p:spPr>
          <a:xfrm>
            <a:off x="5943600" y="2176272"/>
            <a:ext cx="5513832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依据：{本批分布或关键统计}</a:t>
            </a:r>
          </a:p>
        </p:txBody>
      </p:sp>
      <p:sp>
        <p:nvSpPr>
          <p:cNvPr id="36" name="m4.finding1.bg"/>
          <p:cNvSpPr/>
          <p:nvPr/>
        </p:nvSpPr>
        <p:spPr>
          <a:xfrm>
            <a:off x="5724144" y="2560320"/>
            <a:ext cx="5925312" cy="1024128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4.finding1.stripe"/>
          <p:cNvSpPr/>
          <p:nvPr/>
        </p:nvSpPr>
        <p:spPr>
          <a:xfrm>
            <a:off x="5833872" y="2734056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4.finding1.title"/>
          <p:cNvSpPr txBox="1"/>
          <p:nvPr/>
        </p:nvSpPr>
        <p:spPr>
          <a:xfrm>
            <a:off x="5943600" y="2642615"/>
            <a:ext cx="5568696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[群体结论2：具体怎样做事]</a:t>
            </a:r>
          </a:p>
        </p:txBody>
      </p:sp>
      <p:sp>
        <p:nvSpPr>
          <p:cNvPr id="39" name="m4.finding1.body"/>
          <p:cNvSpPr txBox="1"/>
          <p:nvPr/>
        </p:nvSpPr>
        <p:spPr>
          <a:xfrm>
            <a:off x="5943600" y="3044952"/>
            <a:ext cx="5504688" cy="1280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[在任务中的可能表现；对理解、推进或合作的影响。]</a:t>
            </a:r>
          </a:p>
        </p:txBody>
      </p:sp>
      <p:sp>
        <p:nvSpPr>
          <p:cNvPr id="40" name="m4.finding1.evidence"/>
          <p:cNvSpPr txBox="1"/>
          <p:nvPr/>
        </p:nvSpPr>
        <p:spPr>
          <a:xfrm>
            <a:off x="5943600" y="3319272"/>
            <a:ext cx="5513832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依据：{本批分布或关键统计}</a:t>
            </a:r>
          </a:p>
        </p:txBody>
      </p:sp>
      <p:sp>
        <p:nvSpPr>
          <p:cNvPr id="41" name="m4.finding2.bg"/>
          <p:cNvSpPr/>
          <p:nvPr/>
        </p:nvSpPr>
        <p:spPr>
          <a:xfrm>
            <a:off x="5724144" y="3703320"/>
            <a:ext cx="5925312" cy="1024128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4.finding2.stripe"/>
          <p:cNvSpPr/>
          <p:nvPr/>
        </p:nvSpPr>
        <p:spPr>
          <a:xfrm>
            <a:off x="5833872" y="3877056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4.finding2.title"/>
          <p:cNvSpPr txBox="1"/>
          <p:nvPr/>
        </p:nvSpPr>
        <p:spPr>
          <a:xfrm>
            <a:off x="5943600" y="3785615"/>
            <a:ext cx="5568696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[群体结论3：具体怎样做事]</a:t>
            </a:r>
          </a:p>
        </p:txBody>
      </p:sp>
      <p:sp>
        <p:nvSpPr>
          <p:cNvPr id="44" name="m4.finding2.body"/>
          <p:cNvSpPr txBox="1"/>
          <p:nvPr/>
        </p:nvSpPr>
        <p:spPr>
          <a:xfrm>
            <a:off x="5943600" y="4187952"/>
            <a:ext cx="5504688" cy="1280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[在任务中的可能表现；对理解、推进或合作的影响。]</a:t>
            </a:r>
          </a:p>
        </p:txBody>
      </p:sp>
      <p:sp>
        <p:nvSpPr>
          <p:cNvPr id="45" name="m4.finding2.evidence"/>
          <p:cNvSpPr txBox="1"/>
          <p:nvPr/>
        </p:nvSpPr>
        <p:spPr>
          <a:xfrm>
            <a:off x="5943600" y="4462272"/>
            <a:ext cx="5513832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依据：{本批分布或关键统计}</a:t>
            </a:r>
          </a:p>
        </p:txBody>
      </p:sp>
      <p:sp>
        <p:nvSpPr>
          <p:cNvPr id="46" name="m4.diff.heading"/>
          <p:cNvSpPr txBox="1"/>
          <p:nvPr/>
        </p:nvSpPr>
        <p:spPr>
          <a:xfrm>
            <a:off x="621792" y="5001768"/>
            <a:ext cx="10972800" cy="24688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63345"/>
                </a:solidFill>
                <a:latin typeface="Noto Sans CJK SC"/>
              </a:rPr>
              <a:t>差异个体：有依据时兼顾高于与低于群体的不同做法</a:t>
            </a:r>
          </a:p>
        </p:txBody>
      </p:sp>
      <p:sp>
        <p:nvSpPr>
          <p:cNvPr id="47" name="m4.diff0.bg"/>
          <p:cNvSpPr/>
          <p:nvPr/>
        </p:nvSpPr>
        <p:spPr>
          <a:xfrm>
            <a:off x="594360" y="5376672"/>
            <a:ext cx="3657600" cy="987552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4.diff0.title"/>
          <p:cNvSpPr txBox="1"/>
          <p:nvPr/>
        </p:nvSpPr>
        <p:spPr>
          <a:xfrm>
            <a:off x="713232" y="5440680"/>
            <a:ext cx="3419856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078F5"/>
                </a:solidFill>
                <a:latin typeface="Noto Sans CJK SC"/>
              </a:rPr>
              <a:t>{显示名/编号}｜{与群体不同在哪里}</a:t>
            </a:r>
          </a:p>
        </p:txBody>
      </p:sp>
      <p:sp>
        <p:nvSpPr>
          <p:cNvPr id="49" name="m4.diff0.body"/>
          <p:cNvSpPr txBox="1"/>
          <p:nvPr/>
        </p:nvSpPr>
        <p:spPr>
          <a:xfrm>
            <a:off x="713232" y="5742432"/>
            <a:ext cx="3419856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[可能的做法与工作影响；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不能直接套用群体结论。]</a:t>
            </a:r>
          </a:p>
        </p:txBody>
      </p:sp>
      <p:sp>
        <p:nvSpPr>
          <p:cNvPr id="50" name="m4.diff0.evidence"/>
          <p:cNvSpPr txBox="1"/>
          <p:nvPr/>
        </p:nvSpPr>
        <p:spPr>
          <a:xfrm>
            <a:off x="713232" y="6144768"/>
            <a:ext cx="341985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F7B8D"/>
                </a:solidFill>
                <a:latin typeface="Noto Sans CJK SC"/>
              </a:rPr>
              <a:t>依据：{个人/群体；必要时补HPI组合}</a:t>
            </a:r>
          </a:p>
        </p:txBody>
      </p:sp>
      <p:sp>
        <p:nvSpPr>
          <p:cNvPr id="51" name="m4.diff1.bg"/>
          <p:cNvSpPr/>
          <p:nvPr/>
        </p:nvSpPr>
        <p:spPr>
          <a:xfrm>
            <a:off x="4425696" y="5376672"/>
            <a:ext cx="3657600" cy="987552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4.diff1.title"/>
          <p:cNvSpPr txBox="1"/>
          <p:nvPr/>
        </p:nvSpPr>
        <p:spPr>
          <a:xfrm>
            <a:off x="4544568" y="5440680"/>
            <a:ext cx="3419856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078F5"/>
                </a:solidFill>
                <a:latin typeface="Noto Sans CJK SC"/>
              </a:rPr>
              <a:t>{显示名/编号}｜{与群体不同在哪里}</a:t>
            </a:r>
          </a:p>
        </p:txBody>
      </p:sp>
      <p:sp>
        <p:nvSpPr>
          <p:cNvPr id="53" name="m4.diff1.body"/>
          <p:cNvSpPr txBox="1"/>
          <p:nvPr/>
        </p:nvSpPr>
        <p:spPr>
          <a:xfrm>
            <a:off x="4544568" y="5742432"/>
            <a:ext cx="3419856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[可能的做法与工作影响；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不能直接套用群体结论。]</a:t>
            </a:r>
          </a:p>
        </p:txBody>
      </p:sp>
      <p:sp>
        <p:nvSpPr>
          <p:cNvPr id="54" name="m4.diff1.evidence"/>
          <p:cNvSpPr txBox="1"/>
          <p:nvPr/>
        </p:nvSpPr>
        <p:spPr>
          <a:xfrm>
            <a:off x="4544568" y="6144768"/>
            <a:ext cx="341985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F7B8D"/>
                </a:solidFill>
                <a:latin typeface="Noto Sans CJK SC"/>
              </a:rPr>
              <a:t>依据：{个人/群体；必要时补HPI组合}</a:t>
            </a:r>
          </a:p>
        </p:txBody>
      </p:sp>
      <p:sp>
        <p:nvSpPr>
          <p:cNvPr id="55" name="m4.diff2.bg"/>
          <p:cNvSpPr/>
          <p:nvPr/>
        </p:nvSpPr>
        <p:spPr>
          <a:xfrm>
            <a:off x="8257032" y="5376672"/>
            <a:ext cx="3657600" cy="987552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4.diff2.title"/>
          <p:cNvSpPr txBox="1"/>
          <p:nvPr/>
        </p:nvSpPr>
        <p:spPr>
          <a:xfrm>
            <a:off x="8375904" y="5440680"/>
            <a:ext cx="3419856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078F5"/>
                </a:solidFill>
                <a:latin typeface="Noto Sans CJK SC"/>
              </a:rPr>
              <a:t>{显示名/编号}｜{与群体不同在哪里}</a:t>
            </a:r>
          </a:p>
        </p:txBody>
      </p:sp>
      <p:sp>
        <p:nvSpPr>
          <p:cNvPr id="57" name="m4.diff2.body"/>
          <p:cNvSpPr txBox="1"/>
          <p:nvPr/>
        </p:nvSpPr>
        <p:spPr>
          <a:xfrm>
            <a:off x="8375904" y="5742432"/>
            <a:ext cx="3419856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[可能的做法与工作影响；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不能直接套用群体结论。]</a:t>
            </a:r>
          </a:p>
        </p:txBody>
      </p:sp>
      <p:sp>
        <p:nvSpPr>
          <p:cNvPr id="58" name="m4.diff2.evidence"/>
          <p:cNvSpPr txBox="1"/>
          <p:nvPr/>
        </p:nvSpPr>
        <p:spPr>
          <a:xfrm>
            <a:off x="8375904" y="6144768"/>
            <a:ext cx="341985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F7B8D"/>
                </a:solidFill>
                <a:latin typeface="Noto Sans CJK SC"/>
              </a:rPr>
              <a:t>依据：{个人/群体；必要时补HPI组合}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5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5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团队角色：{覆盖了什么，哪些工作需要主动安排}</a:t>
            </a:r>
          </a:p>
        </p:txBody>
      </p:sp>
      <p:sp>
        <p:nvSpPr>
          <p:cNvPr id="4" name="p5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角色覆盖  /  先确认项目公式；同一成员可兼有多个角色</a:t>
            </a:r>
          </a:p>
        </p:txBody>
      </p:sp>
      <p:cxnSp>
        <p:nvCxnSpPr>
          <p:cNvPr id="5" name="p5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5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05</a:t>
            </a:r>
          </a:p>
        </p:txBody>
      </p:sp>
      <p:cxnSp>
        <p:nvCxnSpPr>
          <p:cNvPr id="7" name="p5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5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5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p5.roles.ring0.2"/>
          <p:cNvSpPr/>
          <p:nvPr/>
        </p:nvSpPr>
        <p:spPr>
          <a:xfrm>
            <a:off x="2744946" y="3331168"/>
            <a:ext cx="581722" cy="581722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5.roles.ring0.4"/>
          <p:cNvSpPr/>
          <p:nvPr/>
        </p:nvSpPr>
        <p:spPr>
          <a:xfrm>
            <a:off x="2454085" y="3040306"/>
            <a:ext cx="1163445" cy="1163445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5.roles.ring0.6"/>
          <p:cNvSpPr/>
          <p:nvPr/>
        </p:nvSpPr>
        <p:spPr>
          <a:xfrm>
            <a:off x="2163223" y="2749445"/>
            <a:ext cx="1745168" cy="1745168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5.roles.ring0.8"/>
          <p:cNvSpPr/>
          <p:nvPr/>
        </p:nvSpPr>
        <p:spPr>
          <a:xfrm>
            <a:off x="1872362" y="2458583"/>
            <a:ext cx="2326891" cy="2326891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5.roles.ring1"/>
          <p:cNvSpPr/>
          <p:nvPr/>
        </p:nvSpPr>
        <p:spPr>
          <a:xfrm>
            <a:off x="1581500" y="2167722"/>
            <a:ext cx="2908614" cy="2908614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p5.roles.axis0"/>
          <p:cNvCxnSpPr/>
          <p:nvPr/>
        </p:nvCxnSpPr>
        <p:spPr>
          <a:xfrm flipV="1">
            <a:off x="3035808" y="2167722"/>
            <a:ext cx="0" cy="1454307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5.roles.dim0"/>
          <p:cNvSpPr txBox="1"/>
          <p:nvPr/>
        </p:nvSpPr>
        <p:spPr>
          <a:xfrm>
            <a:off x="2487168" y="1656577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结果</a:t>
            </a:r>
          </a:p>
        </p:txBody>
      </p:sp>
      <p:cxnSp>
        <p:nvCxnSpPr>
          <p:cNvPr id="17" name="p5.roles.axis1"/>
          <p:cNvCxnSpPr/>
          <p:nvPr/>
        </p:nvCxnSpPr>
        <p:spPr>
          <a:xfrm flipV="1">
            <a:off x="3035808" y="3172624"/>
            <a:ext cx="1383128" cy="449405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5.roles.dim1"/>
          <p:cNvSpPr txBox="1"/>
          <p:nvPr/>
        </p:nvSpPr>
        <p:spPr>
          <a:xfrm>
            <a:off x="4160753" y="2872508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关系</a:t>
            </a:r>
          </a:p>
        </p:txBody>
      </p:sp>
      <p:cxnSp>
        <p:nvCxnSpPr>
          <p:cNvPr id="19" name="p5.roles.axis2"/>
          <p:cNvCxnSpPr/>
          <p:nvPr/>
        </p:nvCxnSpPr>
        <p:spPr>
          <a:xfrm>
            <a:off x="3035808" y="3622029"/>
            <a:ext cx="854820" cy="117656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5.roles.dim2"/>
          <p:cNvSpPr txBox="1"/>
          <p:nvPr/>
        </p:nvSpPr>
        <p:spPr>
          <a:xfrm>
            <a:off x="3521500" y="4839926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过程</a:t>
            </a:r>
          </a:p>
        </p:txBody>
      </p:sp>
      <p:cxnSp>
        <p:nvCxnSpPr>
          <p:cNvPr id="21" name="p5.roles.axis3"/>
          <p:cNvCxnSpPr/>
          <p:nvPr/>
        </p:nvCxnSpPr>
        <p:spPr>
          <a:xfrm flipH="1">
            <a:off x="2180987" y="3622029"/>
            <a:ext cx="854821" cy="117656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5.roles.dim3"/>
          <p:cNvSpPr txBox="1"/>
          <p:nvPr/>
        </p:nvSpPr>
        <p:spPr>
          <a:xfrm>
            <a:off x="1452835" y="4839926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创新</a:t>
            </a:r>
          </a:p>
        </p:txBody>
      </p:sp>
      <p:cxnSp>
        <p:nvCxnSpPr>
          <p:cNvPr id="23" name="p5.roles.axis4"/>
          <p:cNvCxnSpPr/>
          <p:nvPr/>
        </p:nvCxnSpPr>
        <p:spPr>
          <a:xfrm flipH="1" flipV="1">
            <a:off x="1652679" y="3172624"/>
            <a:ext cx="1383129" cy="449405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5.roles.dim4"/>
          <p:cNvSpPr txBox="1"/>
          <p:nvPr/>
        </p:nvSpPr>
        <p:spPr>
          <a:xfrm>
            <a:off x="813582" y="2872508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务实</a:t>
            </a:r>
          </a:p>
        </p:txBody>
      </p:sp>
      <p:sp>
        <p:nvSpPr>
          <p:cNvPr id="25" name="p5.roles.caption.bg"/>
          <p:cNvSpPr/>
          <p:nvPr/>
        </p:nvSpPr>
        <p:spPr>
          <a:xfrm>
            <a:off x="1532534" y="3338565"/>
            <a:ext cx="3006547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5.roles.replace"/>
          <p:cNvSpPr txBox="1"/>
          <p:nvPr/>
        </p:nvSpPr>
        <p:spPr>
          <a:xfrm>
            <a:off x="1582643" y="3356853"/>
            <a:ext cx="2906328" cy="5303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填入按认可规则统计的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角色人数与占比</a:t>
            </a:r>
          </a:p>
        </p:txBody>
      </p:sp>
      <p:sp>
        <p:nvSpPr>
          <p:cNvPr id="27" name="p5.finding0.bg"/>
          <p:cNvSpPr/>
          <p:nvPr/>
        </p:nvSpPr>
        <p:spPr>
          <a:xfrm>
            <a:off x="5815584" y="1481328"/>
            <a:ext cx="5824728" cy="1188720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5.finding0.stripe"/>
          <p:cNvSpPr/>
          <p:nvPr/>
        </p:nvSpPr>
        <p:spPr>
          <a:xfrm>
            <a:off x="5925312" y="1655064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5.finding0.title"/>
          <p:cNvSpPr txBox="1"/>
          <p:nvPr/>
        </p:nvSpPr>
        <p:spPr>
          <a:xfrm>
            <a:off x="6035040" y="1563624"/>
            <a:ext cx="5468112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[优势：哪些自然倾向覆盖较多]</a:t>
            </a:r>
          </a:p>
        </p:txBody>
      </p:sp>
      <p:sp>
        <p:nvSpPr>
          <p:cNvPr id="30" name="p5.finding0.body"/>
          <p:cNvSpPr txBox="1"/>
          <p:nvPr/>
        </p:nvSpPr>
        <p:spPr>
          <a:xfrm>
            <a:off x="6035040" y="1965960"/>
            <a:ext cx="5404104" cy="29260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[写出在真实任务中可能怎样发挥作用，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不要把角色人数等同实际能力。]</a:t>
            </a:r>
          </a:p>
        </p:txBody>
      </p:sp>
      <p:sp>
        <p:nvSpPr>
          <p:cNvPr id="31" name="p5.finding0.evidence"/>
          <p:cNvSpPr txBox="1"/>
          <p:nvPr/>
        </p:nvSpPr>
        <p:spPr>
          <a:xfrm>
            <a:off x="6035040" y="2404872"/>
            <a:ext cx="5413248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依据：{人数 / N；公式见备注}</a:t>
            </a:r>
          </a:p>
        </p:txBody>
      </p:sp>
      <p:sp>
        <p:nvSpPr>
          <p:cNvPr id="32" name="p5.finding1.bg"/>
          <p:cNvSpPr/>
          <p:nvPr/>
        </p:nvSpPr>
        <p:spPr>
          <a:xfrm>
            <a:off x="5815584" y="2798064"/>
            <a:ext cx="5824728" cy="1188720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5.finding1.stripe"/>
          <p:cNvSpPr/>
          <p:nvPr/>
        </p:nvSpPr>
        <p:spPr>
          <a:xfrm>
            <a:off x="5925312" y="2971800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5.finding1.title"/>
          <p:cNvSpPr txBox="1"/>
          <p:nvPr/>
        </p:nvSpPr>
        <p:spPr>
          <a:xfrm>
            <a:off x="6035040" y="2880360"/>
            <a:ext cx="5468112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[工作安排：哪些方面要形成配合]</a:t>
            </a:r>
          </a:p>
        </p:txBody>
      </p:sp>
      <p:sp>
        <p:nvSpPr>
          <p:cNvPr id="35" name="p5.finding1.body"/>
          <p:cNvSpPr txBox="1"/>
          <p:nvPr/>
        </p:nvSpPr>
        <p:spPr>
          <a:xfrm>
            <a:off x="6035040" y="3282696"/>
            <a:ext cx="5404104" cy="29260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[谁偏探索、谁重计划，怎样避免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任务无人跟进或反复修改。]</a:t>
            </a:r>
          </a:p>
        </p:txBody>
      </p:sp>
      <p:sp>
        <p:nvSpPr>
          <p:cNvPr id="36" name="p5.finding1.evidence"/>
          <p:cNvSpPr txBox="1"/>
          <p:nvPr/>
        </p:nvSpPr>
        <p:spPr>
          <a:xfrm>
            <a:off x="6035040" y="3721608"/>
            <a:ext cx="5413248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依据：{人数 / N；公式见备注}</a:t>
            </a:r>
          </a:p>
        </p:txBody>
      </p:sp>
      <p:sp>
        <p:nvSpPr>
          <p:cNvPr id="37" name="p5.finding2.bg"/>
          <p:cNvSpPr/>
          <p:nvPr/>
        </p:nvSpPr>
        <p:spPr>
          <a:xfrm>
            <a:off x="5815584" y="4114800"/>
            <a:ext cx="5824728" cy="1188720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5.finding2.stripe"/>
          <p:cNvSpPr/>
          <p:nvPr/>
        </p:nvSpPr>
        <p:spPr>
          <a:xfrm>
            <a:off x="5925312" y="4288536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5.finding2.title"/>
          <p:cNvSpPr txBox="1"/>
          <p:nvPr/>
        </p:nvSpPr>
        <p:spPr>
          <a:xfrm>
            <a:off x="6035040" y="4197096"/>
            <a:ext cx="5468112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[边界：角色缺位不等于没有能力]</a:t>
            </a:r>
          </a:p>
        </p:txBody>
      </p:sp>
      <p:sp>
        <p:nvSpPr>
          <p:cNvPr id="40" name="p5.finding2.body"/>
          <p:cNvSpPr txBox="1"/>
          <p:nvPr/>
        </p:nvSpPr>
        <p:spPr>
          <a:xfrm>
            <a:off x="6035040" y="4599432"/>
            <a:ext cx="5404104" cy="29260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[未满足阈值只说明规则下未计入，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不能据此判断有人不会做这类工作。]</a:t>
            </a:r>
          </a:p>
        </p:txBody>
      </p:sp>
      <p:sp>
        <p:nvSpPr>
          <p:cNvPr id="41" name="p5.finding2.evidence"/>
          <p:cNvSpPr txBox="1"/>
          <p:nvPr/>
        </p:nvSpPr>
        <p:spPr>
          <a:xfrm>
            <a:off x="6035040" y="5038344"/>
            <a:ext cx="5413248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依据：{人数 / N；公式见备注}</a:t>
            </a:r>
          </a:p>
        </p:txBody>
      </p:sp>
      <p:sp>
        <p:nvSpPr>
          <p:cNvPr id="42" name="p5.rules"/>
          <p:cNvSpPr txBox="1"/>
          <p:nvPr/>
        </p:nvSpPr>
        <p:spPr>
          <a:xfrm>
            <a:off x="658368" y="5971032"/>
            <a:ext cx="10927080" cy="3017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7B8D"/>
                </a:solidFill>
                <a:latin typeface="Noto Sans CJK SC"/>
              </a:rPr>
              <a:t>规则：[填经确认的公式与来源]；占比=角色人数÷N，同一人可重复计入不同角色。无认可规则时不统计。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6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6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HDS：{压力下哪些行为更值得观察}</a:t>
            </a:r>
          </a:p>
        </p:txBody>
      </p:sp>
      <p:sp>
        <p:nvSpPr>
          <p:cNvPr id="4" name="p6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压力倾向  /  群体主量表 → 可得子维度 → 场景与工作影响</a:t>
            </a:r>
          </a:p>
        </p:txBody>
      </p:sp>
      <p:cxnSp>
        <p:nvCxnSpPr>
          <p:cNvPr id="5" name="p6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6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06</a:t>
            </a:r>
          </a:p>
        </p:txBody>
      </p:sp>
      <p:cxnSp>
        <p:nvCxnSpPr>
          <p:cNvPr id="7" name="p6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6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6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p6.radar.ring0.2"/>
          <p:cNvSpPr/>
          <p:nvPr/>
        </p:nvSpPr>
        <p:spPr>
          <a:xfrm>
            <a:off x="2584926" y="3541480"/>
            <a:ext cx="581722" cy="581722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6.radar.ring0.4"/>
          <p:cNvSpPr/>
          <p:nvPr/>
        </p:nvSpPr>
        <p:spPr>
          <a:xfrm>
            <a:off x="2294065" y="3250618"/>
            <a:ext cx="1163445" cy="1163445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6.radar.ring0.6"/>
          <p:cNvSpPr/>
          <p:nvPr/>
        </p:nvSpPr>
        <p:spPr>
          <a:xfrm>
            <a:off x="2003203" y="2959757"/>
            <a:ext cx="1745168" cy="1745168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6.radar.ring0.8"/>
          <p:cNvSpPr/>
          <p:nvPr/>
        </p:nvSpPr>
        <p:spPr>
          <a:xfrm>
            <a:off x="1712342" y="2668895"/>
            <a:ext cx="2326891" cy="2326891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6.radar.ring1"/>
          <p:cNvSpPr/>
          <p:nvPr/>
        </p:nvSpPr>
        <p:spPr>
          <a:xfrm>
            <a:off x="1421480" y="2378034"/>
            <a:ext cx="2908614" cy="2908614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p6.radar.axis0"/>
          <p:cNvCxnSpPr/>
          <p:nvPr/>
        </p:nvCxnSpPr>
        <p:spPr>
          <a:xfrm flipV="1">
            <a:off x="2875788" y="2378034"/>
            <a:ext cx="0" cy="1454307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6.radar.dim0"/>
          <p:cNvSpPr txBox="1"/>
          <p:nvPr/>
        </p:nvSpPr>
        <p:spPr>
          <a:xfrm>
            <a:off x="2327148" y="1866889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激动</a:t>
            </a:r>
          </a:p>
        </p:txBody>
      </p:sp>
      <p:cxnSp>
        <p:nvCxnSpPr>
          <p:cNvPr id="17" name="p6.radar.axis1"/>
          <p:cNvCxnSpPr/>
          <p:nvPr/>
        </p:nvCxnSpPr>
        <p:spPr>
          <a:xfrm flipV="1">
            <a:off x="2875788" y="2608900"/>
            <a:ext cx="786257" cy="122344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6.radar.dim1"/>
          <p:cNvSpPr txBox="1"/>
          <p:nvPr/>
        </p:nvSpPr>
        <p:spPr>
          <a:xfrm>
            <a:off x="3278520" y="2146237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多疑</a:t>
            </a:r>
          </a:p>
        </p:txBody>
      </p:sp>
      <p:cxnSp>
        <p:nvCxnSpPr>
          <p:cNvPr id="19" name="p6.radar.axis2"/>
          <p:cNvCxnSpPr/>
          <p:nvPr/>
        </p:nvCxnSpPr>
        <p:spPr>
          <a:xfrm flipV="1">
            <a:off x="2875788" y="3228200"/>
            <a:ext cx="1322884" cy="60414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6.radar.dim2"/>
          <p:cNvSpPr txBox="1"/>
          <p:nvPr/>
        </p:nvSpPr>
        <p:spPr>
          <a:xfrm>
            <a:off x="3927838" y="2895591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谨慎</a:t>
            </a:r>
          </a:p>
        </p:txBody>
      </p:sp>
      <p:cxnSp>
        <p:nvCxnSpPr>
          <p:cNvPr id="21" name="p6.radar.axis3"/>
          <p:cNvCxnSpPr/>
          <p:nvPr/>
        </p:nvCxnSpPr>
        <p:spPr>
          <a:xfrm>
            <a:off x="2875788" y="3832341"/>
            <a:ext cx="1439504" cy="20697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6.radar.dim3"/>
          <p:cNvSpPr txBox="1"/>
          <p:nvPr/>
        </p:nvSpPr>
        <p:spPr>
          <a:xfrm>
            <a:off x="4068948" y="3877034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内敛</a:t>
            </a:r>
          </a:p>
        </p:txBody>
      </p:sp>
      <p:cxnSp>
        <p:nvCxnSpPr>
          <p:cNvPr id="23" name="p6.radar.axis4"/>
          <p:cNvCxnSpPr/>
          <p:nvPr/>
        </p:nvCxnSpPr>
        <p:spPr>
          <a:xfrm>
            <a:off x="2875788" y="3832341"/>
            <a:ext cx="1099092" cy="952369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6.radar.dim4"/>
          <p:cNvSpPr txBox="1"/>
          <p:nvPr/>
        </p:nvSpPr>
        <p:spPr>
          <a:xfrm>
            <a:off x="3657049" y="4778968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消极</a:t>
            </a:r>
          </a:p>
        </p:txBody>
      </p:sp>
      <p:cxnSp>
        <p:nvCxnSpPr>
          <p:cNvPr id="25" name="p6.radar.axis5"/>
          <p:cNvCxnSpPr/>
          <p:nvPr/>
        </p:nvCxnSpPr>
        <p:spPr>
          <a:xfrm>
            <a:off x="2875788" y="3832341"/>
            <a:ext cx="409725" cy="139539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6.radar.dim5"/>
          <p:cNvSpPr txBox="1"/>
          <p:nvPr/>
        </p:nvSpPr>
        <p:spPr>
          <a:xfrm>
            <a:off x="2822916" y="5315033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自大</a:t>
            </a:r>
          </a:p>
        </p:txBody>
      </p:sp>
      <p:cxnSp>
        <p:nvCxnSpPr>
          <p:cNvPr id="27" name="p6.radar.axis6"/>
          <p:cNvCxnSpPr/>
          <p:nvPr/>
        </p:nvCxnSpPr>
        <p:spPr>
          <a:xfrm flipH="1">
            <a:off x="2466062" y="3832341"/>
            <a:ext cx="409726" cy="139539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6.radar.dim6"/>
          <p:cNvSpPr txBox="1"/>
          <p:nvPr/>
        </p:nvSpPr>
        <p:spPr>
          <a:xfrm>
            <a:off x="1831379" y="5315033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狡猾</a:t>
            </a:r>
          </a:p>
        </p:txBody>
      </p:sp>
      <p:cxnSp>
        <p:nvCxnSpPr>
          <p:cNvPr id="29" name="p6.radar.axis7"/>
          <p:cNvCxnSpPr/>
          <p:nvPr/>
        </p:nvCxnSpPr>
        <p:spPr>
          <a:xfrm flipH="1">
            <a:off x="1776695" y="3832341"/>
            <a:ext cx="1099093" cy="952369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p6.radar.dim7"/>
          <p:cNvSpPr txBox="1"/>
          <p:nvPr/>
        </p:nvSpPr>
        <p:spPr>
          <a:xfrm>
            <a:off x="997246" y="4778968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戏剧化</a:t>
            </a:r>
          </a:p>
        </p:txBody>
      </p:sp>
      <p:cxnSp>
        <p:nvCxnSpPr>
          <p:cNvPr id="31" name="p6.radar.axis8"/>
          <p:cNvCxnSpPr/>
          <p:nvPr/>
        </p:nvCxnSpPr>
        <p:spPr>
          <a:xfrm flipH="1">
            <a:off x="1436283" y="3832341"/>
            <a:ext cx="1439505" cy="20697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6.radar.dim8"/>
          <p:cNvSpPr txBox="1"/>
          <p:nvPr/>
        </p:nvSpPr>
        <p:spPr>
          <a:xfrm>
            <a:off x="585347" y="3877034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幻想</a:t>
            </a:r>
          </a:p>
        </p:txBody>
      </p:sp>
      <p:cxnSp>
        <p:nvCxnSpPr>
          <p:cNvPr id="33" name="p6.radar.axis9"/>
          <p:cNvCxnSpPr/>
          <p:nvPr/>
        </p:nvCxnSpPr>
        <p:spPr>
          <a:xfrm flipH="1" flipV="1">
            <a:off x="1552903" y="3228200"/>
            <a:ext cx="1322885" cy="60414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6.radar.dim9"/>
          <p:cNvSpPr txBox="1"/>
          <p:nvPr/>
        </p:nvSpPr>
        <p:spPr>
          <a:xfrm>
            <a:off x="726457" y="2895591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苛求</a:t>
            </a:r>
          </a:p>
        </p:txBody>
      </p:sp>
      <p:cxnSp>
        <p:nvCxnSpPr>
          <p:cNvPr id="35" name="p6.radar.axis10"/>
          <p:cNvCxnSpPr/>
          <p:nvPr/>
        </p:nvCxnSpPr>
        <p:spPr>
          <a:xfrm flipH="1" flipV="1">
            <a:off x="2089530" y="2608900"/>
            <a:ext cx="786258" cy="122344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p6.radar.dim10"/>
          <p:cNvSpPr txBox="1"/>
          <p:nvPr/>
        </p:nvSpPr>
        <p:spPr>
          <a:xfrm>
            <a:off x="1375775" y="2146237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恭顺</a:t>
            </a:r>
          </a:p>
        </p:txBody>
      </p:sp>
      <p:sp>
        <p:nvSpPr>
          <p:cNvPr id="37" name="p6.radar.caption.bg"/>
          <p:cNvSpPr/>
          <p:nvPr/>
        </p:nvSpPr>
        <p:spPr>
          <a:xfrm>
            <a:off x="1435608" y="3548877"/>
            <a:ext cx="2880360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6.radar.replace"/>
          <p:cNvSpPr txBox="1"/>
          <p:nvPr/>
        </p:nvSpPr>
        <p:spPr>
          <a:xfrm>
            <a:off x="1483614" y="3567165"/>
            <a:ext cx="2784348" cy="5303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插入本批HDS群体雷达图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只按真实分值绘制</a:t>
            </a:r>
          </a:p>
        </p:txBody>
      </p:sp>
      <p:sp>
        <p:nvSpPr>
          <p:cNvPr id="39" name="p6.risk0.bg"/>
          <p:cNvSpPr/>
          <p:nvPr/>
        </p:nvSpPr>
        <p:spPr>
          <a:xfrm>
            <a:off x="5541264" y="1463040"/>
            <a:ext cx="2962656" cy="2075688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6.risk0.title"/>
          <p:cNvSpPr txBox="1"/>
          <p:nvPr/>
        </p:nvSpPr>
        <p:spPr>
          <a:xfrm>
            <a:off x="5696712" y="1581912"/>
            <a:ext cx="2651760" cy="3017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565B"/>
                </a:solidFill>
                <a:latin typeface="Noto Sans CJK SC"/>
              </a:rPr>
              <a:t>{重点量表 1}</a:t>
            </a:r>
          </a:p>
        </p:txBody>
      </p:sp>
      <p:sp>
        <p:nvSpPr>
          <p:cNvPr id="41" name="p6.risk0.counts"/>
          <p:cNvSpPr txBox="1"/>
          <p:nvPr/>
        </p:nvSpPr>
        <p:spPr>
          <a:xfrm>
            <a:off x="5696712" y="1975104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F7B8D"/>
                </a:solidFill>
                <a:latin typeface="Noto Sans CJK SC"/>
              </a:rPr>
              <a:t>{达到关注区间的人数 / N}</a:t>
            </a:r>
          </a:p>
        </p:txBody>
      </p:sp>
      <p:sp>
        <p:nvSpPr>
          <p:cNvPr id="42" name="p6.risk0.body"/>
          <p:cNvSpPr txBox="1"/>
          <p:nvPr/>
        </p:nvSpPr>
        <p:spPr>
          <a:xfrm>
            <a:off x="5696712" y="2340864"/>
            <a:ext cx="2651760" cy="67665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[什么情境下可能怎样做；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会让哪一步工作受影响；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具体要观察什么。]</a:t>
            </a:r>
          </a:p>
        </p:txBody>
      </p:sp>
      <p:sp>
        <p:nvSpPr>
          <p:cNvPr id="43" name="p6.risk0.subscale"/>
          <p:cNvSpPr txBox="1"/>
          <p:nvPr/>
        </p:nvSpPr>
        <p:spPr>
          <a:xfrm>
            <a:off x="5696712" y="3209544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依据：{主量表分布 / 实际来源}</a:t>
            </a:r>
          </a:p>
        </p:txBody>
      </p:sp>
      <p:sp>
        <p:nvSpPr>
          <p:cNvPr id="44" name="p6.risk1.bg"/>
          <p:cNvSpPr/>
          <p:nvPr/>
        </p:nvSpPr>
        <p:spPr>
          <a:xfrm>
            <a:off x="8650224" y="1463040"/>
            <a:ext cx="2962656" cy="2075688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6.risk1.title"/>
          <p:cNvSpPr txBox="1"/>
          <p:nvPr/>
        </p:nvSpPr>
        <p:spPr>
          <a:xfrm>
            <a:off x="8805672" y="1581912"/>
            <a:ext cx="2651760" cy="3017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565B"/>
                </a:solidFill>
                <a:latin typeface="Noto Sans CJK SC"/>
              </a:rPr>
              <a:t>{重点量表 2}</a:t>
            </a:r>
          </a:p>
        </p:txBody>
      </p:sp>
      <p:sp>
        <p:nvSpPr>
          <p:cNvPr id="46" name="p6.risk1.counts"/>
          <p:cNvSpPr txBox="1"/>
          <p:nvPr/>
        </p:nvSpPr>
        <p:spPr>
          <a:xfrm>
            <a:off x="8805672" y="1975104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F7B8D"/>
                </a:solidFill>
                <a:latin typeface="Noto Sans CJK SC"/>
              </a:rPr>
              <a:t>{达到关注区间的人数 / N}</a:t>
            </a:r>
          </a:p>
        </p:txBody>
      </p:sp>
      <p:sp>
        <p:nvSpPr>
          <p:cNvPr id="47" name="p6.risk1.body"/>
          <p:cNvSpPr txBox="1"/>
          <p:nvPr/>
        </p:nvSpPr>
        <p:spPr>
          <a:xfrm>
            <a:off x="8805672" y="2340864"/>
            <a:ext cx="2651760" cy="67665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[什么情境下可能怎样做；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会让哪一步工作受影响；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具体要观察什么。]</a:t>
            </a:r>
          </a:p>
        </p:txBody>
      </p:sp>
      <p:sp>
        <p:nvSpPr>
          <p:cNvPr id="48" name="p6.risk1.subscale"/>
          <p:cNvSpPr txBox="1"/>
          <p:nvPr/>
        </p:nvSpPr>
        <p:spPr>
          <a:xfrm>
            <a:off x="8805672" y="3209544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依据：{主量表分布 / 实际来源}</a:t>
            </a:r>
          </a:p>
        </p:txBody>
      </p:sp>
      <p:sp>
        <p:nvSpPr>
          <p:cNvPr id="49" name="p6.risk2.bg"/>
          <p:cNvSpPr/>
          <p:nvPr/>
        </p:nvSpPr>
        <p:spPr>
          <a:xfrm>
            <a:off x="5541264" y="3721608"/>
            <a:ext cx="2962656" cy="2075688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6.risk2.title"/>
          <p:cNvSpPr txBox="1"/>
          <p:nvPr/>
        </p:nvSpPr>
        <p:spPr>
          <a:xfrm>
            <a:off x="5696712" y="3840480"/>
            <a:ext cx="2651760" cy="3017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565B"/>
                </a:solidFill>
                <a:latin typeface="Noto Sans CJK SC"/>
              </a:rPr>
              <a:t>{重点量表 3}</a:t>
            </a:r>
          </a:p>
        </p:txBody>
      </p:sp>
      <p:sp>
        <p:nvSpPr>
          <p:cNvPr id="51" name="p6.risk2.counts"/>
          <p:cNvSpPr txBox="1"/>
          <p:nvPr/>
        </p:nvSpPr>
        <p:spPr>
          <a:xfrm>
            <a:off x="5696712" y="4233672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F7B8D"/>
                </a:solidFill>
                <a:latin typeface="Noto Sans CJK SC"/>
              </a:rPr>
              <a:t>{达到关注区间的人数 / N}</a:t>
            </a:r>
          </a:p>
        </p:txBody>
      </p:sp>
      <p:sp>
        <p:nvSpPr>
          <p:cNvPr id="52" name="p6.risk2.body"/>
          <p:cNvSpPr txBox="1"/>
          <p:nvPr/>
        </p:nvSpPr>
        <p:spPr>
          <a:xfrm>
            <a:off x="5696712" y="4599432"/>
            <a:ext cx="2651760" cy="67665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[什么情境下可能怎样做；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会让哪一步工作受影响；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具体要观察什么。]</a:t>
            </a:r>
          </a:p>
        </p:txBody>
      </p:sp>
      <p:sp>
        <p:nvSpPr>
          <p:cNvPr id="53" name="p6.risk2.subscale"/>
          <p:cNvSpPr txBox="1"/>
          <p:nvPr/>
        </p:nvSpPr>
        <p:spPr>
          <a:xfrm>
            <a:off x="5696712" y="5468112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依据：{主量表分布 / 实际来源}</a:t>
            </a:r>
          </a:p>
        </p:txBody>
      </p:sp>
      <p:sp>
        <p:nvSpPr>
          <p:cNvPr id="54" name="p6.risk3.bg"/>
          <p:cNvSpPr/>
          <p:nvPr/>
        </p:nvSpPr>
        <p:spPr>
          <a:xfrm>
            <a:off x="8650224" y="3721608"/>
            <a:ext cx="2962656" cy="2075688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6.risk3.title"/>
          <p:cNvSpPr txBox="1"/>
          <p:nvPr/>
        </p:nvSpPr>
        <p:spPr>
          <a:xfrm>
            <a:off x="8805672" y="3840480"/>
            <a:ext cx="2651760" cy="3017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565B"/>
                </a:solidFill>
                <a:latin typeface="Noto Sans CJK SC"/>
              </a:rPr>
              <a:t>{重点量表 4}</a:t>
            </a:r>
          </a:p>
        </p:txBody>
      </p:sp>
      <p:sp>
        <p:nvSpPr>
          <p:cNvPr id="56" name="p6.risk3.counts"/>
          <p:cNvSpPr txBox="1"/>
          <p:nvPr/>
        </p:nvSpPr>
        <p:spPr>
          <a:xfrm>
            <a:off x="8805672" y="4233672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F7B8D"/>
                </a:solidFill>
                <a:latin typeface="Noto Sans CJK SC"/>
              </a:rPr>
              <a:t>{达到关注区间的人数 / N}</a:t>
            </a:r>
          </a:p>
        </p:txBody>
      </p:sp>
      <p:sp>
        <p:nvSpPr>
          <p:cNvPr id="57" name="p6.risk3.body"/>
          <p:cNvSpPr txBox="1"/>
          <p:nvPr/>
        </p:nvSpPr>
        <p:spPr>
          <a:xfrm>
            <a:off x="8805672" y="4599432"/>
            <a:ext cx="2651760" cy="67665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[什么情境下可能怎样做；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会让哪一步工作受影响；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具体要观察什么。]</a:t>
            </a:r>
          </a:p>
        </p:txBody>
      </p:sp>
      <p:sp>
        <p:nvSpPr>
          <p:cNvPr id="58" name="p6.risk3.subscale"/>
          <p:cNvSpPr txBox="1"/>
          <p:nvPr/>
        </p:nvSpPr>
        <p:spPr>
          <a:xfrm>
            <a:off x="8805672" y="5468112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依据：{主量表分布 / 实际来源}</a:t>
            </a:r>
          </a:p>
        </p:txBody>
      </p:sp>
      <p:sp>
        <p:nvSpPr>
          <p:cNvPr id="59" name="p6.limit"/>
          <p:cNvSpPr txBox="1"/>
          <p:nvPr/>
        </p:nvSpPr>
        <p:spPr>
          <a:xfrm>
            <a:off x="676656" y="6126480"/>
            <a:ext cx="10954512" cy="24688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7B8D"/>
                </a:solidFill>
                <a:latin typeface="Noto Sans CJK SC"/>
              </a:rPr>
              <a:t>主量表分档与子维度“满格”分开。子维度缺页/看不清应注明；重点量表随本批数据选择。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8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8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HDS：{压力反应组合不同，工作关注需要区分}</a:t>
            </a:r>
          </a:p>
        </p:txBody>
      </p:sp>
      <p:sp>
        <p:nvSpPr>
          <p:cNvPr id="4" name="p8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热力图  /  默认编号；实名仅在用户指定、受众授权、映射确认后使用</a:t>
            </a:r>
          </a:p>
        </p:txBody>
      </p:sp>
      <p:cxnSp>
        <p:nvCxnSpPr>
          <p:cNvPr id="5" name="p8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8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08</a:t>
            </a:r>
          </a:p>
        </p:txBody>
      </p:sp>
      <p:cxnSp>
        <p:nvCxnSpPr>
          <p:cNvPr id="7" name="p8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8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8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m8.summary"/>
          <p:cNvSpPr txBox="1"/>
          <p:nvPr/>
        </p:nvSpPr>
        <p:spPr>
          <a:xfrm>
            <a:off x="630936" y="1408176"/>
            <a:ext cx="10972800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63345"/>
                </a:solidFill>
                <a:latin typeface="Noto Sans CJK SC"/>
              </a:rPr>
              <a:t>[先概括本批不同压力组合对协作与交付的主要影响]</a:t>
            </a:r>
          </a:p>
        </p:txBody>
      </p:sp>
      <p:sp>
        <p:nvSpPr>
          <p:cNvPr id="11" name="m8.cell0.0.bg"/>
          <p:cNvSpPr/>
          <p:nvPr/>
        </p:nvSpPr>
        <p:spPr>
          <a:xfrm>
            <a:off x="630936" y="2066543"/>
            <a:ext cx="540562" cy="494298"/>
          </a:xfrm>
          <a:prstGeom prst="rect">
            <a:avLst/>
          </a:prstGeom>
          <a:solidFill>
            <a:srgbClr val="EDF3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8.cell0.0.text"/>
          <p:cNvSpPr txBox="1"/>
          <p:nvPr/>
        </p:nvSpPr>
        <p:spPr>
          <a:xfrm>
            <a:off x="639165" y="209854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078F5"/>
                </a:solidFill>
                <a:latin typeface="Noto Sans CJK SC"/>
              </a:rPr>
              <a:t>显示名</a:t>
            </a:r>
          </a:p>
        </p:txBody>
      </p:sp>
      <p:sp>
        <p:nvSpPr>
          <p:cNvPr id="13" name="m8.cell0.1.bg"/>
          <p:cNvSpPr/>
          <p:nvPr/>
        </p:nvSpPr>
        <p:spPr>
          <a:xfrm>
            <a:off x="1187958" y="2066543"/>
            <a:ext cx="540562" cy="494298"/>
          </a:xfrm>
          <a:prstGeom prst="rect">
            <a:avLst/>
          </a:prstGeom>
          <a:solidFill>
            <a:srgbClr val="EDF3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8.cell0.1.text"/>
          <p:cNvSpPr txBox="1"/>
          <p:nvPr/>
        </p:nvSpPr>
        <p:spPr>
          <a:xfrm>
            <a:off x="1196187" y="209854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3345"/>
                </a:solidFill>
                <a:latin typeface="Noto Sans CJK SC"/>
              </a:rPr>
              <a:t>激动</a:t>
            </a:r>
          </a:p>
        </p:txBody>
      </p:sp>
      <p:sp>
        <p:nvSpPr>
          <p:cNvPr id="15" name="m8.cell0.2.bg"/>
          <p:cNvSpPr/>
          <p:nvPr/>
        </p:nvSpPr>
        <p:spPr>
          <a:xfrm>
            <a:off x="1744980" y="2066543"/>
            <a:ext cx="540562" cy="494298"/>
          </a:xfrm>
          <a:prstGeom prst="rect">
            <a:avLst/>
          </a:prstGeom>
          <a:solidFill>
            <a:srgbClr val="EDF3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8.cell0.2.text"/>
          <p:cNvSpPr txBox="1"/>
          <p:nvPr/>
        </p:nvSpPr>
        <p:spPr>
          <a:xfrm>
            <a:off x="1753209" y="209854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3345"/>
                </a:solidFill>
                <a:latin typeface="Noto Sans CJK SC"/>
              </a:rPr>
              <a:t>多疑</a:t>
            </a:r>
          </a:p>
        </p:txBody>
      </p:sp>
      <p:sp>
        <p:nvSpPr>
          <p:cNvPr id="17" name="m8.cell0.3.bg"/>
          <p:cNvSpPr/>
          <p:nvPr/>
        </p:nvSpPr>
        <p:spPr>
          <a:xfrm>
            <a:off x="2302002" y="2066543"/>
            <a:ext cx="540562" cy="494298"/>
          </a:xfrm>
          <a:prstGeom prst="rect">
            <a:avLst/>
          </a:prstGeom>
          <a:solidFill>
            <a:srgbClr val="EDF3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8.cell0.3.text"/>
          <p:cNvSpPr txBox="1"/>
          <p:nvPr/>
        </p:nvSpPr>
        <p:spPr>
          <a:xfrm>
            <a:off x="2310231" y="209854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3345"/>
                </a:solidFill>
                <a:latin typeface="Noto Sans CJK SC"/>
              </a:rPr>
              <a:t>谨慎</a:t>
            </a:r>
          </a:p>
        </p:txBody>
      </p:sp>
      <p:sp>
        <p:nvSpPr>
          <p:cNvPr id="19" name="m8.cell0.4.bg"/>
          <p:cNvSpPr/>
          <p:nvPr/>
        </p:nvSpPr>
        <p:spPr>
          <a:xfrm>
            <a:off x="2859024" y="2066543"/>
            <a:ext cx="540562" cy="494298"/>
          </a:xfrm>
          <a:prstGeom prst="rect">
            <a:avLst/>
          </a:prstGeom>
          <a:solidFill>
            <a:srgbClr val="EDF3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8.cell0.4.text"/>
          <p:cNvSpPr txBox="1"/>
          <p:nvPr/>
        </p:nvSpPr>
        <p:spPr>
          <a:xfrm>
            <a:off x="2867253" y="209854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3345"/>
                </a:solidFill>
                <a:latin typeface="Noto Sans CJK SC"/>
              </a:rPr>
              <a:t>内敛</a:t>
            </a:r>
          </a:p>
        </p:txBody>
      </p:sp>
      <p:sp>
        <p:nvSpPr>
          <p:cNvPr id="21" name="m8.cell0.5.bg"/>
          <p:cNvSpPr/>
          <p:nvPr/>
        </p:nvSpPr>
        <p:spPr>
          <a:xfrm>
            <a:off x="3416046" y="2066543"/>
            <a:ext cx="540562" cy="494298"/>
          </a:xfrm>
          <a:prstGeom prst="rect">
            <a:avLst/>
          </a:prstGeom>
          <a:solidFill>
            <a:srgbClr val="EDF3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8.cell0.5.text"/>
          <p:cNvSpPr txBox="1"/>
          <p:nvPr/>
        </p:nvSpPr>
        <p:spPr>
          <a:xfrm>
            <a:off x="3424275" y="209854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3345"/>
                </a:solidFill>
                <a:latin typeface="Noto Sans CJK SC"/>
              </a:rPr>
              <a:t>消极</a:t>
            </a:r>
          </a:p>
        </p:txBody>
      </p:sp>
      <p:sp>
        <p:nvSpPr>
          <p:cNvPr id="23" name="m8.cell0.6.bg"/>
          <p:cNvSpPr/>
          <p:nvPr/>
        </p:nvSpPr>
        <p:spPr>
          <a:xfrm>
            <a:off x="3973068" y="2066543"/>
            <a:ext cx="540562" cy="494298"/>
          </a:xfrm>
          <a:prstGeom prst="rect">
            <a:avLst/>
          </a:prstGeom>
          <a:solidFill>
            <a:srgbClr val="EDF3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8.cell0.6.text"/>
          <p:cNvSpPr txBox="1"/>
          <p:nvPr/>
        </p:nvSpPr>
        <p:spPr>
          <a:xfrm>
            <a:off x="3981297" y="209854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3345"/>
                </a:solidFill>
                <a:latin typeface="Noto Sans CJK SC"/>
              </a:rPr>
              <a:t>自大</a:t>
            </a:r>
          </a:p>
        </p:txBody>
      </p:sp>
      <p:sp>
        <p:nvSpPr>
          <p:cNvPr id="25" name="m8.cell0.7.bg"/>
          <p:cNvSpPr/>
          <p:nvPr/>
        </p:nvSpPr>
        <p:spPr>
          <a:xfrm>
            <a:off x="4530089" y="2066543"/>
            <a:ext cx="540562" cy="494298"/>
          </a:xfrm>
          <a:prstGeom prst="rect">
            <a:avLst/>
          </a:prstGeom>
          <a:solidFill>
            <a:srgbClr val="EDF3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8.cell0.7.text"/>
          <p:cNvSpPr txBox="1"/>
          <p:nvPr/>
        </p:nvSpPr>
        <p:spPr>
          <a:xfrm>
            <a:off x="4538319" y="209854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3345"/>
                </a:solidFill>
                <a:latin typeface="Noto Sans CJK SC"/>
              </a:rPr>
              <a:t>狡猾</a:t>
            </a:r>
          </a:p>
        </p:txBody>
      </p:sp>
      <p:sp>
        <p:nvSpPr>
          <p:cNvPr id="27" name="m8.cell0.8.bg"/>
          <p:cNvSpPr/>
          <p:nvPr/>
        </p:nvSpPr>
        <p:spPr>
          <a:xfrm>
            <a:off x="5087111" y="2066543"/>
            <a:ext cx="540562" cy="494298"/>
          </a:xfrm>
          <a:prstGeom prst="rect">
            <a:avLst/>
          </a:prstGeom>
          <a:solidFill>
            <a:srgbClr val="EDF3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8.cell0.8.text"/>
          <p:cNvSpPr txBox="1"/>
          <p:nvPr/>
        </p:nvSpPr>
        <p:spPr>
          <a:xfrm>
            <a:off x="5095341" y="209854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3345"/>
                </a:solidFill>
                <a:latin typeface="Noto Sans CJK SC"/>
              </a:rPr>
              <a:t>戏剧化</a:t>
            </a:r>
          </a:p>
        </p:txBody>
      </p:sp>
      <p:sp>
        <p:nvSpPr>
          <p:cNvPr id="29" name="m8.cell0.9.bg"/>
          <p:cNvSpPr/>
          <p:nvPr/>
        </p:nvSpPr>
        <p:spPr>
          <a:xfrm>
            <a:off x="5644133" y="2066543"/>
            <a:ext cx="540562" cy="494298"/>
          </a:xfrm>
          <a:prstGeom prst="rect">
            <a:avLst/>
          </a:prstGeom>
          <a:solidFill>
            <a:srgbClr val="EDF3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8.cell0.9.text"/>
          <p:cNvSpPr txBox="1"/>
          <p:nvPr/>
        </p:nvSpPr>
        <p:spPr>
          <a:xfrm>
            <a:off x="5652363" y="209854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3345"/>
                </a:solidFill>
                <a:latin typeface="Noto Sans CJK SC"/>
              </a:rPr>
              <a:t>幻想</a:t>
            </a:r>
          </a:p>
        </p:txBody>
      </p:sp>
      <p:sp>
        <p:nvSpPr>
          <p:cNvPr id="31" name="m8.cell0.10.bg"/>
          <p:cNvSpPr/>
          <p:nvPr/>
        </p:nvSpPr>
        <p:spPr>
          <a:xfrm>
            <a:off x="6201156" y="2066543"/>
            <a:ext cx="540562" cy="494298"/>
          </a:xfrm>
          <a:prstGeom prst="rect">
            <a:avLst/>
          </a:prstGeom>
          <a:solidFill>
            <a:srgbClr val="EDF3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8.cell0.10.text"/>
          <p:cNvSpPr txBox="1"/>
          <p:nvPr/>
        </p:nvSpPr>
        <p:spPr>
          <a:xfrm>
            <a:off x="6209385" y="209854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3345"/>
                </a:solidFill>
                <a:latin typeface="Noto Sans CJK SC"/>
              </a:rPr>
              <a:t>苛求</a:t>
            </a:r>
          </a:p>
        </p:txBody>
      </p:sp>
      <p:sp>
        <p:nvSpPr>
          <p:cNvPr id="33" name="m8.cell0.11.bg"/>
          <p:cNvSpPr/>
          <p:nvPr/>
        </p:nvSpPr>
        <p:spPr>
          <a:xfrm>
            <a:off x="6758178" y="2066543"/>
            <a:ext cx="540562" cy="494298"/>
          </a:xfrm>
          <a:prstGeom prst="rect">
            <a:avLst/>
          </a:prstGeom>
          <a:solidFill>
            <a:srgbClr val="EDF3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8.cell0.11.text"/>
          <p:cNvSpPr txBox="1"/>
          <p:nvPr/>
        </p:nvSpPr>
        <p:spPr>
          <a:xfrm>
            <a:off x="6766407" y="209854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3345"/>
                </a:solidFill>
                <a:latin typeface="Noto Sans CJK SC"/>
              </a:rPr>
              <a:t>恭顺</a:t>
            </a:r>
          </a:p>
        </p:txBody>
      </p:sp>
      <p:sp>
        <p:nvSpPr>
          <p:cNvPr id="35" name="m8.cell1.0.bg"/>
          <p:cNvSpPr/>
          <p:nvPr/>
        </p:nvSpPr>
        <p:spPr>
          <a:xfrm>
            <a:off x="630936" y="2577301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8.cell1.0.text"/>
          <p:cNvSpPr txBox="1"/>
          <p:nvPr/>
        </p:nvSpPr>
        <p:spPr>
          <a:xfrm>
            <a:off x="639165" y="2609305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078F5"/>
                </a:solidFill>
                <a:latin typeface="Noto Sans CJK SC"/>
              </a:rPr>
              <a:t>成员01</a:t>
            </a:r>
          </a:p>
        </p:txBody>
      </p:sp>
      <p:sp>
        <p:nvSpPr>
          <p:cNvPr id="37" name="m8.cell1.1.bg"/>
          <p:cNvSpPr/>
          <p:nvPr/>
        </p:nvSpPr>
        <p:spPr>
          <a:xfrm>
            <a:off x="1187958" y="2577301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8.cell1.1.text"/>
          <p:cNvSpPr txBox="1"/>
          <p:nvPr/>
        </p:nvSpPr>
        <p:spPr>
          <a:xfrm>
            <a:off x="1196187" y="2609305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39" name="m8.cell1.2.bg"/>
          <p:cNvSpPr/>
          <p:nvPr/>
        </p:nvSpPr>
        <p:spPr>
          <a:xfrm>
            <a:off x="1744980" y="2577301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8.cell1.2.text"/>
          <p:cNvSpPr txBox="1"/>
          <p:nvPr/>
        </p:nvSpPr>
        <p:spPr>
          <a:xfrm>
            <a:off x="1753209" y="2609305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41" name="m8.cell1.3.bg"/>
          <p:cNvSpPr/>
          <p:nvPr/>
        </p:nvSpPr>
        <p:spPr>
          <a:xfrm>
            <a:off x="2302002" y="2577301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8.cell1.3.text"/>
          <p:cNvSpPr txBox="1"/>
          <p:nvPr/>
        </p:nvSpPr>
        <p:spPr>
          <a:xfrm>
            <a:off x="2310231" y="2609305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43" name="m8.cell1.4.bg"/>
          <p:cNvSpPr/>
          <p:nvPr/>
        </p:nvSpPr>
        <p:spPr>
          <a:xfrm>
            <a:off x="2859024" y="2577301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8.cell1.4.text"/>
          <p:cNvSpPr txBox="1"/>
          <p:nvPr/>
        </p:nvSpPr>
        <p:spPr>
          <a:xfrm>
            <a:off x="2867253" y="2609305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45" name="m8.cell1.5.bg"/>
          <p:cNvSpPr/>
          <p:nvPr/>
        </p:nvSpPr>
        <p:spPr>
          <a:xfrm>
            <a:off x="3416046" y="2577301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8.cell1.5.text"/>
          <p:cNvSpPr txBox="1"/>
          <p:nvPr/>
        </p:nvSpPr>
        <p:spPr>
          <a:xfrm>
            <a:off x="3424275" y="2609305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47" name="m8.cell1.6.bg"/>
          <p:cNvSpPr/>
          <p:nvPr/>
        </p:nvSpPr>
        <p:spPr>
          <a:xfrm>
            <a:off x="3973068" y="2577301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8.cell1.6.text"/>
          <p:cNvSpPr txBox="1"/>
          <p:nvPr/>
        </p:nvSpPr>
        <p:spPr>
          <a:xfrm>
            <a:off x="3981297" y="2609305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49" name="m8.cell1.7.bg"/>
          <p:cNvSpPr/>
          <p:nvPr/>
        </p:nvSpPr>
        <p:spPr>
          <a:xfrm>
            <a:off x="4530089" y="2577301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m8.cell1.7.text"/>
          <p:cNvSpPr txBox="1"/>
          <p:nvPr/>
        </p:nvSpPr>
        <p:spPr>
          <a:xfrm>
            <a:off x="4538319" y="2609305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51" name="m8.cell1.8.bg"/>
          <p:cNvSpPr/>
          <p:nvPr/>
        </p:nvSpPr>
        <p:spPr>
          <a:xfrm>
            <a:off x="5087111" y="2577301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8.cell1.8.text"/>
          <p:cNvSpPr txBox="1"/>
          <p:nvPr/>
        </p:nvSpPr>
        <p:spPr>
          <a:xfrm>
            <a:off x="5095341" y="2609305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53" name="m8.cell1.9.bg"/>
          <p:cNvSpPr/>
          <p:nvPr/>
        </p:nvSpPr>
        <p:spPr>
          <a:xfrm>
            <a:off x="5644133" y="2577301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m8.cell1.9.text"/>
          <p:cNvSpPr txBox="1"/>
          <p:nvPr/>
        </p:nvSpPr>
        <p:spPr>
          <a:xfrm>
            <a:off x="5652363" y="2609305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55" name="m8.cell1.10.bg"/>
          <p:cNvSpPr/>
          <p:nvPr/>
        </p:nvSpPr>
        <p:spPr>
          <a:xfrm>
            <a:off x="6201156" y="2577301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8.cell1.10.text"/>
          <p:cNvSpPr txBox="1"/>
          <p:nvPr/>
        </p:nvSpPr>
        <p:spPr>
          <a:xfrm>
            <a:off x="6209385" y="2609305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57" name="m8.cell1.11.bg"/>
          <p:cNvSpPr/>
          <p:nvPr/>
        </p:nvSpPr>
        <p:spPr>
          <a:xfrm>
            <a:off x="6758178" y="2577301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8.cell1.11.text"/>
          <p:cNvSpPr txBox="1"/>
          <p:nvPr/>
        </p:nvSpPr>
        <p:spPr>
          <a:xfrm>
            <a:off x="6766407" y="2609305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59" name="m8.cell2.0.bg"/>
          <p:cNvSpPr/>
          <p:nvPr/>
        </p:nvSpPr>
        <p:spPr>
          <a:xfrm>
            <a:off x="630936" y="3088059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m8.cell2.0.text"/>
          <p:cNvSpPr txBox="1"/>
          <p:nvPr/>
        </p:nvSpPr>
        <p:spPr>
          <a:xfrm>
            <a:off x="639165" y="3120063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078F5"/>
                </a:solidFill>
                <a:latin typeface="Noto Sans CJK SC"/>
              </a:rPr>
              <a:t>成员02</a:t>
            </a:r>
          </a:p>
        </p:txBody>
      </p:sp>
      <p:sp>
        <p:nvSpPr>
          <p:cNvPr id="61" name="m8.cell2.1.bg"/>
          <p:cNvSpPr/>
          <p:nvPr/>
        </p:nvSpPr>
        <p:spPr>
          <a:xfrm>
            <a:off x="1187958" y="3088059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m8.cell2.1.text"/>
          <p:cNvSpPr txBox="1"/>
          <p:nvPr/>
        </p:nvSpPr>
        <p:spPr>
          <a:xfrm>
            <a:off x="1196187" y="3120063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63" name="m8.cell2.2.bg"/>
          <p:cNvSpPr/>
          <p:nvPr/>
        </p:nvSpPr>
        <p:spPr>
          <a:xfrm>
            <a:off x="1744980" y="3088059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m8.cell2.2.text"/>
          <p:cNvSpPr txBox="1"/>
          <p:nvPr/>
        </p:nvSpPr>
        <p:spPr>
          <a:xfrm>
            <a:off x="1753209" y="3120063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65" name="m8.cell2.3.bg"/>
          <p:cNvSpPr/>
          <p:nvPr/>
        </p:nvSpPr>
        <p:spPr>
          <a:xfrm>
            <a:off x="2302002" y="3088059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m8.cell2.3.text"/>
          <p:cNvSpPr txBox="1"/>
          <p:nvPr/>
        </p:nvSpPr>
        <p:spPr>
          <a:xfrm>
            <a:off x="2310231" y="3120063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67" name="m8.cell2.4.bg"/>
          <p:cNvSpPr/>
          <p:nvPr/>
        </p:nvSpPr>
        <p:spPr>
          <a:xfrm>
            <a:off x="2859024" y="3088059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m8.cell2.4.text"/>
          <p:cNvSpPr txBox="1"/>
          <p:nvPr/>
        </p:nvSpPr>
        <p:spPr>
          <a:xfrm>
            <a:off x="2867253" y="3120063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69" name="m8.cell2.5.bg"/>
          <p:cNvSpPr/>
          <p:nvPr/>
        </p:nvSpPr>
        <p:spPr>
          <a:xfrm>
            <a:off x="3416046" y="3088059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m8.cell2.5.text"/>
          <p:cNvSpPr txBox="1"/>
          <p:nvPr/>
        </p:nvSpPr>
        <p:spPr>
          <a:xfrm>
            <a:off x="3424275" y="3120063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71" name="m8.cell2.6.bg"/>
          <p:cNvSpPr/>
          <p:nvPr/>
        </p:nvSpPr>
        <p:spPr>
          <a:xfrm>
            <a:off x="3973068" y="3088059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m8.cell2.6.text"/>
          <p:cNvSpPr txBox="1"/>
          <p:nvPr/>
        </p:nvSpPr>
        <p:spPr>
          <a:xfrm>
            <a:off x="3981297" y="3120063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73" name="m8.cell2.7.bg"/>
          <p:cNvSpPr/>
          <p:nvPr/>
        </p:nvSpPr>
        <p:spPr>
          <a:xfrm>
            <a:off x="4530089" y="3088059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m8.cell2.7.text"/>
          <p:cNvSpPr txBox="1"/>
          <p:nvPr/>
        </p:nvSpPr>
        <p:spPr>
          <a:xfrm>
            <a:off x="4538319" y="3120063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75" name="m8.cell2.8.bg"/>
          <p:cNvSpPr/>
          <p:nvPr/>
        </p:nvSpPr>
        <p:spPr>
          <a:xfrm>
            <a:off x="5087111" y="3088059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m8.cell2.8.text"/>
          <p:cNvSpPr txBox="1"/>
          <p:nvPr/>
        </p:nvSpPr>
        <p:spPr>
          <a:xfrm>
            <a:off x="5095341" y="3120063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77" name="m8.cell2.9.bg"/>
          <p:cNvSpPr/>
          <p:nvPr/>
        </p:nvSpPr>
        <p:spPr>
          <a:xfrm>
            <a:off x="5644133" y="3088059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m8.cell2.9.text"/>
          <p:cNvSpPr txBox="1"/>
          <p:nvPr/>
        </p:nvSpPr>
        <p:spPr>
          <a:xfrm>
            <a:off x="5652363" y="3120063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79" name="m8.cell2.10.bg"/>
          <p:cNvSpPr/>
          <p:nvPr/>
        </p:nvSpPr>
        <p:spPr>
          <a:xfrm>
            <a:off x="6201156" y="3088059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m8.cell2.10.text"/>
          <p:cNvSpPr txBox="1"/>
          <p:nvPr/>
        </p:nvSpPr>
        <p:spPr>
          <a:xfrm>
            <a:off x="6209385" y="3120063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81" name="m8.cell2.11.bg"/>
          <p:cNvSpPr/>
          <p:nvPr/>
        </p:nvSpPr>
        <p:spPr>
          <a:xfrm>
            <a:off x="6758178" y="3088059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m8.cell2.11.text"/>
          <p:cNvSpPr txBox="1"/>
          <p:nvPr/>
        </p:nvSpPr>
        <p:spPr>
          <a:xfrm>
            <a:off x="6766407" y="3120063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83" name="m8.cell3.0.bg"/>
          <p:cNvSpPr/>
          <p:nvPr/>
        </p:nvSpPr>
        <p:spPr>
          <a:xfrm>
            <a:off x="630936" y="3598817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m8.cell3.0.text"/>
          <p:cNvSpPr txBox="1"/>
          <p:nvPr/>
        </p:nvSpPr>
        <p:spPr>
          <a:xfrm>
            <a:off x="639165" y="3630821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078F5"/>
                </a:solidFill>
                <a:latin typeface="Noto Sans CJK SC"/>
              </a:rPr>
              <a:t>成员03</a:t>
            </a:r>
          </a:p>
        </p:txBody>
      </p:sp>
      <p:sp>
        <p:nvSpPr>
          <p:cNvPr id="85" name="m8.cell3.1.bg"/>
          <p:cNvSpPr/>
          <p:nvPr/>
        </p:nvSpPr>
        <p:spPr>
          <a:xfrm>
            <a:off x="1187958" y="3598817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m8.cell3.1.text"/>
          <p:cNvSpPr txBox="1"/>
          <p:nvPr/>
        </p:nvSpPr>
        <p:spPr>
          <a:xfrm>
            <a:off x="1196187" y="3630821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87" name="m8.cell3.2.bg"/>
          <p:cNvSpPr/>
          <p:nvPr/>
        </p:nvSpPr>
        <p:spPr>
          <a:xfrm>
            <a:off x="1744980" y="3598817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m8.cell3.2.text"/>
          <p:cNvSpPr txBox="1"/>
          <p:nvPr/>
        </p:nvSpPr>
        <p:spPr>
          <a:xfrm>
            <a:off x="1753209" y="3630821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89" name="m8.cell3.3.bg"/>
          <p:cNvSpPr/>
          <p:nvPr/>
        </p:nvSpPr>
        <p:spPr>
          <a:xfrm>
            <a:off x="2302002" y="3598817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m8.cell3.3.text"/>
          <p:cNvSpPr txBox="1"/>
          <p:nvPr/>
        </p:nvSpPr>
        <p:spPr>
          <a:xfrm>
            <a:off x="2310231" y="3630821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91" name="m8.cell3.4.bg"/>
          <p:cNvSpPr/>
          <p:nvPr/>
        </p:nvSpPr>
        <p:spPr>
          <a:xfrm>
            <a:off x="2859024" y="3598817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m8.cell3.4.text"/>
          <p:cNvSpPr txBox="1"/>
          <p:nvPr/>
        </p:nvSpPr>
        <p:spPr>
          <a:xfrm>
            <a:off x="2867253" y="3630821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93" name="m8.cell3.5.bg"/>
          <p:cNvSpPr/>
          <p:nvPr/>
        </p:nvSpPr>
        <p:spPr>
          <a:xfrm>
            <a:off x="3416046" y="3598817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m8.cell3.5.text"/>
          <p:cNvSpPr txBox="1"/>
          <p:nvPr/>
        </p:nvSpPr>
        <p:spPr>
          <a:xfrm>
            <a:off x="3424275" y="3630821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95" name="m8.cell3.6.bg"/>
          <p:cNvSpPr/>
          <p:nvPr/>
        </p:nvSpPr>
        <p:spPr>
          <a:xfrm>
            <a:off x="3973068" y="3598817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m8.cell3.6.text"/>
          <p:cNvSpPr txBox="1"/>
          <p:nvPr/>
        </p:nvSpPr>
        <p:spPr>
          <a:xfrm>
            <a:off x="3981297" y="3630821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97" name="m8.cell3.7.bg"/>
          <p:cNvSpPr/>
          <p:nvPr/>
        </p:nvSpPr>
        <p:spPr>
          <a:xfrm>
            <a:off x="4530089" y="3598817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m8.cell3.7.text"/>
          <p:cNvSpPr txBox="1"/>
          <p:nvPr/>
        </p:nvSpPr>
        <p:spPr>
          <a:xfrm>
            <a:off x="4538319" y="3630821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99" name="m8.cell3.8.bg"/>
          <p:cNvSpPr/>
          <p:nvPr/>
        </p:nvSpPr>
        <p:spPr>
          <a:xfrm>
            <a:off x="5087111" y="3598817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m8.cell3.8.text"/>
          <p:cNvSpPr txBox="1"/>
          <p:nvPr/>
        </p:nvSpPr>
        <p:spPr>
          <a:xfrm>
            <a:off x="5095341" y="3630821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01" name="m8.cell3.9.bg"/>
          <p:cNvSpPr/>
          <p:nvPr/>
        </p:nvSpPr>
        <p:spPr>
          <a:xfrm>
            <a:off x="5644133" y="3598817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m8.cell3.9.text"/>
          <p:cNvSpPr txBox="1"/>
          <p:nvPr/>
        </p:nvSpPr>
        <p:spPr>
          <a:xfrm>
            <a:off x="5652363" y="3630821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03" name="m8.cell3.10.bg"/>
          <p:cNvSpPr/>
          <p:nvPr/>
        </p:nvSpPr>
        <p:spPr>
          <a:xfrm>
            <a:off x="6201156" y="3598817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m8.cell3.10.text"/>
          <p:cNvSpPr txBox="1"/>
          <p:nvPr/>
        </p:nvSpPr>
        <p:spPr>
          <a:xfrm>
            <a:off x="6209385" y="3630821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05" name="m8.cell3.11.bg"/>
          <p:cNvSpPr/>
          <p:nvPr/>
        </p:nvSpPr>
        <p:spPr>
          <a:xfrm>
            <a:off x="6758178" y="3598817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m8.cell3.11.text"/>
          <p:cNvSpPr txBox="1"/>
          <p:nvPr/>
        </p:nvSpPr>
        <p:spPr>
          <a:xfrm>
            <a:off x="6766407" y="3630821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07" name="m8.cell4.0.bg"/>
          <p:cNvSpPr/>
          <p:nvPr/>
        </p:nvSpPr>
        <p:spPr>
          <a:xfrm>
            <a:off x="630936" y="4109574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m8.cell4.0.text"/>
          <p:cNvSpPr txBox="1"/>
          <p:nvPr/>
        </p:nvSpPr>
        <p:spPr>
          <a:xfrm>
            <a:off x="639165" y="414157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078F5"/>
                </a:solidFill>
                <a:latin typeface="Noto Sans CJK SC"/>
              </a:rPr>
              <a:t>成员04</a:t>
            </a:r>
          </a:p>
        </p:txBody>
      </p:sp>
      <p:sp>
        <p:nvSpPr>
          <p:cNvPr id="109" name="m8.cell4.1.bg"/>
          <p:cNvSpPr/>
          <p:nvPr/>
        </p:nvSpPr>
        <p:spPr>
          <a:xfrm>
            <a:off x="1187958" y="4109574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m8.cell4.1.text"/>
          <p:cNvSpPr txBox="1"/>
          <p:nvPr/>
        </p:nvSpPr>
        <p:spPr>
          <a:xfrm>
            <a:off x="1196187" y="414157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11" name="m8.cell4.2.bg"/>
          <p:cNvSpPr/>
          <p:nvPr/>
        </p:nvSpPr>
        <p:spPr>
          <a:xfrm>
            <a:off x="1744980" y="4109574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m8.cell4.2.text"/>
          <p:cNvSpPr txBox="1"/>
          <p:nvPr/>
        </p:nvSpPr>
        <p:spPr>
          <a:xfrm>
            <a:off x="1753209" y="414157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13" name="m8.cell4.3.bg"/>
          <p:cNvSpPr/>
          <p:nvPr/>
        </p:nvSpPr>
        <p:spPr>
          <a:xfrm>
            <a:off x="2302002" y="4109574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m8.cell4.3.text"/>
          <p:cNvSpPr txBox="1"/>
          <p:nvPr/>
        </p:nvSpPr>
        <p:spPr>
          <a:xfrm>
            <a:off x="2310231" y="414157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15" name="m8.cell4.4.bg"/>
          <p:cNvSpPr/>
          <p:nvPr/>
        </p:nvSpPr>
        <p:spPr>
          <a:xfrm>
            <a:off x="2859024" y="4109574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m8.cell4.4.text"/>
          <p:cNvSpPr txBox="1"/>
          <p:nvPr/>
        </p:nvSpPr>
        <p:spPr>
          <a:xfrm>
            <a:off x="2867253" y="414157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17" name="m8.cell4.5.bg"/>
          <p:cNvSpPr/>
          <p:nvPr/>
        </p:nvSpPr>
        <p:spPr>
          <a:xfrm>
            <a:off x="3416046" y="4109574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m8.cell4.5.text"/>
          <p:cNvSpPr txBox="1"/>
          <p:nvPr/>
        </p:nvSpPr>
        <p:spPr>
          <a:xfrm>
            <a:off x="3424275" y="414157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19" name="m8.cell4.6.bg"/>
          <p:cNvSpPr/>
          <p:nvPr/>
        </p:nvSpPr>
        <p:spPr>
          <a:xfrm>
            <a:off x="3973068" y="4109574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m8.cell4.6.text"/>
          <p:cNvSpPr txBox="1"/>
          <p:nvPr/>
        </p:nvSpPr>
        <p:spPr>
          <a:xfrm>
            <a:off x="3981297" y="414157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21" name="m8.cell4.7.bg"/>
          <p:cNvSpPr/>
          <p:nvPr/>
        </p:nvSpPr>
        <p:spPr>
          <a:xfrm>
            <a:off x="4530089" y="4109574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m8.cell4.7.text"/>
          <p:cNvSpPr txBox="1"/>
          <p:nvPr/>
        </p:nvSpPr>
        <p:spPr>
          <a:xfrm>
            <a:off x="4538319" y="414157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23" name="m8.cell4.8.bg"/>
          <p:cNvSpPr/>
          <p:nvPr/>
        </p:nvSpPr>
        <p:spPr>
          <a:xfrm>
            <a:off x="5087111" y="4109574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m8.cell4.8.text"/>
          <p:cNvSpPr txBox="1"/>
          <p:nvPr/>
        </p:nvSpPr>
        <p:spPr>
          <a:xfrm>
            <a:off x="5095341" y="414157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25" name="m8.cell4.9.bg"/>
          <p:cNvSpPr/>
          <p:nvPr/>
        </p:nvSpPr>
        <p:spPr>
          <a:xfrm>
            <a:off x="5644133" y="4109574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m8.cell4.9.text"/>
          <p:cNvSpPr txBox="1"/>
          <p:nvPr/>
        </p:nvSpPr>
        <p:spPr>
          <a:xfrm>
            <a:off x="5652363" y="414157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27" name="m8.cell4.10.bg"/>
          <p:cNvSpPr/>
          <p:nvPr/>
        </p:nvSpPr>
        <p:spPr>
          <a:xfrm>
            <a:off x="6201156" y="4109574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m8.cell4.10.text"/>
          <p:cNvSpPr txBox="1"/>
          <p:nvPr/>
        </p:nvSpPr>
        <p:spPr>
          <a:xfrm>
            <a:off x="6209385" y="414157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29" name="m8.cell4.11.bg"/>
          <p:cNvSpPr/>
          <p:nvPr/>
        </p:nvSpPr>
        <p:spPr>
          <a:xfrm>
            <a:off x="6758178" y="4109574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m8.cell4.11.text"/>
          <p:cNvSpPr txBox="1"/>
          <p:nvPr/>
        </p:nvSpPr>
        <p:spPr>
          <a:xfrm>
            <a:off x="6766407" y="4141578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31" name="m8.cell5.0.bg"/>
          <p:cNvSpPr/>
          <p:nvPr/>
        </p:nvSpPr>
        <p:spPr>
          <a:xfrm>
            <a:off x="630936" y="4620332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m8.cell5.0.text"/>
          <p:cNvSpPr txBox="1"/>
          <p:nvPr/>
        </p:nvSpPr>
        <p:spPr>
          <a:xfrm>
            <a:off x="639165" y="4652336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078F5"/>
                </a:solidFill>
                <a:latin typeface="Noto Sans CJK SC"/>
              </a:rPr>
              <a:t>成员05</a:t>
            </a:r>
          </a:p>
        </p:txBody>
      </p:sp>
      <p:sp>
        <p:nvSpPr>
          <p:cNvPr id="133" name="m8.cell5.1.bg"/>
          <p:cNvSpPr/>
          <p:nvPr/>
        </p:nvSpPr>
        <p:spPr>
          <a:xfrm>
            <a:off x="1187958" y="4620332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m8.cell5.1.text"/>
          <p:cNvSpPr txBox="1"/>
          <p:nvPr/>
        </p:nvSpPr>
        <p:spPr>
          <a:xfrm>
            <a:off x="1196187" y="4652336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35" name="m8.cell5.2.bg"/>
          <p:cNvSpPr/>
          <p:nvPr/>
        </p:nvSpPr>
        <p:spPr>
          <a:xfrm>
            <a:off x="1744980" y="4620332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m8.cell5.2.text"/>
          <p:cNvSpPr txBox="1"/>
          <p:nvPr/>
        </p:nvSpPr>
        <p:spPr>
          <a:xfrm>
            <a:off x="1753209" y="4652336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37" name="m8.cell5.3.bg"/>
          <p:cNvSpPr/>
          <p:nvPr/>
        </p:nvSpPr>
        <p:spPr>
          <a:xfrm>
            <a:off x="2302002" y="4620332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m8.cell5.3.text"/>
          <p:cNvSpPr txBox="1"/>
          <p:nvPr/>
        </p:nvSpPr>
        <p:spPr>
          <a:xfrm>
            <a:off x="2310231" y="4652336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39" name="m8.cell5.4.bg"/>
          <p:cNvSpPr/>
          <p:nvPr/>
        </p:nvSpPr>
        <p:spPr>
          <a:xfrm>
            <a:off x="2859024" y="4620332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m8.cell5.4.text"/>
          <p:cNvSpPr txBox="1"/>
          <p:nvPr/>
        </p:nvSpPr>
        <p:spPr>
          <a:xfrm>
            <a:off x="2867253" y="4652336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41" name="m8.cell5.5.bg"/>
          <p:cNvSpPr/>
          <p:nvPr/>
        </p:nvSpPr>
        <p:spPr>
          <a:xfrm>
            <a:off x="3416046" y="4620332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m8.cell5.5.text"/>
          <p:cNvSpPr txBox="1"/>
          <p:nvPr/>
        </p:nvSpPr>
        <p:spPr>
          <a:xfrm>
            <a:off x="3424275" y="4652336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43" name="m8.cell5.6.bg"/>
          <p:cNvSpPr/>
          <p:nvPr/>
        </p:nvSpPr>
        <p:spPr>
          <a:xfrm>
            <a:off x="3973068" y="4620332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m8.cell5.6.text"/>
          <p:cNvSpPr txBox="1"/>
          <p:nvPr/>
        </p:nvSpPr>
        <p:spPr>
          <a:xfrm>
            <a:off x="3981297" y="4652336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45" name="m8.cell5.7.bg"/>
          <p:cNvSpPr/>
          <p:nvPr/>
        </p:nvSpPr>
        <p:spPr>
          <a:xfrm>
            <a:off x="4530089" y="4620332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m8.cell5.7.text"/>
          <p:cNvSpPr txBox="1"/>
          <p:nvPr/>
        </p:nvSpPr>
        <p:spPr>
          <a:xfrm>
            <a:off x="4538319" y="4652336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47" name="m8.cell5.8.bg"/>
          <p:cNvSpPr/>
          <p:nvPr/>
        </p:nvSpPr>
        <p:spPr>
          <a:xfrm>
            <a:off x="5087111" y="4620332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m8.cell5.8.text"/>
          <p:cNvSpPr txBox="1"/>
          <p:nvPr/>
        </p:nvSpPr>
        <p:spPr>
          <a:xfrm>
            <a:off x="5095341" y="4652336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49" name="m8.cell5.9.bg"/>
          <p:cNvSpPr/>
          <p:nvPr/>
        </p:nvSpPr>
        <p:spPr>
          <a:xfrm>
            <a:off x="5644133" y="4620332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m8.cell5.9.text"/>
          <p:cNvSpPr txBox="1"/>
          <p:nvPr/>
        </p:nvSpPr>
        <p:spPr>
          <a:xfrm>
            <a:off x="5652363" y="4652336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51" name="m8.cell5.10.bg"/>
          <p:cNvSpPr/>
          <p:nvPr/>
        </p:nvSpPr>
        <p:spPr>
          <a:xfrm>
            <a:off x="6201156" y="4620332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m8.cell5.10.text"/>
          <p:cNvSpPr txBox="1"/>
          <p:nvPr/>
        </p:nvSpPr>
        <p:spPr>
          <a:xfrm>
            <a:off x="6209385" y="4652336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53" name="m8.cell5.11.bg"/>
          <p:cNvSpPr/>
          <p:nvPr/>
        </p:nvSpPr>
        <p:spPr>
          <a:xfrm>
            <a:off x="6758178" y="4620332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m8.cell5.11.text"/>
          <p:cNvSpPr txBox="1"/>
          <p:nvPr/>
        </p:nvSpPr>
        <p:spPr>
          <a:xfrm>
            <a:off x="6766407" y="4652336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55" name="m8.cell6.0.bg"/>
          <p:cNvSpPr/>
          <p:nvPr/>
        </p:nvSpPr>
        <p:spPr>
          <a:xfrm>
            <a:off x="630936" y="5131090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m8.cell6.0.text"/>
          <p:cNvSpPr txBox="1"/>
          <p:nvPr/>
        </p:nvSpPr>
        <p:spPr>
          <a:xfrm>
            <a:off x="639165" y="5163094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078F5"/>
                </a:solidFill>
                <a:latin typeface="Noto Sans CJK SC"/>
              </a:rPr>
              <a:t>成员06</a:t>
            </a:r>
          </a:p>
        </p:txBody>
      </p:sp>
      <p:sp>
        <p:nvSpPr>
          <p:cNvPr id="157" name="m8.cell6.1.bg"/>
          <p:cNvSpPr/>
          <p:nvPr/>
        </p:nvSpPr>
        <p:spPr>
          <a:xfrm>
            <a:off x="1187958" y="5131090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m8.cell6.1.text"/>
          <p:cNvSpPr txBox="1"/>
          <p:nvPr/>
        </p:nvSpPr>
        <p:spPr>
          <a:xfrm>
            <a:off x="1196187" y="5163094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59" name="m8.cell6.2.bg"/>
          <p:cNvSpPr/>
          <p:nvPr/>
        </p:nvSpPr>
        <p:spPr>
          <a:xfrm>
            <a:off x="1744980" y="5131090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m8.cell6.2.text"/>
          <p:cNvSpPr txBox="1"/>
          <p:nvPr/>
        </p:nvSpPr>
        <p:spPr>
          <a:xfrm>
            <a:off x="1753209" y="5163094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61" name="m8.cell6.3.bg"/>
          <p:cNvSpPr/>
          <p:nvPr/>
        </p:nvSpPr>
        <p:spPr>
          <a:xfrm>
            <a:off x="2302002" y="5131090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m8.cell6.3.text"/>
          <p:cNvSpPr txBox="1"/>
          <p:nvPr/>
        </p:nvSpPr>
        <p:spPr>
          <a:xfrm>
            <a:off x="2310231" y="5163094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63" name="m8.cell6.4.bg"/>
          <p:cNvSpPr/>
          <p:nvPr/>
        </p:nvSpPr>
        <p:spPr>
          <a:xfrm>
            <a:off x="2859024" y="5131090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m8.cell6.4.text"/>
          <p:cNvSpPr txBox="1"/>
          <p:nvPr/>
        </p:nvSpPr>
        <p:spPr>
          <a:xfrm>
            <a:off x="2867253" y="5163094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65" name="m8.cell6.5.bg"/>
          <p:cNvSpPr/>
          <p:nvPr/>
        </p:nvSpPr>
        <p:spPr>
          <a:xfrm>
            <a:off x="3416046" y="5131090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m8.cell6.5.text"/>
          <p:cNvSpPr txBox="1"/>
          <p:nvPr/>
        </p:nvSpPr>
        <p:spPr>
          <a:xfrm>
            <a:off x="3424275" y="5163094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67" name="m8.cell6.6.bg"/>
          <p:cNvSpPr/>
          <p:nvPr/>
        </p:nvSpPr>
        <p:spPr>
          <a:xfrm>
            <a:off x="3973068" y="5131090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m8.cell6.6.text"/>
          <p:cNvSpPr txBox="1"/>
          <p:nvPr/>
        </p:nvSpPr>
        <p:spPr>
          <a:xfrm>
            <a:off x="3981297" y="5163094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69" name="m8.cell6.7.bg"/>
          <p:cNvSpPr/>
          <p:nvPr/>
        </p:nvSpPr>
        <p:spPr>
          <a:xfrm>
            <a:off x="4530089" y="5131090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m8.cell6.7.text"/>
          <p:cNvSpPr txBox="1"/>
          <p:nvPr/>
        </p:nvSpPr>
        <p:spPr>
          <a:xfrm>
            <a:off x="4538319" y="5163094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71" name="m8.cell6.8.bg"/>
          <p:cNvSpPr/>
          <p:nvPr/>
        </p:nvSpPr>
        <p:spPr>
          <a:xfrm>
            <a:off x="5087111" y="5131090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m8.cell6.8.text"/>
          <p:cNvSpPr txBox="1"/>
          <p:nvPr/>
        </p:nvSpPr>
        <p:spPr>
          <a:xfrm>
            <a:off x="5095341" y="5163094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73" name="m8.cell6.9.bg"/>
          <p:cNvSpPr/>
          <p:nvPr/>
        </p:nvSpPr>
        <p:spPr>
          <a:xfrm>
            <a:off x="5644133" y="5131090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m8.cell6.9.text"/>
          <p:cNvSpPr txBox="1"/>
          <p:nvPr/>
        </p:nvSpPr>
        <p:spPr>
          <a:xfrm>
            <a:off x="5652363" y="5163094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75" name="m8.cell6.10.bg"/>
          <p:cNvSpPr/>
          <p:nvPr/>
        </p:nvSpPr>
        <p:spPr>
          <a:xfrm>
            <a:off x="6201156" y="5131090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m8.cell6.10.text"/>
          <p:cNvSpPr txBox="1"/>
          <p:nvPr/>
        </p:nvSpPr>
        <p:spPr>
          <a:xfrm>
            <a:off x="6209385" y="5163094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77" name="m8.cell6.11.bg"/>
          <p:cNvSpPr/>
          <p:nvPr/>
        </p:nvSpPr>
        <p:spPr>
          <a:xfrm>
            <a:off x="6758178" y="5131090"/>
            <a:ext cx="540562" cy="494298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m8.cell6.11.text"/>
          <p:cNvSpPr txBox="1"/>
          <p:nvPr/>
        </p:nvSpPr>
        <p:spPr>
          <a:xfrm>
            <a:off x="6766407" y="5163094"/>
            <a:ext cx="524103" cy="446749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79" name="m8.identity.note"/>
          <p:cNvSpPr txBox="1"/>
          <p:nvPr/>
        </p:nvSpPr>
        <p:spPr>
          <a:xfrm>
            <a:off x="676656" y="1810512"/>
            <a:ext cx="6400800" cy="21945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F7B8D"/>
                </a:solidFill>
                <a:latin typeface="Noto Sans CJK SC"/>
              </a:rPr>
              <a:t>显示模式：{编号 / 授权缩写 / 授权实名}</a:t>
            </a:r>
          </a:p>
        </p:txBody>
      </p:sp>
      <p:sp>
        <p:nvSpPr>
          <p:cNvPr id="180" name="m8.key.title"/>
          <p:cNvSpPr txBox="1"/>
          <p:nvPr/>
        </p:nvSpPr>
        <p:spPr>
          <a:xfrm>
            <a:off x="7461504" y="1810512"/>
            <a:ext cx="667512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63345"/>
                </a:solidFill>
                <a:latin typeface="Noto Sans CJK SC"/>
              </a:rPr>
              <a:t>图例</a:t>
            </a:r>
          </a:p>
        </p:txBody>
      </p:sp>
      <p:sp>
        <p:nvSpPr>
          <p:cNvPr id="181" name="m8.key0.color"/>
          <p:cNvSpPr/>
          <p:nvPr/>
        </p:nvSpPr>
        <p:spPr>
          <a:xfrm>
            <a:off x="7461504" y="2194560"/>
            <a:ext cx="146304" cy="603504"/>
          </a:xfrm>
          <a:prstGeom prst="rect">
            <a:avLst/>
          </a:prstGeom>
          <a:solidFill>
            <a:srgbClr val="EF5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m8.key0.label"/>
          <p:cNvSpPr txBox="1"/>
          <p:nvPr/>
        </p:nvSpPr>
        <p:spPr>
          <a:xfrm>
            <a:off x="7671816" y="2194560"/>
            <a:ext cx="53035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F7B8D"/>
                </a:solidFill>
                <a:latin typeface="Noto Sans CJK SC"/>
              </a:rPr>
              <a:t>{高档}</a:t>
            </a:r>
          </a:p>
        </p:txBody>
      </p:sp>
      <p:sp>
        <p:nvSpPr>
          <p:cNvPr id="183" name="m8.key0.range"/>
          <p:cNvSpPr txBox="1"/>
          <p:nvPr/>
        </p:nvSpPr>
        <p:spPr>
          <a:xfrm>
            <a:off x="7671816" y="2514600"/>
            <a:ext cx="530352" cy="20116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F7B8D"/>
                </a:solidFill>
                <a:latin typeface="Noto Sans CJK SC"/>
              </a:rPr>
              <a:t>{区间}</a:t>
            </a:r>
          </a:p>
        </p:txBody>
      </p:sp>
      <p:sp>
        <p:nvSpPr>
          <p:cNvPr id="184" name="m8.key1.color"/>
          <p:cNvSpPr/>
          <p:nvPr/>
        </p:nvSpPr>
        <p:spPr>
          <a:xfrm>
            <a:off x="7461504" y="2999232"/>
            <a:ext cx="146304" cy="603504"/>
          </a:xfrm>
          <a:prstGeom prst="rect">
            <a:avLst/>
          </a:prstGeom>
          <a:solidFill>
            <a:srgbClr val="F0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m8.key1.label"/>
          <p:cNvSpPr txBox="1"/>
          <p:nvPr/>
        </p:nvSpPr>
        <p:spPr>
          <a:xfrm>
            <a:off x="7671816" y="2999232"/>
            <a:ext cx="53035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F7B8D"/>
                </a:solidFill>
                <a:latin typeface="Noto Sans CJK SC"/>
              </a:rPr>
              <a:t>{中高档}</a:t>
            </a:r>
          </a:p>
        </p:txBody>
      </p:sp>
      <p:sp>
        <p:nvSpPr>
          <p:cNvPr id="186" name="m8.key1.range"/>
          <p:cNvSpPr txBox="1"/>
          <p:nvPr/>
        </p:nvSpPr>
        <p:spPr>
          <a:xfrm>
            <a:off x="7671816" y="3319272"/>
            <a:ext cx="530352" cy="20116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F7B8D"/>
                </a:solidFill>
                <a:latin typeface="Noto Sans CJK SC"/>
              </a:rPr>
              <a:t>{区间}</a:t>
            </a:r>
          </a:p>
        </p:txBody>
      </p:sp>
      <p:sp>
        <p:nvSpPr>
          <p:cNvPr id="187" name="m8.key2.color"/>
          <p:cNvSpPr/>
          <p:nvPr/>
        </p:nvSpPr>
        <p:spPr>
          <a:xfrm>
            <a:off x="7461504" y="3803904"/>
            <a:ext cx="146304" cy="603504"/>
          </a:xfrm>
          <a:prstGeom prst="rect">
            <a:avLst/>
          </a:prstGeom>
          <a:solidFill>
            <a:srgbClr val="D5B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m8.key2.label"/>
          <p:cNvSpPr txBox="1"/>
          <p:nvPr/>
        </p:nvSpPr>
        <p:spPr>
          <a:xfrm>
            <a:off x="7671816" y="3803904"/>
            <a:ext cx="53035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F7B8D"/>
                </a:solidFill>
                <a:latin typeface="Noto Sans CJK SC"/>
              </a:rPr>
              <a:t>{中低档}</a:t>
            </a:r>
          </a:p>
        </p:txBody>
      </p:sp>
      <p:sp>
        <p:nvSpPr>
          <p:cNvPr id="189" name="m8.key2.range"/>
          <p:cNvSpPr txBox="1"/>
          <p:nvPr/>
        </p:nvSpPr>
        <p:spPr>
          <a:xfrm>
            <a:off x="7671816" y="4123944"/>
            <a:ext cx="530352" cy="20116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F7B8D"/>
                </a:solidFill>
                <a:latin typeface="Noto Sans CJK SC"/>
              </a:rPr>
              <a:t>{区间}</a:t>
            </a:r>
          </a:p>
        </p:txBody>
      </p:sp>
      <p:sp>
        <p:nvSpPr>
          <p:cNvPr id="190" name="m8.key3.color"/>
          <p:cNvSpPr/>
          <p:nvPr/>
        </p:nvSpPr>
        <p:spPr>
          <a:xfrm>
            <a:off x="7461504" y="4608576"/>
            <a:ext cx="146304" cy="603504"/>
          </a:xfrm>
          <a:prstGeom prst="rect">
            <a:avLst/>
          </a:prstGeom>
          <a:solidFill>
            <a:srgbClr val="56A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m8.key3.label"/>
          <p:cNvSpPr txBox="1"/>
          <p:nvPr/>
        </p:nvSpPr>
        <p:spPr>
          <a:xfrm>
            <a:off x="7671816" y="4608576"/>
            <a:ext cx="53035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F7B8D"/>
                </a:solidFill>
                <a:latin typeface="Noto Sans CJK SC"/>
              </a:rPr>
              <a:t>{低档}</a:t>
            </a:r>
          </a:p>
        </p:txBody>
      </p:sp>
      <p:sp>
        <p:nvSpPr>
          <p:cNvPr id="192" name="m8.key3.range"/>
          <p:cNvSpPr txBox="1"/>
          <p:nvPr/>
        </p:nvSpPr>
        <p:spPr>
          <a:xfrm>
            <a:off x="7671816" y="4928616"/>
            <a:ext cx="530352" cy="20116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F7B8D"/>
                </a:solidFill>
                <a:latin typeface="Noto Sans CJK SC"/>
              </a:rPr>
              <a:t>{区间}</a:t>
            </a:r>
          </a:p>
        </p:txBody>
      </p:sp>
      <p:sp>
        <p:nvSpPr>
          <p:cNvPr id="193" name="m8.observer.heading"/>
          <p:cNvSpPr txBox="1"/>
          <p:nvPr/>
        </p:nvSpPr>
        <p:spPr>
          <a:xfrm>
            <a:off x="8449056" y="1810512"/>
            <a:ext cx="3090672" cy="23774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078F5"/>
                </a:solidFill>
                <a:latin typeface="Noto Sans CJK SC"/>
              </a:rPr>
              <a:t>观察对象 / 共性组合</a:t>
            </a:r>
          </a:p>
        </p:txBody>
      </p:sp>
      <p:sp>
        <p:nvSpPr>
          <p:cNvPr id="194" name="m8.observer0.bg"/>
          <p:cNvSpPr/>
          <p:nvPr/>
        </p:nvSpPr>
        <p:spPr>
          <a:xfrm>
            <a:off x="8412480" y="2185416"/>
            <a:ext cx="3191256" cy="987552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m8.observer0.title"/>
          <p:cNvSpPr txBox="1"/>
          <p:nvPr/>
        </p:nvSpPr>
        <p:spPr>
          <a:xfrm>
            <a:off x="8531352" y="2249424"/>
            <a:ext cx="2953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078F5"/>
                </a:solidFill>
                <a:latin typeface="Noto Sans CJK SC"/>
              </a:rPr>
              <a:t>{对象/组合}｜{重点}</a:t>
            </a:r>
          </a:p>
        </p:txBody>
      </p:sp>
      <p:sp>
        <p:nvSpPr>
          <p:cNvPr id="196" name="m8.observer0.body"/>
          <p:cNvSpPr txBox="1"/>
          <p:nvPr/>
        </p:nvSpPr>
        <p:spPr>
          <a:xfrm>
            <a:off x="8531352" y="2551176"/>
            <a:ext cx="2953512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[压力下可能怎样做，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影响哪一步工作。]</a:t>
            </a:r>
          </a:p>
        </p:txBody>
      </p:sp>
      <p:sp>
        <p:nvSpPr>
          <p:cNvPr id="197" name="m8.observer0.evidence"/>
          <p:cNvSpPr txBox="1"/>
          <p:nvPr/>
        </p:nvSpPr>
        <p:spPr>
          <a:xfrm>
            <a:off x="8531352" y="2953512"/>
            <a:ext cx="2953512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F7B8D"/>
                </a:solidFill>
                <a:latin typeface="Noto Sans CJK SC"/>
              </a:rPr>
              <a:t>依据：{分值/人数；选择理由}</a:t>
            </a:r>
          </a:p>
        </p:txBody>
      </p:sp>
      <p:sp>
        <p:nvSpPr>
          <p:cNvPr id="198" name="m8.observer1.bg"/>
          <p:cNvSpPr/>
          <p:nvPr/>
        </p:nvSpPr>
        <p:spPr>
          <a:xfrm>
            <a:off x="8412480" y="3328416"/>
            <a:ext cx="3191256" cy="987552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m8.observer1.title"/>
          <p:cNvSpPr txBox="1"/>
          <p:nvPr/>
        </p:nvSpPr>
        <p:spPr>
          <a:xfrm>
            <a:off x="8531352" y="3392424"/>
            <a:ext cx="2953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078F5"/>
                </a:solidFill>
                <a:latin typeface="Noto Sans CJK SC"/>
              </a:rPr>
              <a:t>{对象/组合}｜{重点}</a:t>
            </a:r>
          </a:p>
        </p:txBody>
      </p:sp>
      <p:sp>
        <p:nvSpPr>
          <p:cNvPr id="200" name="m8.observer1.body"/>
          <p:cNvSpPr txBox="1"/>
          <p:nvPr/>
        </p:nvSpPr>
        <p:spPr>
          <a:xfrm>
            <a:off x="8531352" y="3694176"/>
            <a:ext cx="2953512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[压力下可能怎样做，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影响哪一步工作。]</a:t>
            </a:r>
          </a:p>
        </p:txBody>
      </p:sp>
      <p:sp>
        <p:nvSpPr>
          <p:cNvPr id="201" name="m8.observer1.evidence"/>
          <p:cNvSpPr txBox="1"/>
          <p:nvPr/>
        </p:nvSpPr>
        <p:spPr>
          <a:xfrm>
            <a:off x="8531352" y="4096512"/>
            <a:ext cx="2953512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F7B8D"/>
                </a:solidFill>
                <a:latin typeface="Noto Sans CJK SC"/>
              </a:rPr>
              <a:t>依据：{分值/人数；选择理由}</a:t>
            </a:r>
          </a:p>
        </p:txBody>
      </p:sp>
      <p:sp>
        <p:nvSpPr>
          <p:cNvPr id="202" name="m8.observer2.bg"/>
          <p:cNvSpPr/>
          <p:nvPr/>
        </p:nvSpPr>
        <p:spPr>
          <a:xfrm>
            <a:off x="8412480" y="4471416"/>
            <a:ext cx="3191256" cy="987552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m8.observer2.title"/>
          <p:cNvSpPr txBox="1"/>
          <p:nvPr/>
        </p:nvSpPr>
        <p:spPr>
          <a:xfrm>
            <a:off x="8531352" y="4535424"/>
            <a:ext cx="295351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078F5"/>
                </a:solidFill>
                <a:latin typeface="Noto Sans CJK SC"/>
              </a:rPr>
              <a:t>{对象/组合}｜{重点}</a:t>
            </a:r>
          </a:p>
        </p:txBody>
      </p:sp>
      <p:sp>
        <p:nvSpPr>
          <p:cNvPr id="204" name="m8.observer2.body"/>
          <p:cNvSpPr txBox="1"/>
          <p:nvPr/>
        </p:nvSpPr>
        <p:spPr>
          <a:xfrm>
            <a:off x="8531352" y="4837176"/>
            <a:ext cx="2953512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[压力下可能怎样做，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影响哪一步工作。]</a:t>
            </a:r>
          </a:p>
        </p:txBody>
      </p:sp>
      <p:sp>
        <p:nvSpPr>
          <p:cNvPr id="205" name="m8.observer2.evidence"/>
          <p:cNvSpPr txBox="1"/>
          <p:nvPr/>
        </p:nvSpPr>
        <p:spPr>
          <a:xfrm>
            <a:off x="8531352" y="5239512"/>
            <a:ext cx="2953512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F7B8D"/>
                </a:solidFill>
                <a:latin typeface="Noto Sans CJK SC"/>
              </a:rPr>
              <a:t>依据：{分值/人数；选择理由}</a:t>
            </a:r>
          </a:p>
        </p:txBody>
      </p:sp>
      <p:sp>
        <p:nvSpPr>
          <p:cNvPr id="206" name="m8.relabel"/>
          <p:cNvSpPr txBox="1"/>
          <p:nvPr/>
        </p:nvSpPr>
        <p:spPr>
          <a:xfrm>
            <a:off x="676656" y="5934456"/>
            <a:ext cx="10863072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6F7B8D"/>
                </a:solidFill>
                <a:latin typeface="Noto Sans CJK SC"/>
              </a:rPr>
              <a:t>标签说明：{原报告区间及称谓；如按参考改显示标签，写清映射，阈值不变。}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9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9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MVPI：{共同投入来源，以及需要区别沟通的偏好}</a:t>
            </a:r>
          </a:p>
        </p:txBody>
      </p:sp>
      <p:sp>
        <p:nvSpPr>
          <p:cNvPr id="4" name="p9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动机与价值偏好  /  任务沟通、工作环境与反馈；不等同业务能力</a:t>
            </a:r>
          </a:p>
        </p:txBody>
      </p:sp>
      <p:cxnSp>
        <p:nvCxnSpPr>
          <p:cNvPr id="5" name="p9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9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09</a:t>
            </a:r>
          </a:p>
        </p:txBody>
      </p:sp>
      <p:cxnSp>
        <p:nvCxnSpPr>
          <p:cNvPr id="7" name="p9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9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9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m9.radar.ring0.2"/>
          <p:cNvSpPr/>
          <p:nvPr/>
        </p:nvSpPr>
        <p:spPr>
          <a:xfrm>
            <a:off x="2773503" y="2996982"/>
            <a:ext cx="497177" cy="497177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9.radar.ring0.4"/>
          <p:cNvSpPr/>
          <p:nvPr/>
        </p:nvSpPr>
        <p:spPr>
          <a:xfrm>
            <a:off x="2524914" y="2748393"/>
            <a:ext cx="994355" cy="994355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9.radar.ring0.6"/>
          <p:cNvSpPr/>
          <p:nvPr/>
        </p:nvSpPr>
        <p:spPr>
          <a:xfrm>
            <a:off x="2276325" y="2499805"/>
            <a:ext cx="1491532" cy="1491532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9.radar.ring0.8"/>
          <p:cNvSpPr/>
          <p:nvPr/>
        </p:nvSpPr>
        <p:spPr>
          <a:xfrm>
            <a:off x="2027736" y="2251216"/>
            <a:ext cx="1988710" cy="1988710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9.radar.ring1"/>
          <p:cNvSpPr/>
          <p:nvPr/>
        </p:nvSpPr>
        <p:spPr>
          <a:xfrm>
            <a:off x="1779148" y="2002627"/>
            <a:ext cx="2485887" cy="2485887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m9.radar.axis0"/>
          <p:cNvCxnSpPr/>
          <p:nvPr/>
        </p:nvCxnSpPr>
        <p:spPr>
          <a:xfrm flipV="1">
            <a:off x="3022092" y="2002627"/>
            <a:ext cx="0" cy="1242944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9.radar.dim0"/>
          <p:cNvSpPr txBox="1"/>
          <p:nvPr/>
        </p:nvSpPr>
        <p:spPr>
          <a:xfrm>
            <a:off x="2473452" y="1535869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认可</a:t>
            </a:r>
          </a:p>
        </p:txBody>
      </p:sp>
      <p:cxnSp>
        <p:nvCxnSpPr>
          <p:cNvPr id="17" name="m9.radar.axis1"/>
          <p:cNvCxnSpPr/>
          <p:nvPr/>
        </p:nvCxnSpPr>
        <p:spPr>
          <a:xfrm flipV="1">
            <a:off x="3022092" y="2240008"/>
            <a:ext cx="730584" cy="1005563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9.radar.dim1"/>
          <p:cNvSpPr txBox="1"/>
          <p:nvPr/>
        </p:nvSpPr>
        <p:spPr>
          <a:xfrm>
            <a:off x="3357458" y="1823100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权力</a:t>
            </a:r>
          </a:p>
        </p:txBody>
      </p:sp>
      <p:cxnSp>
        <p:nvCxnSpPr>
          <p:cNvPr id="19" name="m9.radar.axis2"/>
          <p:cNvCxnSpPr/>
          <p:nvPr/>
        </p:nvCxnSpPr>
        <p:spPr>
          <a:xfrm flipV="1">
            <a:off x="3022092" y="2861480"/>
            <a:ext cx="1182109" cy="38409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9.radar.dim2"/>
          <p:cNvSpPr txBox="1"/>
          <p:nvPr/>
        </p:nvSpPr>
        <p:spPr>
          <a:xfrm>
            <a:off x="3903804" y="2575081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享乐</a:t>
            </a:r>
          </a:p>
        </p:txBody>
      </p:sp>
      <p:cxnSp>
        <p:nvCxnSpPr>
          <p:cNvPr id="21" name="m9.radar.axis3"/>
          <p:cNvCxnSpPr/>
          <p:nvPr/>
        </p:nvCxnSpPr>
        <p:spPr>
          <a:xfrm>
            <a:off x="3022092" y="3245571"/>
            <a:ext cx="1182109" cy="38409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9.radar.dim3"/>
          <p:cNvSpPr txBox="1"/>
          <p:nvPr/>
        </p:nvSpPr>
        <p:spPr>
          <a:xfrm>
            <a:off x="3903804" y="3504581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利他</a:t>
            </a:r>
          </a:p>
        </p:txBody>
      </p:sp>
      <p:cxnSp>
        <p:nvCxnSpPr>
          <p:cNvPr id="23" name="m9.radar.axis4"/>
          <p:cNvCxnSpPr/>
          <p:nvPr/>
        </p:nvCxnSpPr>
        <p:spPr>
          <a:xfrm>
            <a:off x="3022092" y="3245571"/>
            <a:ext cx="730584" cy="1005563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9.radar.dim4"/>
          <p:cNvSpPr txBox="1"/>
          <p:nvPr/>
        </p:nvSpPr>
        <p:spPr>
          <a:xfrm>
            <a:off x="3357458" y="4256562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归属</a:t>
            </a:r>
          </a:p>
        </p:txBody>
      </p:sp>
      <p:cxnSp>
        <p:nvCxnSpPr>
          <p:cNvPr id="25" name="m9.radar.axis5"/>
          <p:cNvCxnSpPr/>
          <p:nvPr/>
        </p:nvCxnSpPr>
        <p:spPr>
          <a:xfrm>
            <a:off x="3022092" y="3245571"/>
            <a:ext cx="0" cy="1242944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9.radar.dim5"/>
          <p:cNvSpPr txBox="1"/>
          <p:nvPr/>
        </p:nvSpPr>
        <p:spPr>
          <a:xfrm>
            <a:off x="2473452" y="4543793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传统</a:t>
            </a:r>
          </a:p>
        </p:txBody>
      </p:sp>
      <p:cxnSp>
        <p:nvCxnSpPr>
          <p:cNvPr id="27" name="m9.radar.axis6"/>
          <p:cNvCxnSpPr/>
          <p:nvPr/>
        </p:nvCxnSpPr>
        <p:spPr>
          <a:xfrm flipH="1">
            <a:off x="2291507" y="3245571"/>
            <a:ext cx="730585" cy="1005563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9.radar.dim6"/>
          <p:cNvSpPr txBox="1"/>
          <p:nvPr/>
        </p:nvSpPr>
        <p:spPr>
          <a:xfrm>
            <a:off x="1589445" y="4256562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保障</a:t>
            </a:r>
          </a:p>
        </p:txBody>
      </p:sp>
      <p:cxnSp>
        <p:nvCxnSpPr>
          <p:cNvPr id="29" name="m9.radar.axis7"/>
          <p:cNvCxnSpPr/>
          <p:nvPr/>
        </p:nvCxnSpPr>
        <p:spPr>
          <a:xfrm flipH="1">
            <a:off x="1839982" y="3245571"/>
            <a:ext cx="1182110" cy="38409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9.radar.dim7"/>
          <p:cNvSpPr txBox="1"/>
          <p:nvPr/>
        </p:nvSpPr>
        <p:spPr>
          <a:xfrm>
            <a:off x="1043099" y="3504581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商业</a:t>
            </a:r>
          </a:p>
        </p:txBody>
      </p:sp>
      <p:cxnSp>
        <p:nvCxnSpPr>
          <p:cNvPr id="31" name="m9.radar.axis8"/>
          <p:cNvCxnSpPr/>
          <p:nvPr/>
        </p:nvCxnSpPr>
        <p:spPr>
          <a:xfrm flipH="1" flipV="1">
            <a:off x="1839982" y="2861480"/>
            <a:ext cx="1182110" cy="38409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9.radar.dim8"/>
          <p:cNvSpPr txBox="1"/>
          <p:nvPr/>
        </p:nvSpPr>
        <p:spPr>
          <a:xfrm>
            <a:off x="1043099" y="2575081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美感</a:t>
            </a:r>
          </a:p>
        </p:txBody>
      </p:sp>
      <p:cxnSp>
        <p:nvCxnSpPr>
          <p:cNvPr id="33" name="m9.radar.axis9"/>
          <p:cNvCxnSpPr/>
          <p:nvPr/>
        </p:nvCxnSpPr>
        <p:spPr>
          <a:xfrm flipH="1" flipV="1">
            <a:off x="2291507" y="2240008"/>
            <a:ext cx="730585" cy="1005563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9.radar.dim9"/>
          <p:cNvSpPr txBox="1"/>
          <p:nvPr/>
        </p:nvSpPr>
        <p:spPr>
          <a:xfrm>
            <a:off x="1589445" y="1823100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科学</a:t>
            </a:r>
          </a:p>
        </p:txBody>
      </p:sp>
      <p:sp>
        <p:nvSpPr>
          <p:cNvPr id="35" name="m9.radar.caption.bg"/>
          <p:cNvSpPr/>
          <p:nvPr/>
        </p:nvSpPr>
        <p:spPr>
          <a:xfrm>
            <a:off x="1516075" y="2962107"/>
            <a:ext cx="3012033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9.radar.replace"/>
          <p:cNvSpPr txBox="1"/>
          <p:nvPr/>
        </p:nvSpPr>
        <p:spPr>
          <a:xfrm>
            <a:off x="1566275" y="2980395"/>
            <a:ext cx="2911632" cy="5303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本批MVPI群体雷达图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均值 / 中位值 / 个体轮廓</a:t>
            </a:r>
          </a:p>
        </p:txBody>
      </p:sp>
      <p:sp>
        <p:nvSpPr>
          <p:cNvPr id="37" name="m9.finding0.bg"/>
          <p:cNvSpPr/>
          <p:nvPr/>
        </p:nvSpPr>
        <p:spPr>
          <a:xfrm>
            <a:off x="5724144" y="1417320"/>
            <a:ext cx="5925312" cy="1024128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9.finding0.stripe"/>
          <p:cNvSpPr/>
          <p:nvPr/>
        </p:nvSpPr>
        <p:spPr>
          <a:xfrm>
            <a:off x="5833872" y="1591056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9.finding0.title"/>
          <p:cNvSpPr txBox="1"/>
          <p:nvPr/>
        </p:nvSpPr>
        <p:spPr>
          <a:xfrm>
            <a:off x="5943600" y="1499616"/>
            <a:ext cx="5568696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[共同驱动1：更重视什么]</a:t>
            </a:r>
          </a:p>
        </p:txBody>
      </p:sp>
      <p:sp>
        <p:nvSpPr>
          <p:cNvPr id="40" name="m9.finding0.body"/>
          <p:cNvSpPr txBox="1"/>
          <p:nvPr/>
        </p:nvSpPr>
        <p:spPr>
          <a:xfrm>
            <a:off x="5943600" y="1901952"/>
            <a:ext cx="5504688" cy="1280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[说明哪类任务沟通或安排可能更能激发投入。]</a:t>
            </a:r>
          </a:p>
        </p:txBody>
      </p:sp>
      <p:sp>
        <p:nvSpPr>
          <p:cNvPr id="41" name="m9.finding0.evidence"/>
          <p:cNvSpPr txBox="1"/>
          <p:nvPr/>
        </p:nvSpPr>
        <p:spPr>
          <a:xfrm>
            <a:off x="5943600" y="2176272"/>
            <a:ext cx="5513832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依据：{本批分布；成效仍需确认}</a:t>
            </a:r>
          </a:p>
        </p:txBody>
      </p:sp>
      <p:sp>
        <p:nvSpPr>
          <p:cNvPr id="42" name="m9.finding1.bg"/>
          <p:cNvSpPr/>
          <p:nvPr/>
        </p:nvSpPr>
        <p:spPr>
          <a:xfrm>
            <a:off x="5724144" y="2560320"/>
            <a:ext cx="5925312" cy="1024128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9.finding1.stripe"/>
          <p:cNvSpPr/>
          <p:nvPr/>
        </p:nvSpPr>
        <p:spPr>
          <a:xfrm>
            <a:off x="5833872" y="2734056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9.finding1.title"/>
          <p:cNvSpPr txBox="1"/>
          <p:nvPr/>
        </p:nvSpPr>
        <p:spPr>
          <a:xfrm>
            <a:off x="5943600" y="2642615"/>
            <a:ext cx="5568696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[共同驱动2：更重视什么]</a:t>
            </a:r>
          </a:p>
        </p:txBody>
      </p:sp>
      <p:sp>
        <p:nvSpPr>
          <p:cNvPr id="45" name="m9.finding1.body"/>
          <p:cNvSpPr txBox="1"/>
          <p:nvPr/>
        </p:nvSpPr>
        <p:spPr>
          <a:xfrm>
            <a:off x="5943600" y="3044952"/>
            <a:ext cx="5504688" cy="1280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[说明哪类任务沟通或安排可能更能激发投入。]</a:t>
            </a:r>
          </a:p>
        </p:txBody>
      </p:sp>
      <p:sp>
        <p:nvSpPr>
          <p:cNvPr id="46" name="m9.finding1.evidence"/>
          <p:cNvSpPr txBox="1"/>
          <p:nvPr/>
        </p:nvSpPr>
        <p:spPr>
          <a:xfrm>
            <a:off x="5943600" y="3319272"/>
            <a:ext cx="5513832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依据：{本批分布；成效仍需确认}</a:t>
            </a:r>
          </a:p>
        </p:txBody>
      </p:sp>
      <p:sp>
        <p:nvSpPr>
          <p:cNvPr id="47" name="m9.finding2.bg"/>
          <p:cNvSpPr/>
          <p:nvPr/>
        </p:nvSpPr>
        <p:spPr>
          <a:xfrm>
            <a:off x="5724144" y="3703320"/>
            <a:ext cx="5925312" cy="1024128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9.finding2.stripe"/>
          <p:cNvSpPr/>
          <p:nvPr/>
        </p:nvSpPr>
        <p:spPr>
          <a:xfrm>
            <a:off x="5833872" y="3877056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9.finding2.title"/>
          <p:cNvSpPr txBox="1"/>
          <p:nvPr/>
        </p:nvSpPr>
        <p:spPr>
          <a:xfrm>
            <a:off x="5943600" y="3785615"/>
            <a:ext cx="5568696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[共同驱动3：更重视什么]</a:t>
            </a:r>
          </a:p>
        </p:txBody>
      </p:sp>
      <p:sp>
        <p:nvSpPr>
          <p:cNvPr id="50" name="m9.finding2.body"/>
          <p:cNvSpPr txBox="1"/>
          <p:nvPr/>
        </p:nvSpPr>
        <p:spPr>
          <a:xfrm>
            <a:off x="5943600" y="4187952"/>
            <a:ext cx="5504688" cy="1280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[说明哪类任务沟通或安排可能更能激发投入。]</a:t>
            </a:r>
          </a:p>
        </p:txBody>
      </p:sp>
      <p:sp>
        <p:nvSpPr>
          <p:cNvPr id="51" name="m9.finding2.evidence"/>
          <p:cNvSpPr txBox="1"/>
          <p:nvPr/>
        </p:nvSpPr>
        <p:spPr>
          <a:xfrm>
            <a:off x="5943600" y="4462272"/>
            <a:ext cx="5513832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依据：{本批分布；成效仍需确认}</a:t>
            </a:r>
          </a:p>
        </p:txBody>
      </p:sp>
      <p:sp>
        <p:nvSpPr>
          <p:cNvPr id="52" name="m9.diff.heading"/>
          <p:cNvSpPr txBox="1"/>
          <p:nvPr/>
        </p:nvSpPr>
        <p:spPr>
          <a:xfrm>
            <a:off x="621792" y="5001768"/>
            <a:ext cx="10972800" cy="24688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63345"/>
                </a:solidFill>
                <a:latin typeface="Noto Sans CJK SC"/>
              </a:rPr>
              <a:t>差异个体：同一种任务安排或认可方式，不一定对所有人都有效</a:t>
            </a:r>
          </a:p>
        </p:txBody>
      </p:sp>
      <p:sp>
        <p:nvSpPr>
          <p:cNvPr id="53" name="m9.diff0.bg"/>
          <p:cNvSpPr/>
          <p:nvPr/>
        </p:nvSpPr>
        <p:spPr>
          <a:xfrm>
            <a:off x="594360" y="5376672"/>
            <a:ext cx="3657600" cy="987552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m9.diff0.title"/>
          <p:cNvSpPr txBox="1"/>
          <p:nvPr/>
        </p:nvSpPr>
        <p:spPr>
          <a:xfrm>
            <a:off x="713232" y="5440680"/>
            <a:ext cx="3419856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078F5"/>
                </a:solidFill>
                <a:latin typeface="Noto Sans CJK SC"/>
              </a:rPr>
              <a:t>{显示名/编号}｜{偏好区别}</a:t>
            </a:r>
          </a:p>
        </p:txBody>
      </p:sp>
      <p:sp>
        <p:nvSpPr>
          <p:cNvPr id="55" name="m9.diff0.body"/>
          <p:cNvSpPr txBox="1"/>
          <p:nvPr/>
        </p:nvSpPr>
        <p:spPr>
          <a:xfrm>
            <a:off x="713232" y="5742432"/>
            <a:ext cx="3419856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[怎样沟通任务、给予责任或反馈；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说明需要与本人确认。]</a:t>
            </a:r>
          </a:p>
        </p:txBody>
      </p:sp>
      <p:sp>
        <p:nvSpPr>
          <p:cNvPr id="56" name="m9.diff0.evidence"/>
          <p:cNvSpPr txBox="1"/>
          <p:nvPr/>
        </p:nvSpPr>
        <p:spPr>
          <a:xfrm>
            <a:off x="713232" y="6144768"/>
            <a:ext cx="341985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F7B8D"/>
                </a:solidFill>
                <a:latin typeface="Noto Sans CJK SC"/>
              </a:rPr>
              <a:t>依据：{相对分值或相关量表组合}</a:t>
            </a:r>
          </a:p>
        </p:txBody>
      </p:sp>
      <p:sp>
        <p:nvSpPr>
          <p:cNvPr id="57" name="m9.diff1.bg"/>
          <p:cNvSpPr/>
          <p:nvPr/>
        </p:nvSpPr>
        <p:spPr>
          <a:xfrm>
            <a:off x="4425696" y="5376672"/>
            <a:ext cx="3657600" cy="987552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9.diff1.title"/>
          <p:cNvSpPr txBox="1"/>
          <p:nvPr/>
        </p:nvSpPr>
        <p:spPr>
          <a:xfrm>
            <a:off x="4544568" y="5440680"/>
            <a:ext cx="3419856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078F5"/>
                </a:solidFill>
                <a:latin typeface="Noto Sans CJK SC"/>
              </a:rPr>
              <a:t>{显示名/编号}｜{偏好区别}</a:t>
            </a:r>
          </a:p>
        </p:txBody>
      </p:sp>
      <p:sp>
        <p:nvSpPr>
          <p:cNvPr id="59" name="m9.diff1.body"/>
          <p:cNvSpPr txBox="1"/>
          <p:nvPr/>
        </p:nvSpPr>
        <p:spPr>
          <a:xfrm>
            <a:off x="4544568" y="5742432"/>
            <a:ext cx="3419856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[怎样沟通任务、给予责任或反馈；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说明需要与本人确认。]</a:t>
            </a:r>
          </a:p>
        </p:txBody>
      </p:sp>
      <p:sp>
        <p:nvSpPr>
          <p:cNvPr id="60" name="m9.diff1.evidence"/>
          <p:cNvSpPr txBox="1"/>
          <p:nvPr/>
        </p:nvSpPr>
        <p:spPr>
          <a:xfrm>
            <a:off x="4544568" y="6144768"/>
            <a:ext cx="341985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F7B8D"/>
                </a:solidFill>
                <a:latin typeface="Noto Sans CJK SC"/>
              </a:rPr>
              <a:t>依据：{相对分值或相关量表组合}</a:t>
            </a:r>
          </a:p>
        </p:txBody>
      </p:sp>
      <p:sp>
        <p:nvSpPr>
          <p:cNvPr id="61" name="m9.diff2.bg"/>
          <p:cNvSpPr/>
          <p:nvPr/>
        </p:nvSpPr>
        <p:spPr>
          <a:xfrm>
            <a:off x="8257032" y="5376672"/>
            <a:ext cx="3657600" cy="987552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m9.diff2.title"/>
          <p:cNvSpPr txBox="1"/>
          <p:nvPr/>
        </p:nvSpPr>
        <p:spPr>
          <a:xfrm>
            <a:off x="8375904" y="5440680"/>
            <a:ext cx="3419856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078F5"/>
                </a:solidFill>
                <a:latin typeface="Noto Sans CJK SC"/>
              </a:rPr>
              <a:t>{显示名/编号}｜{偏好区别}</a:t>
            </a:r>
          </a:p>
        </p:txBody>
      </p:sp>
      <p:sp>
        <p:nvSpPr>
          <p:cNvPr id="63" name="m9.diff2.body"/>
          <p:cNvSpPr txBox="1"/>
          <p:nvPr/>
        </p:nvSpPr>
        <p:spPr>
          <a:xfrm>
            <a:off x="8375904" y="5742432"/>
            <a:ext cx="3419856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[怎样沟通任务、给予责任或反馈；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263345"/>
                </a:solidFill>
                <a:latin typeface="Noto Sans CJK SC"/>
              </a:rPr>
              <a:t>说明需要与本人确认。]</a:t>
            </a:r>
          </a:p>
        </p:txBody>
      </p:sp>
      <p:sp>
        <p:nvSpPr>
          <p:cNvPr id="64" name="m9.diff2.evidence"/>
          <p:cNvSpPr txBox="1"/>
          <p:nvPr/>
        </p:nvSpPr>
        <p:spPr>
          <a:xfrm>
            <a:off x="8375904" y="6144768"/>
            <a:ext cx="341985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F7B8D"/>
                </a:solidFill>
                <a:latin typeface="Noto Sans CJK SC"/>
              </a:rPr>
              <a:t>依据：{相对分值或相关量表组合}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0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10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阅读指南：先看倾向与证据，再用工作表现验证</a:t>
            </a:r>
          </a:p>
        </p:txBody>
      </p:sp>
      <p:sp>
        <p:nvSpPr>
          <p:cNvPr id="4" name="p10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方法与保密边界  /  不以单项分数替代人才判断</a:t>
            </a:r>
          </a:p>
        </p:txBody>
      </p:sp>
      <p:cxnSp>
        <p:nvCxnSpPr>
          <p:cNvPr id="5" name="p10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10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12</a:t>
            </a:r>
          </a:p>
        </p:txBody>
      </p:sp>
      <p:cxnSp>
        <p:nvCxnSpPr>
          <p:cNvPr id="7" name="p10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10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10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p10.HPI.bg"/>
          <p:cNvSpPr/>
          <p:nvPr/>
        </p:nvSpPr>
        <p:spPr>
          <a:xfrm>
            <a:off x="585216" y="1426464"/>
            <a:ext cx="3575304" cy="1490472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10.HPI.name"/>
          <p:cNvSpPr txBox="1"/>
          <p:nvPr/>
        </p:nvSpPr>
        <p:spPr>
          <a:xfrm>
            <a:off x="749808" y="1581912"/>
            <a:ext cx="3246120" cy="28346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078F5"/>
                </a:solidFill>
                <a:latin typeface="Noto Sans CJK SC"/>
              </a:rPr>
              <a:t>HPI</a:t>
            </a:r>
          </a:p>
        </p:txBody>
      </p:sp>
      <p:sp>
        <p:nvSpPr>
          <p:cNvPr id="12" name="p10.HPI.sub"/>
          <p:cNvSpPr txBox="1"/>
          <p:nvPr/>
        </p:nvSpPr>
        <p:spPr>
          <a:xfrm>
            <a:off x="749808" y="1984248"/>
            <a:ext cx="324612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63345"/>
                </a:solidFill>
                <a:latin typeface="Noto Sans CJK SC"/>
              </a:rPr>
              <a:t>平时怎样做事</a:t>
            </a:r>
          </a:p>
        </p:txBody>
      </p:sp>
      <p:sp>
        <p:nvSpPr>
          <p:cNvPr id="13" name="p10.HPI.body"/>
          <p:cNvSpPr txBox="1"/>
          <p:nvPr/>
        </p:nvSpPr>
        <p:spPr>
          <a:xfrm>
            <a:off x="749808" y="2322576"/>
            <a:ext cx="3246120" cy="4023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263345"/>
                </a:solidFill>
                <a:latin typeface="Noto Sans CJK SC"/>
              </a:rPr>
              <a:t>日常如何承担任务、安排工作、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263345"/>
                </a:solidFill>
                <a:latin typeface="Noto Sans CJK SC"/>
              </a:rPr>
              <a:t>学习新东西和与人合作。</a:t>
            </a:r>
          </a:p>
        </p:txBody>
      </p:sp>
      <p:sp>
        <p:nvSpPr>
          <p:cNvPr id="14" name="p10.HDS.bg"/>
          <p:cNvSpPr/>
          <p:nvPr/>
        </p:nvSpPr>
        <p:spPr>
          <a:xfrm>
            <a:off x="4407407" y="1426464"/>
            <a:ext cx="3575304" cy="1490472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10.HDS.name"/>
          <p:cNvSpPr txBox="1"/>
          <p:nvPr/>
        </p:nvSpPr>
        <p:spPr>
          <a:xfrm>
            <a:off x="4571999" y="1581912"/>
            <a:ext cx="3246120" cy="28346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8565B"/>
                </a:solidFill>
                <a:latin typeface="Noto Sans CJK SC"/>
              </a:rPr>
              <a:t>HDS</a:t>
            </a:r>
          </a:p>
        </p:txBody>
      </p:sp>
      <p:sp>
        <p:nvSpPr>
          <p:cNvPr id="16" name="p10.HDS.sub"/>
          <p:cNvSpPr txBox="1"/>
          <p:nvPr/>
        </p:nvSpPr>
        <p:spPr>
          <a:xfrm>
            <a:off x="4571999" y="1984248"/>
            <a:ext cx="324612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63345"/>
                </a:solidFill>
                <a:latin typeface="Noto Sans CJK SC"/>
              </a:rPr>
              <a:t>压力下可能怎样反应</a:t>
            </a:r>
          </a:p>
        </p:txBody>
      </p:sp>
      <p:sp>
        <p:nvSpPr>
          <p:cNvPr id="17" name="p10.HDS.body"/>
          <p:cNvSpPr txBox="1"/>
          <p:nvPr/>
        </p:nvSpPr>
        <p:spPr>
          <a:xfrm>
            <a:off x="4571999" y="2322576"/>
            <a:ext cx="3246120" cy="4023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263345"/>
                </a:solidFill>
                <a:latin typeface="Noto Sans CJK SC"/>
              </a:rPr>
              <a:t>特定状态下某些倾向可能被放大，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263345"/>
                </a:solidFill>
                <a:latin typeface="Noto Sans CJK SC"/>
              </a:rPr>
              <a:t>并影响任务推进或合作。</a:t>
            </a:r>
          </a:p>
        </p:txBody>
      </p:sp>
      <p:sp>
        <p:nvSpPr>
          <p:cNvPr id="18" name="p10.MVPI.bg"/>
          <p:cNvSpPr/>
          <p:nvPr/>
        </p:nvSpPr>
        <p:spPr>
          <a:xfrm>
            <a:off x="8229600" y="1426464"/>
            <a:ext cx="3575304" cy="1490472"/>
          </a:xfrm>
          <a:prstGeom prst="roundRect">
            <a:avLst>
              <a:gd name="adj" fmla="val 3500"/>
            </a:avLst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10.MVPI.name"/>
          <p:cNvSpPr txBox="1"/>
          <p:nvPr/>
        </p:nvSpPr>
        <p:spPr>
          <a:xfrm>
            <a:off x="8394192" y="1581912"/>
            <a:ext cx="3246120" cy="28346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48B28"/>
                </a:solidFill>
                <a:latin typeface="Noto Sans CJK SC"/>
              </a:rPr>
              <a:t>MVPI</a:t>
            </a:r>
          </a:p>
        </p:txBody>
      </p:sp>
      <p:sp>
        <p:nvSpPr>
          <p:cNvPr id="20" name="p10.MVPI.sub"/>
          <p:cNvSpPr txBox="1"/>
          <p:nvPr/>
        </p:nvSpPr>
        <p:spPr>
          <a:xfrm>
            <a:off x="8394192" y="1984248"/>
            <a:ext cx="324612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63345"/>
                </a:solidFill>
                <a:latin typeface="Noto Sans CJK SC"/>
              </a:rPr>
              <a:t>重视什么、为什么投入</a:t>
            </a:r>
          </a:p>
        </p:txBody>
      </p:sp>
      <p:sp>
        <p:nvSpPr>
          <p:cNvPr id="21" name="p10.MVPI.body"/>
          <p:cNvSpPr txBox="1"/>
          <p:nvPr/>
        </p:nvSpPr>
        <p:spPr>
          <a:xfrm>
            <a:off x="8394192" y="2322576"/>
            <a:ext cx="3246120" cy="4023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263345"/>
                </a:solidFill>
                <a:latin typeface="Noto Sans CJK SC"/>
              </a:rPr>
              <a:t>哪些目标和工作环境更有吸引力；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263345"/>
                </a:solidFill>
                <a:latin typeface="Noto Sans CJK SC"/>
              </a:rPr>
              <a:t>动机偏好不是能力。</a:t>
            </a:r>
          </a:p>
        </p:txBody>
      </p:sp>
      <p:sp>
        <p:nvSpPr>
          <p:cNvPr id="22" name="p10.section0.title"/>
          <p:cNvSpPr txBox="1"/>
          <p:nvPr/>
        </p:nvSpPr>
        <p:spPr>
          <a:xfrm>
            <a:off x="594360" y="3300984"/>
            <a:ext cx="5358384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078F5"/>
                </a:solidFill>
                <a:latin typeface="Noto Sans CJK SC"/>
              </a:rPr>
              <a:t>统计与来源</a:t>
            </a:r>
          </a:p>
        </p:txBody>
      </p:sp>
      <p:sp>
        <p:nvSpPr>
          <p:cNvPr id="23" name="p10.section0.body"/>
          <p:cNvSpPr txBox="1"/>
          <p:nvPr/>
        </p:nvSpPr>
        <p:spPr>
          <a:xfrm>
            <a:off x="621792" y="3794760"/>
            <a:ext cx="5376672" cy="165506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345"/>
                </a:solidFill>
                <a:latin typeface="Noto Sans CJK SC"/>
              </a:rPr>
              <a:t>样本：{N}；常模/版本：{来源原文}。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345"/>
                </a:solidFill>
                <a:latin typeface="Noto Sans CJK SC"/>
              </a:rPr>
              <a:t>均值、中位值、范围、人数均来自同一批可比数据。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345"/>
                </a:solidFill>
                <a:latin typeface="Noto Sans CJK SC"/>
              </a:rPr>
              <a:t>分档：{与当批报告核对后填写}。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345"/>
                </a:solidFill>
                <a:latin typeface="Noto Sans CJK SC"/>
              </a:rPr>
              <a:t>来源文件与实际页码：{仅写必要信息}。</a:t>
            </a:r>
          </a:p>
        </p:txBody>
      </p:sp>
      <p:sp>
        <p:nvSpPr>
          <p:cNvPr id="24" name="p10.section1.title"/>
          <p:cNvSpPr txBox="1"/>
          <p:nvPr/>
        </p:nvSpPr>
        <p:spPr>
          <a:xfrm>
            <a:off x="6355080" y="3300984"/>
            <a:ext cx="5358384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565B"/>
                </a:solidFill>
                <a:latin typeface="Noto Sans CJK SC"/>
              </a:rPr>
              <a:t>解释与保密</a:t>
            </a:r>
          </a:p>
        </p:txBody>
      </p:sp>
      <p:sp>
        <p:nvSpPr>
          <p:cNvPr id="25" name="p10.section1.body"/>
          <p:cNvSpPr txBox="1"/>
          <p:nvPr/>
        </p:nvSpPr>
        <p:spPr>
          <a:xfrm>
            <a:off x="6382512" y="3794760"/>
            <a:ext cx="5376672" cy="165506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345"/>
                </a:solidFill>
                <a:latin typeface="Noto Sans CJK SC"/>
              </a:rPr>
              <a:t>事实、计算、推断分开；没有业务背景就不编造案例。
不把相对低分写成短板，不把风险倾向写成真实问题。
群体默认编号；实名或映射附录需本次受众授权。
真实数据、报告和图像不进入公共GitHub仓库。</a:t>
            </a:r>
          </a:p>
        </p:txBody>
      </p:sp>
      <p:sp>
        <p:nvSpPr>
          <p:cNvPr id="26" name="p10.limit"/>
          <p:cNvSpPr txBox="1"/>
          <p:nvPr/>
        </p:nvSpPr>
        <p:spPr>
          <a:xfrm>
            <a:off x="685800" y="5961888"/>
            <a:ext cx="10817352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F7B8D"/>
                </a:solidFill>
                <a:latin typeface="Noto Sans CJK SC"/>
              </a:rPr>
              <a:t>测评用于发展性反馈；不是临床诊断，也不作为自动招聘筛选、排名、任用或淘汰依据。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7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7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HDS子维度：{具体突出什么，会怎样影响工作}</a:t>
            </a:r>
          </a:p>
        </p:txBody>
      </p:sp>
      <p:sp>
        <p:nvSpPr>
          <p:cNvPr id="4" name="p7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原图统计 → 可能的工作表现 → 协作与交付影响；不从主量表猜格数</a:t>
            </a:r>
          </a:p>
        </p:txBody>
      </p:sp>
      <p:cxnSp>
        <p:nvCxnSpPr>
          <p:cNvPr id="5" name="p7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7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07</a:t>
            </a:r>
          </a:p>
        </p:txBody>
      </p:sp>
      <p:cxnSp>
        <p:nvCxnSpPr>
          <p:cNvPr id="7" name="p7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7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7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m7.head0.bg"/>
          <p:cNvSpPr/>
          <p:nvPr/>
        </p:nvSpPr>
        <p:spPr>
          <a:xfrm>
            <a:off x="621792" y="1490472"/>
            <a:ext cx="3054096" cy="4572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7.head0.text"/>
          <p:cNvSpPr txBox="1"/>
          <p:nvPr/>
        </p:nvSpPr>
        <p:spPr>
          <a:xfrm>
            <a:off x="758952" y="1572768"/>
            <a:ext cx="2779776" cy="27432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3078F5"/>
                </a:solidFill>
                <a:latin typeface="Noto Sans CJK SC"/>
              </a:rPr>
              <a:t>具体子维度与人数</a:t>
            </a:r>
          </a:p>
        </p:txBody>
      </p:sp>
      <p:sp>
        <p:nvSpPr>
          <p:cNvPr id="12" name="m7.head1.bg"/>
          <p:cNvSpPr/>
          <p:nvPr/>
        </p:nvSpPr>
        <p:spPr>
          <a:xfrm>
            <a:off x="3822191" y="1490472"/>
            <a:ext cx="3602736" cy="457200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7.head1.text"/>
          <p:cNvSpPr txBox="1"/>
          <p:nvPr/>
        </p:nvSpPr>
        <p:spPr>
          <a:xfrm>
            <a:off x="3959352" y="1572768"/>
            <a:ext cx="3328416" cy="27432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3078F5"/>
                </a:solidFill>
                <a:latin typeface="Noto Sans CJK SC"/>
              </a:rPr>
              <a:t>可能的工作表现</a:t>
            </a:r>
          </a:p>
        </p:txBody>
      </p:sp>
      <p:sp>
        <p:nvSpPr>
          <p:cNvPr id="14" name="m7.head2.bg"/>
          <p:cNvSpPr/>
          <p:nvPr/>
        </p:nvSpPr>
        <p:spPr>
          <a:xfrm>
            <a:off x="7571231" y="1490472"/>
            <a:ext cx="4005072" cy="457200"/>
          </a:xfrm>
          <a:prstGeom prst="rect">
            <a:avLst/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7.head2.text"/>
          <p:cNvSpPr txBox="1"/>
          <p:nvPr/>
        </p:nvSpPr>
        <p:spPr>
          <a:xfrm>
            <a:off x="7708392" y="1572768"/>
            <a:ext cx="3730752" cy="27432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E8565B"/>
                </a:solidFill>
                <a:latin typeface="Noto Sans CJK SC"/>
              </a:rPr>
              <a:t>对协作与交付的影响</a:t>
            </a:r>
          </a:p>
        </p:txBody>
      </p:sp>
      <p:sp>
        <p:nvSpPr>
          <p:cNvPr id="16" name="m7.row0.0.bg"/>
          <p:cNvSpPr/>
          <p:nvPr/>
        </p:nvSpPr>
        <p:spPr>
          <a:xfrm>
            <a:off x="621792" y="2130552"/>
            <a:ext cx="3054096" cy="786384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7.row0.0.text"/>
          <p:cNvSpPr txBox="1"/>
          <p:nvPr/>
        </p:nvSpPr>
        <p:spPr>
          <a:xfrm>
            <a:off x="749808" y="2231136"/>
            <a:ext cx="2798063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263345"/>
                </a:solidFill>
                <a:latin typeface="Noto Sans CJK SC"/>
              </a:rPr>
              <a:t>{主量表 1}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263345"/>
                </a:solidFill>
                <a:latin typeface="Noto Sans CJK SC"/>
              </a:rPr>
              <a:t>{突出子维度 / 人数 / 有效N}</a:t>
            </a:r>
          </a:p>
        </p:txBody>
      </p:sp>
      <p:sp>
        <p:nvSpPr>
          <p:cNvPr id="18" name="m7.row0.1.bg"/>
          <p:cNvSpPr/>
          <p:nvPr/>
        </p:nvSpPr>
        <p:spPr>
          <a:xfrm>
            <a:off x="3822191" y="2130552"/>
            <a:ext cx="3602736" cy="786384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7.row0.1.text"/>
          <p:cNvSpPr txBox="1"/>
          <p:nvPr/>
        </p:nvSpPr>
        <p:spPr>
          <a:xfrm>
            <a:off x="3950207" y="2231136"/>
            <a:ext cx="3346704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[什么条件下，可能怎样反应；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说明观察行为，不给人贴标签。]</a:t>
            </a:r>
          </a:p>
        </p:txBody>
      </p:sp>
      <p:sp>
        <p:nvSpPr>
          <p:cNvPr id="20" name="m7.row0.2.bg"/>
          <p:cNvSpPr/>
          <p:nvPr/>
        </p:nvSpPr>
        <p:spPr>
          <a:xfrm>
            <a:off x="7571231" y="2130552"/>
            <a:ext cx="4005072" cy="786384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7.row0.2.text"/>
          <p:cNvSpPr txBox="1"/>
          <p:nvPr/>
        </p:nvSpPr>
        <p:spPr>
          <a:xfrm>
            <a:off x="7699248" y="2231136"/>
            <a:ext cx="3749039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[有依据时说明正向作用；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再说明使用过度时的一步工作后果。]</a:t>
            </a:r>
          </a:p>
        </p:txBody>
      </p:sp>
      <p:sp>
        <p:nvSpPr>
          <p:cNvPr id="22" name="m7.row1.0.bg"/>
          <p:cNvSpPr/>
          <p:nvPr/>
        </p:nvSpPr>
        <p:spPr>
          <a:xfrm>
            <a:off x="621792" y="3044952"/>
            <a:ext cx="3054096" cy="786384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7.row1.0.text"/>
          <p:cNvSpPr txBox="1"/>
          <p:nvPr/>
        </p:nvSpPr>
        <p:spPr>
          <a:xfrm>
            <a:off x="749808" y="3145536"/>
            <a:ext cx="2798063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263345"/>
                </a:solidFill>
                <a:latin typeface="Noto Sans CJK SC"/>
              </a:rPr>
              <a:t>{主量表 2}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263345"/>
                </a:solidFill>
                <a:latin typeface="Noto Sans CJK SC"/>
              </a:rPr>
              <a:t>{突出子维度 / 人数 / 有效N}</a:t>
            </a:r>
          </a:p>
        </p:txBody>
      </p:sp>
      <p:sp>
        <p:nvSpPr>
          <p:cNvPr id="24" name="m7.row1.1.bg"/>
          <p:cNvSpPr/>
          <p:nvPr/>
        </p:nvSpPr>
        <p:spPr>
          <a:xfrm>
            <a:off x="3822191" y="3044952"/>
            <a:ext cx="3602736" cy="786384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7.row1.1.text"/>
          <p:cNvSpPr txBox="1"/>
          <p:nvPr/>
        </p:nvSpPr>
        <p:spPr>
          <a:xfrm>
            <a:off x="3950207" y="3145536"/>
            <a:ext cx="3346704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[什么条件下，可能怎样反应；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说明观察行为，不给人贴标签。]</a:t>
            </a:r>
          </a:p>
        </p:txBody>
      </p:sp>
      <p:sp>
        <p:nvSpPr>
          <p:cNvPr id="26" name="m7.row1.2.bg"/>
          <p:cNvSpPr/>
          <p:nvPr/>
        </p:nvSpPr>
        <p:spPr>
          <a:xfrm>
            <a:off x="7571231" y="3044952"/>
            <a:ext cx="4005072" cy="786384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7.row1.2.text"/>
          <p:cNvSpPr txBox="1"/>
          <p:nvPr/>
        </p:nvSpPr>
        <p:spPr>
          <a:xfrm>
            <a:off x="7699248" y="3145536"/>
            <a:ext cx="3749039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[有依据时说明正向作用；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再说明使用过度时的一步工作后果。]</a:t>
            </a:r>
          </a:p>
        </p:txBody>
      </p:sp>
      <p:sp>
        <p:nvSpPr>
          <p:cNvPr id="28" name="m7.row2.0.bg"/>
          <p:cNvSpPr/>
          <p:nvPr/>
        </p:nvSpPr>
        <p:spPr>
          <a:xfrm>
            <a:off x="621792" y="3959352"/>
            <a:ext cx="3054096" cy="786384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7.row2.0.text"/>
          <p:cNvSpPr txBox="1"/>
          <p:nvPr/>
        </p:nvSpPr>
        <p:spPr>
          <a:xfrm>
            <a:off x="749808" y="4059936"/>
            <a:ext cx="2798063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263345"/>
                </a:solidFill>
                <a:latin typeface="Noto Sans CJK SC"/>
              </a:rPr>
              <a:t>{主量表 3}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263345"/>
                </a:solidFill>
                <a:latin typeface="Noto Sans CJK SC"/>
              </a:rPr>
              <a:t>{突出子维度 / 人数 / 有效N}</a:t>
            </a:r>
          </a:p>
        </p:txBody>
      </p:sp>
      <p:sp>
        <p:nvSpPr>
          <p:cNvPr id="30" name="m7.row2.1.bg"/>
          <p:cNvSpPr/>
          <p:nvPr/>
        </p:nvSpPr>
        <p:spPr>
          <a:xfrm>
            <a:off x="3822191" y="3959352"/>
            <a:ext cx="3602736" cy="786384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7.row2.1.text"/>
          <p:cNvSpPr txBox="1"/>
          <p:nvPr/>
        </p:nvSpPr>
        <p:spPr>
          <a:xfrm>
            <a:off x="3950207" y="4059936"/>
            <a:ext cx="3346704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[什么条件下，可能怎样反应；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说明观察行为，不给人贴标签。]</a:t>
            </a:r>
          </a:p>
        </p:txBody>
      </p:sp>
      <p:sp>
        <p:nvSpPr>
          <p:cNvPr id="32" name="m7.row2.2.bg"/>
          <p:cNvSpPr/>
          <p:nvPr/>
        </p:nvSpPr>
        <p:spPr>
          <a:xfrm>
            <a:off x="7571231" y="3959352"/>
            <a:ext cx="4005072" cy="786384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7.row2.2.text"/>
          <p:cNvSpPr txBox="1"/>
          <p:nvPr/>
        </p:nvSpPr>
        <p:spPr>
          <a:xfrm>
            <a:off x="7699248" y="4059936"/>
            <a:ext cx="3749039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[有依据时说明正向作用；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再说明使用过度时的一步工作后果。]</a:t>
            </a:r>
          </a:p>
        </p:txBody>
      </p:sp>
      <p:sp>
        <p:nvSpPr>
          <p:cNvPr id="34" name="m7.row3.0.bg"/>
          <p:cNvSpPr/>
          <p:nvPr/>
        </p:nvSpPr>
        <p:spPr>
          <a:xfrm>
            <a:off x="621792" y="4873752"/>
            <a:ext cx="3054096" cy="786384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7.row3.0.text"/>
          <p:cNvSpPr txBox="1"/>
          <p:nvPr/>
        </p:nvSpPr>
        <p:spPr>
          <a:xfrm>
            <a:off x="749808" y="4974336"/>
            <a:ext cx="2798063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263345"/>
                </a:solidFill>
                <a:latin typeface="Noto Sans CJK SC"/>
              </a:rPr>
              <a:t>{主量表 4}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263345"/>
                </a:solidFill>
                <a:latin typeface="Noto Sans CJK SC"/>
              </a:rPr>
              <a:t>{突出子维度 / 人数 / 有效N}</a:t>
            </a:r>
          </a:p>
        </p:txBody>
      </p:sp>
      <p:sp>
        <p:nvSpPr>
          <p:cNvPr id="36" name="m7.row3.1.bg"/>
          <p:cNvSpPr/>
          <p:nvPr/>
        </p:nvSpPr>
        <p:spPr>
          <a:xfrm>
            <a:off x="3822191" y="4873752"/>
            <a:ext cx="3602736" cy="786384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7.row3.1.text"/>
          <p:cNvSpPr txBox="1"/>
          <p:nvPr/>
        </p:nvSpPr>
        <p:spPr>
          <a:xfrm>
            <a:off x="3950207" y="4974336"/>
            <a:ext cx="3346704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[什么条件下，可能怎样反应；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说明观察行为，不给人贴标签。]</a:t>
            </a:r>
          </a:p>
        </p:txBody>
      </p:sp>
      <p:sp>
        <p:nvSpPr>
          <p:cNvPr id="38" name="m7.row3.2.bg"/>
          <p:cNvSpPr/>
          <p:nvPr/>
        </p:nvSpPr>
        <p:spPr>
          <a:xfrm>
            <a:off x="7571231" y="4873752"/>
            <a:ext cx="4005072" cy="786384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7.row3.2.text"/>
          <p:cNvSpPr txBox="1"/>
          <p:nvPr/>
        </p:nvSpPr>
        <p:spPr>
          <a:xfrm>
            <a:off x="7699248" y="4974336"/>
            <a:ext cx="3749039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[有依据时说明正向作用；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63345"/>
                </a:solidFill>
                <a:latin typeface="Noto Sans CJK SC"/>
              </a:rPr>
              <a:t>再说明使用过度时的一步工作后果。]</a:t>
            </a:r>
          </a:p>
        </p:txBody>
      </p:sp>
      <p:sp>
        <p:nvSpPr>
          <p:cNvPr id="40" name="m7.limit"/>
          <p:cNvSpPr txBox="1"/>
          <p:nvPr/>
        </p:nvSpPr>
        <p:spPr>
          <a:xfrm>
            <a:off x="676656" y="6080760"/>
            <a:ext cx="10835640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6F7B8D"/>
                </a:solidFill>
                <a:latin typeface="Noto Sans CJK SC"/>
              </a:rPr>
              <a:t>{原图、来源页码、格数定义与计数规则}；“0人满格”不等于没有倾向；缺页写有效N。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0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10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工作观察：{哪些表现会影响判断、推进、交付和协作}</a:t>
            </a:r>
          </a:p>
        </p:txBody>
      </p:sp>
      <p:sp>
        <p:nvSpPr>
          <p:cNvPr id="4" name="p10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在真实任务中验证  /  场景、表现与影响、观察行为、支持方式相互对应</a:t>
            </a:r>
          </a:p>
        </p:txBody>
      </p:sp>
      <p:cxnSp>
        <p:nvCxnSpPr>
          <p:cNvPr id="5" name="p10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10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10</a:t>
            </a:r>
          </a:p>
        </p:txBody>
      </p:sp>
      <p:cxnSp>
        <p:nvCxnSpPr>
          <p:cNvPr id="7" name="p10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10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10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m10.head0.bg"/>
          <p:cNvSpPr/>
          <p:nvPr/>
        </p:nvSpPr>
        <p:spPr>
          <a:xfrm>
            <a:off x="612648" y="1499616"/>
            <a:ext cx="1645920" cy="475488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10.head0.text"/>
          <p:cNvSpPr txBox="1"/>
          <p:nvPr/>
        </p:nvSpPr>
        <p:spPr>
          <a:xfrm>
            <a:off x="704088" y="1572768"/>
            <a:ext cx="1463040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078F5"/>
                </a:solidFill>
                <a:latin typeface="Noto Sans CJK SC"/>
              </a:rPr>
              <a:t>工作场景</a:t>
            </a:r>
          </a:p>
        </p:txBody>
      </p:sp>
      <p:sp>
        <p:nvSpPr>
          <p:cNvPr id="12" name="m10.head1.bg"/>
          <p:cNvSpPr/>
          <p:nvPr/>
        </p:nvSpPr>
        <p:spPr>
          <a:xfrm>
            <a:off x="2414016" y="1499616"/>
            <a:ext cx="3648456" cy="475488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10.head1.text"/>
          <p:cNvSpPr txBox="1"/>
          <p:nvPr/>
        </p:nvSpPr>
        <p:spPr>
          <a:xfrm>
            <a:off x="2505456" y="1572768"/>
            <a:ext cx="3465576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078F5"/>
                </a:solidFill>
                <a:latin typeface="Noto Sans CJK SC"/>
              </a:rPr>
              <a:t>可能的表现与工作影响</a:t>
            </a:r>
          </a:p>
        </p:txBody>
      </p:sp>
      <p:sp>
        <p:nvSpPr>
          <p:cNvPr id="14" name="m10.head2.bg"/>
          <p:cNvSpPr/>
          <p:nvPr/>
        </p:nvSpPr>
        <p:spPr>
          <a:xfrm>
            <a:off x="6217920" y="1499616"/>
            <a:ext cx="2642616" cy="475488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10.head2.text"/>
          <p:cNvSpPr txBox="1"/>
          <p:nvPr/>
        </p:nvSpPr>
        <p:spPr>
          <a:xfrm>
            <a:off x="6309359" y="1572768"/>
            <a:ext cx="2459736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078F5"/>
                </a:solidFill>
                <a:latin typeface="Noto Sans CJK SC"/>
              </a:rPr>
              <a:t>应观察的行为</a:t>
            </a:r>
          </a:p>
        </p:txBody>
      </p:sp>
      <p:sp>
        <p:nvSpPr>
          <p:cNvPr id="16" name="m10.head3.bg"/>
          <p:cNvSpPr/>
          <p:nvPr/>
        </p:nvSpPr>
        <p:spPr>
          <a:xfrm>
            <a:off x="9015984" y="1499616"/>
            <a:ext cx="2560320" cy="475488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10.head3.text"/>
          <p:cNvSpPr txBox="1"/>
          <p:nvPr/>
        </p:nvSpPr>
        <p:spPr>
          <a:xfrm>
            <a:off x="9107424" y="1572768"/>
            <a:ext cx="2377439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078F5"/>
                </a:solidFill>
                <a:latin typeface="Noto Sans CJK SC"/>
              </a:rPr>
              <a:t>对应支持方式</a:t>
            </a:r>
          </a:p>
        </p:txBody>
      </p:sp>
      <p:sp>
        <p:nvSpPr>
          <p:cNvPr id="18" name="m10.row0.0.bg"/>
          <p:cNvSpPr/>
          <p:nvPr/>
        </p:nvSpPr>
        <p:spPr>
          <a:xfrm>
            <a:off x="612648" y="2176272"/>
            <a:ext cx="1645920" cy="786384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10.row0.0.text"/>
          <p:cNvSpPr txBox="1"/>
          <p:nvPr/>
        </p:nvSpPr>
        <p:spPr>
          <a:xfrm>
            <a:off x="704088" y="2276856"/>
            <a:ext cx="1463040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63345"/>
                </a:solidFill>
                <a:latin typeface="Noto Sans CJK SC"/>
              </a:rPr>
              <a:t>[方案评审]</a:t>
            </a:r>
          </a:p>
        </p:txBody>
      </p:sp>
      <p:sp>
        <p:nvSpPr>
          <p:cNvPr id="20" name="m10.row0.1.bg"/>
          <p:cNvSpPr/>
          <p:nvPr/>
        </p:nvSpPr>
        <p:spPr>
          <a:xfrm>
            <a:off x="2414016" y="2176272"/>
            <a:ext cx="3648456" cy="786384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10.row0.1.text"/>
          <p:cNvSpPr txBox="1"/>
          <p:nvPr/>
        </p:nvSpPr>
        <p:spPr>
          <a:xfrm>
            <a:off x="2505456" y="2276856"/>
            <a:ext cx="3465576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[根据本批证据写可能的做法；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再说明对哪一步工作有帮助或代价。]</a:t>
            </a:r>
          </a:p>
        </p:txBody>
      </p:sp>
      <p:sp>
        <p:nvSpPr>
          <p:cNvPr id="22" name="m10.row0.2.bg"/>
          <p:cNvSpPr/>
          <p:nvPr/>
        </p:nvSpPr>
        <p:spPr>
          <a:xfrm>
            <a:off x="6217920" y="2176272"/>
            <a:ext cx="2642616" cy="786384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10.row0.2.text"/>
          <p:cNvSpPr txBox="1"/>
          <p:nvPr/>
        </p:nvSpPr>
        <p:spPr>
          <a:xfrm>
            <a:off x="6309359" y="2276856"/>
            <a:ext cx="2459736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[可看见、可核对的动作；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不是笼统能力标签。]</a:t>
            </a:r>
          </a:p>
        </p:txBody>
      </p:sp>
      <p:sp>
        <p:nvSpPr>
          <p:cNvPr id="24" name="m10.row0.3.bg"/>
          <p:cNvSpPr/>
          <p:nvPr/>
        </p:nvSpPr>
        <p:spPr>
          <a:xfrm>
            <a:off x="9015984" y="2176272"/>
            <a:ext cx="2560320" cy="786384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10.row0.3.text"/>
          <p:cNvSpPr txBox="1"/>
          <p:nvPr/>
        </p:nvSpPr>
        <p:spPr>
          <a:xfrm>
            <a:off x="9107424" y="2276856"/>
            <a:ext cx="2377439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[与前面行为对应的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任务安排或反馈动作。]</a:t>
            </a:r>
          </a:p>
        </p:txBody>
      </p:sp>
      <p:sp>
        <p:nvSpPr>
          <p:cNvPr id="26" name="m10.row1.0.bg"/>
          <p:cNvSpPr/>
          <p:nvPr/>
        </p:nvSpPr>
        <p:spPr>
          <a:xfrm>
            <a:off x="612648" y="3072384"/>
            <a:ext cx="1645920" cy="786384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10.row1.0.text"/>
          <p:cNvSpPr txBox="1"/>
          <p:nvPr/>
        </p:nvSpPr>
        <p:spPr>
          <a:xfrm>
            <a:off x="704088" y="3172968"/>
            <a:ext cx="1463040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63345"/>
                </a:solidFill>
                <a:latin typeface="Noto Sans CJK SC"/>
              </a:rPr>
              <a:t>[需求与排期]</a:t>
            </a:r>
          </a:p>
        </p:txBody>
      </p:sp>
      <p:sp>
        <p:nvSpPr>
          <p:cNvPr id="28" name="m10.row1.1.bg"/>
          <p:cNvSpPr/>
          <p:nvPr/>
        </p:nvSpPr>
        <p:spPr>
          <a:xfrm>
            <a:off x="2414016" y="3072384"/>
            <a:ext cx="3648456" cy="786384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10.row1.1.text"/>
          <p:cNvSpPr txBox="1"/>
          <p:nvPr/>
        </p:nvSpPr>
        <p:spPr>
          <a:xfrm>
            <a:off x="2505456" y="3172968"/>
            <a:ext cx="3465576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[根据本批证据写可能的做法；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再说明对哪一步工作有帮助或代价。]</a:t>
            </a:r>
          </a:p>
        </p:txBody>
      </p:sp>
      <p:sp>
        <p:nvSpPr>
          <p:cNvPr id="30" name="m10.row1.2.bg"/>
          <p:cNvSpPr/>
          <p:nvPr/>
        </p:nvSpPr>
        <p:spPr>
          <a:xfrm>
            <a:off x="6217920" y="3072384"/>
            <a:ext cx="2642616" cy="786384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10.row1.2.text"/>
          <p:cNvSpPr txBox="1"/>
          <p:nvPr/>
        </p:nvSpPr>
        <p:spPr>
          <a:xfrm>
            <a:off x="6309359" y="3172968"/>
            <a:ext cx="2459736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[可看见、可核对的动作；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不是笼统能力标签。]</a:t>
            </a:r>
          </a:p>
        </p:txBody>
      </p:sp>
      <p:sp>
        <p:nvSpPr>
          <p:cNvPr id="32" name="m10.row1.3.bg"/>
          <p:cNvSpPr/>
          <p:nvPr/>
        </p:nvSpPr>
        <p:spPr>
          <a:xfrm>
            <a:off x="9015984" y="3072384"/>
            <a:ext cx="2560320" cy="786384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10.row1.3.text"/>
          <p:cNvSpPr txBox="1"/>
          <p:nvPr/>
        </p:nvSpPr>
        <p:spPr>
          <a:xfrm>
            <a:off x="9107424" y="3172968"/>
            <a:ext cx="2377439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[与前面行为对应的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任务安排或反馈动作。]</a:t>
            </a:r>
          </a:p>
        </p:txBody>
      </p:sp>
      <p:sp>
        <p:nvSpPr>
          <p:cNvPr id="34" name="m10.row2.0.bg"/>
          <p:cNvSpPr/>
          <p:nvPr/>
        </p:nvSpPr>
        <p:spPr>
          <a:xfrm>
            <a:off x="612648" y="3968496"/>
            <a:ext cx="1645920" cy="786384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10.row2.0.text"/>
          <p:cNvSpPr txBox="1"/>
          <p:nvPr/>
        </p:nvSpPr>
        <p:spPr>
          <a:xfrm>
            <a:off x="704088" y="4069080"/>
            <a:ext cx="1463040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63345"/>
                </a:solidFill>
                <a:latin typeface="Noto Sans CJK SC"/>
              </a:rPr>
              <a:t>[关键交付]</a:t>
            </a:r>
          </a:p>
        </p:txBody>
      </p:sp>
      <p:sp>
        <p:nvSpPr>
          <p:cNvPr id="36" name="m10.row2.1.bg"/>
          <p:cNvSpPr/>
          <p:nvPr/>
        </p:nvSpPr>
        <p:spPr>
          <a:xfrm>
            <a:off x="2414016" y="3968496"/>
            <a:ext cx="3648456" cy="786384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10.row2.1.text"/>
          <p:cNvSpPr txBox="1"/>
          <p:nvPr/>
        </p:nvSpPr>
        <p:spPr>
          <a:xfrm>
            <a:off x="2505456" y="4069080"/>
            <a:ext cx="3465576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[根据本批证据写可能的做法；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再说明对哪一步工作有帮助或代价。]</a:t>
            </a:r>
          </a:p>
        </p:txBody>
      </p:sp>
      <p:sp>
        <p:nvSpPr>
          <p:cNvPr id="38" name="m10.row2.2.bg"/>
          <p:cNvSpPr/>
          <p:nvPr/>
        </p:nvSpPr>
        <p:spPr>
          <a:xfrm>
            <a:off x="6217920" y="3968496"/>
            <a:ext cx="2642616" cy="786384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10.row2.2.text"/>
          <p:cNvSpPr txBox="1"/>
          <p:nvPr/>
        </p:nvSpPr>
        <p:spPr>
          <a:xfrm>
            <a:off x="6309359" y="4069080"/>
            <a:ext cx="2459736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[可看见、可核对的动作；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不是笼统能力标签。]</a:t>
            </a:r>
          </a:p>
        </p:txBody>
      </p:sp>
      <p:sp>
        <p:nvSpPr>
          <p:cNvPr id="40" name="m10.row2.3.bg"/>
          <p:cNvSpPr/>
          <p:nvPr/>
        </p:nvSpPr>
        <p:spPr>
          <a:xfrm>
            <a:off x="9015984" y="3968496"/>
            <a:ext cx="2560320" cy="786384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10.row2.3.text"/>
          <p:cNvSpPr txBox="1"/>
          <p:nvPr/>
        </p:nvSpPr>
        <p:spPr>
          <a:xfrm>
            <a:off x="9107424" y="4069080"/>
            <a:ext cx="2377439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[与前面行为对应的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任务安排或反馈动作。]</a:t>
            </a:r>
          </a:p>
        </p:txBody>
      </p:sp>
      <p:sp>
        <p:nvSpPr>
          <p:cNvPr id="42" name="m10.row3.0.bg"/>
          <p:cNvSpPr/>
          <p:nvPr/>
        </p:nvSpPr>
        <p:spPr>
          <a:xfrm>
            <a:off x="612648" y="4864608"/>
            <a:ext cx="1645920" cy="786384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10.row3.0.text"/>
          <p:cNvSpPr txBox="1"/>
          <p:nvPr/>
        </p:nvSpPr>
        <p:spPr>
          <a:xfrm>
            <a:off x="704088" y="4965192"/>
            <a:ext cx="1463040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63345"/>
                </a:solidFill>
                <a:latin typeface="Noto Sans CJK SC"/>
              </a:rPr>
              <a:t>[跨团队协作]</a:t>
            </a:r>
          </a:p>
        </p:txBody>
      </p:sp>
      <p:sp>
        <p:nvSpPr>
          <p:cNvPr id="44" name="m10.row3.1.bg"/>
          <p:cNvSpPr/>
          <p:nvPr/>
        </p:nvSpPr>
        <p:spPr>
          <a:xfrm>
            <a:off x="2414016" y="4864608"/>
            <a:ext cx="3648456" cy="786384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10.row3.1.text"/>
          <p:cNvSpPr txBox="1"/>
          <p:nvPr/>
        </p:nvSpPr>
        <p:spPr>
          <a:xfrm>
            <a:off x="2505456" y="4965192"/>
            <a:ext cx="3465576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[根据本批证据写可能的做法；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再说明对哪一步工作有帮助或代价。]</a:t>
            </a:r>
          </a:p>
        </p:txBody>
      </p:sp>
      <p:sp>
        <p:nvSpPr>
          <p:cNvPr id="46" name="m10.row3.2.bg"/>
          <p:cNvSpPr/>
          <p:nvPr/>
        </p:nvSpPr>
        <p:spPr>
          <a:xfrm>
            <a:off x="6217920" y="4864608"/>
            <a:ext cx="2642616" cy="786384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10.row3.2.text"/>
          <p:cNvSpPr txBox="1"/>
          <p:nvPr/>
        </p:nvSpPr>
        <p:spPr>
          <a:xfrm>
            <a:off x="6309359" y="4965192"/>
            <a:ext cx="2459736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[可看见、可核对的动作；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不是笼统能力标签。]</a:t>
            </a:r>
          </a:p>
        </p:txBody>
      </p:sp>
      <p:sp>
        <p:nvSpPr>
          <p:cNvPr id="48" name="m10.row3.3.bg"/>
          <p:cNvSpPr/>
          <p:nvPr/>
        </p:nvSpPr>
        <p:spPr>
          <a:xfrm>
            <a:off x="9015984" y="4864608"/>
            <a:ext cx="2560320" cy="786384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10.row3.3.text"/>
          <p:cNvSpPr txBox="1"/>
          <p:nvPr/>
        </p:nvSpPr>
        <p:spPr>
          <a:xfrm>
            <a:off x="9107424" y="4965192"/>
            <a:ext cx="2377439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[与前面行为对应的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63345"/>
                </a:solidFill>
                <a:latin typeface="Noto Sans CJK SC"/>
              </a:rPr>
              <a:t>任务安排或反馈动作。]</a:t>
            </a:r>
          </a:p>
        </p:txBody>
      </p:sp>
      <p:sp>
        <p:nvSpPr>
          <p:cNvPr id="50" name="m10.limit"/>
          <p:cNvSpPr txBox="1"/>
          <p:nvPr/>
        </p:nvSpPr>
        <p:spPr>
          <a:xfrm>
            <a:off x="676656" y="6080760"/>
            <a:ext cx="10835640" cy="28346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F7B8D"/>
                </a:solidFill>
                <a:latin typeface="Noto Sans CJK SC"/>
              </a:rPr>
              <a:t>以上场景须按用户工作背景选择；没有实际记录时一律作为待验证假设，不描述成已发生问题。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1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11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群体总结：{最值得保留的优势与发展的重点}</a:t>
            </a:r>
          </a:p>
        </p:txBody>
      </p:sp>
      <p:sp>
        <p:nvSpPr>
          <p:cNvPr id="4" name="p11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可放大的优势 / 需管理的风险 / 对应的发展建议</a:t>
            </a:r>
          </a:p>
        </p:txBody>
      </p:sp>
      <p:cxnSp>
        <p:nvCxnSpPr>
          <p:cNvPr id="5" name="p11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11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11</a:t>
            </a:r>
          </a:p>
        </p:txBody>
      </p:sp>
      <p:cxnSp>
        <p:nvCxnSpPr>
          <p:cNvPr id="7" name="p11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11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11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m11.overview.bg"/>
          <p:cNvSpPr/>
          <p:nvPr/>
        </p:nvSpPr>
        <p:spPr>
          <a:xfrm>
            <a:off x="621792" y="1417320"/>
            <a:ext cx="10954512" cy="603504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11.overview"/>
          <p:cNvSpPr txBox="1"/>
          <p:nvPr/>
        </p:nvSpPr>
        <p:spPr>
          <a:xfrm>
            <a:off x="786384" y="1554480"/>
            <a:ext cx="10625328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63345"/>
                </a:solidFill>
                <a:latin typeface="Noto Sans CJK SC"/>
              </a:rPr>
              <a:t>[一句完整的群体画像；再概括当前最重要的工作关注，不只列分数。]</a:t>
            </a:r>
          </a:p>
        </p:txBody>
      </p:sp>
      <p:sp>
        <p:nvSpPr>
          <p:cNvPr id="12" name="m11.col0.bg"/>
          <p:cNvSpPr/>
          <p:nvPr/>
        </p:nvSpPr>
        <p:spPr>
          <a:xfrm>
            <a:off x="621792" y="2295144"/>
            <a:ext cx="3511296" cy="338328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11.col0.stripe"/>
          <p:cNvSpPr/>
          <p:nvPr/>
        </p:nvSpPr>
        <p:spPr>
          <a:xfrm>
            <a:off x="621792" y="2267712"/>
            <a:ext cx="3511296" cy="41148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11.col0.heading"/>
          <p:cNvSpPr txBox="1"/>
          <p:nvPr/>
        </p:nvSpPr>
        <p:spPr>
          <a:xfrm>
            <a:off x="777240" y="2441448"/>
            <a:ext cx="320040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078F5"/>
                </a:solidFill>
                <a:latin typeface="Noto Sans CJK SC"/>
              </a:rPr>
              <a:t>可放大的优势</a:t>
            </a:r>
          </a:p>
        </p:txBody>
      </p:sp>
      <p:sp>
        <p:nvSpPr>
          <p:cNvPr id="15" name="m11.col0.sub"/>
          <p:cNvSpPr txBox="1"/>
          <p:nvPr/>
        </p:nvSpPr>
        <p:spPr>
          <a:xfrm>
            <a:off x="777240" y="2807208"/>
            <a:ext cx="3200400" cy="24688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F7B8D"/>
                </a:solidFill>
                <a:latin typeface="Noto Sans CJK SC"/>
              </a:rPr>
              <a:t>日常风格 × 投入动机</a:t>
            </a:r>
          </a:p>
        </p:txBody>
      </p:sp>
      <p:sp>
        <p:nvSpPr>
          <p:cNvPr id="16" name="m11.col0.row0.title"/>
          <p:cNvSpPr txBox="1"/>
          <p:nvPr/>
        </p:nvSpPr>
        <p:spPr>
          <a:xfrm>
            <a:off x="777240" y="3209544"/>
            <a:ext cx="320040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63345"/>
                </a:solidFill>
                <a:latin typeface="Noto Sans CJK SC"/>
              </a:rPr>
              <a:t>[优势：帮助哪一步工作]</a:t>
            </a:r>
          </a:p>
        </p:txBody>
      </p:sp>
      <p:sp>
        <p:nvSpPr>
          <p:cNvPr id="17" name="m11.col0.row0.body"/>
          <p:cNvSpPr txBox="1"/>
          <p:nvPr/>
        </p:nvSpPr>
        <p:spPr>
          <a:xfrm>
            <a:off x="777240" y="3483863"/>
            <a:ext cx="3200400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[说明任务中的可能价值；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成效仍须结合实际成果验证。]</a:t>
            </a:r>
          </a:p>
        </p:txBody>
      </p:sp>
      <p:sp>
        <p:nvSpPr>
          <p:cNvPr id="18" name="m11.col0.row1.title"/>
          <p:cNvSpPr txBox="1"/>
          <p:nvPr/>
        </p:nvSpPr>
        <p:spPr>
          <a:xfrm>
            <a:off x="777240" y="3968496"/>
            <a:ext cx="320040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63345"/>
                </a:solidFill>
                <a:latin typeface="Noto Sans CJK SC"/>
              </a:rPr>
              <a:t>[优势：帮助哪一步工作]</a:t>
            </a:r>
          </a:p>
        </p:txBody>
      </p:sp>
      <p:sp>
        <p:nvSpPr>
          <p:cNvPr id="19" name="m11.col0.row1.body"/>
          <p:cNvSpPr txBox="1"/>
          <p:nvPr/>
        </p:nvSpPr>
        <p:spPr>
          <a:xfrm>
            <a:off x="777240" y="4242816"/>
            <a:ext cx="3200400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[说明任务中的可能价值；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成效仍须结合实际成果验证。]</a:t>
            </a:r>
          </a:p>
        </p:txBody>
      </p:sp>
      <p:sp>
        <p:nvSpPr>
          <p:cNvPr id="20" name="m11.col0.row2.title"/>
          <p:cNvSpPr txBox="1"/>
          <p:nvPr/>
        </p:nvSpPr>
        <p:spPr>
          <a:xfrm>
            <a:off x="777240" y="4727448"/>
            <a:ext cx="320040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63345"/>
                </a:solidFill>
                <a:latin typeface="Noto Sans CJK SC"/>
              </a:rPr>
              <a:t>[优势：帮助哪一步工作]</a:t>
            </a:r>
          </a:p>
        </p:txBody>
      </p:sp>
      <p:sp>
        <p:nvSpPr>
          <p:cNvPr id="21" name="m11.col0.row2.body"/>
          <p:cNvSpPr txBox="1"/>
          <p:nvPr/>
        </p:nvSpPr>
        <p:spPr>
          <a:xfrm>
            <a:off x="777240" y="5001768"/>
            <a:ext cx="3200400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[说明任务中的可能价值；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成效仍须结合实际成果验证。]</a:t>
            </a:r>
          </a:p>
        </p:txBody>
      </p:sp>
      <p:sp>
        <p:nvSpPr>
          <p:cNvPr id="22" name="m11.col1.bg"/>
          <p:cNvSpPr/>
          <p:nvPr/>
        </p:nvSpPr>
        <p:spPr>
          <a:xfrm>
            <a:off x="4343400" y="2295144"/>
            <a:ext cx="3511296" cy="338328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11.col1.stripe"/>
          <p:cNvSpPr/>
          <p:nvPr/>
        </p:nvSpPr>
        <p:spPr>
          <a:xfrm>
            <a:off x="4343400" y="2267712"/>
            <a:ext cx="3511296" cy="41148"/>
          </a:xfrm>
          <a:prstGeom prst="rect">
            <a:avLst/>
          </a:prstGeom>
          <a:solidFill>
            <a:srgbClr val="E85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11.col1.heading"/>
          <p:cNvSpPr txBox="1"/>
          <p:nvPr/>
        </p:nvSpPr>
        <p:spPr>
          <a:xfrm>
            <a:off x="4498848" y="2441448"/>
            <a:ext cx="320040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8565B"/>
                </a:solidFill>
                <a:latin typeface="Noto Sans CJK SC"/>
              </a:rPr>
              <a:t>需管理的风险</a:t>
            </a:r>
          </a:p>
        </p:txBody>
      </p:sp>
      <p:sp>
        <p:nvSpPr>
          <p:cNvPr id="25" name="m11.col1.sub"/>
          <p:cNvSpPr txBox="1"/>
          <p:nvPr/>
        </p:nvSpPr>
        <p:spPr>
          <a:xfrm>
            <a:off x="4498848" y="2807208"/>
            <a:ext cx="3200400" cy="24688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F7B8D"/>
                </a:solidFill>
                <a:latin typeface="Noto Sans CJK SC"/>
              </a:rPr>
              <a:t>高压与责任扩大时观察</a:t>
            </a:r>
          </a:p>
        </p:txBody>
      </p:sp>
      <p:sp>
        <p:nvSpPr>
          <p:cNvPr id="26" name="m11.col1.row0.title"/>
          <p:cNvSpPr txBox="1"/>
          <p:nvPr/>
        </p:nvSpPr>
        <p:spPr>
          <a:xfrm>
            <a:off x="4498848" y="3209544"/>
            <a:ext cx="320040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63345"/>
                </a:solidFill>
                <a:latin typeface="Noto Sans CJK SC"/>
              </a:rPr>
              <a:t>[风险：影响什么工作]</a:t>
            </a:r>
          </a:p>
        </p:txBody>
      </p:sp>
      <p:sp>
        <p:nvSpPr>
          <p:cNvPr id="27" name="m11.col1.row0.body"/>
          <p:cNvSpPr txBox="1"/>
          <p:nvPr/>
        </p:nvSpPr>
        <p:spPr>
          <a:xfrm>
            <a:off x="4498848" y="3483863"/>
            <a:ext cx="3200400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[说明具体行为与一步后果；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不是已发生问题的断言。]</a:t>
            </a:r>
          </a:p>
        </p:txBody>
      </p:sp>
      <p:sp>
        <p:nvSpPr>
          <p:cNvPr id="28" name="m11.col1.row1.title"/>
          <p:cNvSpPr txBox="1"/>
          <p:nvPr/>
        </p:nvSpPr>
        <p:spPr>
          <a:xfrm>
            <a:off x="4498848" y="3968496"/>
            <a:ext cx="320040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63345"/>
                </a:solidFill>
                <a:latin typeface="Noto Sans CJK SC"/>
              </a:rPr>
              <a:t>[风险：影响什么工作]</a:t>
            </a:r>
          </a:p>
        </p:txBody>
      </p:sp>
      <p:sp>
        <p:nvSpPr>
          <p:cNvPr id="29" name="m11.col1.row1.body"/>
          <p:cNvSpPr txBox="1"/>
          <p:nvPr/>
        </p:nvSpPr>
        <p:spPr>
          <a:xfrm>
            <a:off x="4498848" y="4242816"/>
            <a:ext cx="3200400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[说明具体行为与一步后果；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不是已发生问题的断言。]</a:t>
            </a:r>
          </a:p>
        </p:txBody>
      </p:sp>
      <p:sp>
        <p:nvSpPr>
          <p:cNvPr id="30" name="m11.col1.row2.title"/>
          <p:cNvSpPr txBox="1"/>
          <p:nvPr/>
        </p:nvSpPr>
        <p:spPr>
          <a:xfrm>
            <a:off x="4498848" y="4727448"/>
            <a:ext cx="320040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63345"/>
                </a:solidFill>
                <a:latin typeface="Noto Sans CJK SC"/>
              </a:rPr>
              <a:t>[风险：影响什么工作]</a:t>
            </a:r>
          </a:p>
        </p:txBody>
      </p:sp>
      <p:sp>
        <p:nvSpPr>
          <p:cNvPr id="31" name="m11.col1.row2.body"/>
          <p:cNvSpPr txBox="1"/>
          <p:nvPr/>
        </p:nvSpPr>
        <p:spPr>
          <a:xfrm>
            <a:off x="4498848" y="5001768"/>
            <a:ext cx="3200400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[说明具体行为与一步后果；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不是已发生问题的断言。]</a:t>
            </a:r>
          </a:p>
        </p:txBody>
      </p:sp>
      <p:sp>
        <p:nvSpPr>
          <p:cNvPr id="32" name="m11.col2.bg"/>
          <p:cNvSpPr/>
          <p:nvPr/>
        </p:nvSpPr>
        <p:spPr>
          <a:xfrm>
            <a:off x="8065008" y="2295144"/>
            <a:ext cx="3511296" cy="338328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11.col2.stripe"/>
          <p:cNvSpPr/>
          <p:nvPr/>
        </p:nvSpPr>
        <p:spPr>
          <a:xfrm>
            <a:off x="8065008" y="2267712"/>
            <a:ext cx="3511296" cy="41148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11.col2.heading"/>
          <p:cNvSpPr txBox="1"/>
          <p:nvPr/>
        </p:nvSpPr>
        <p:spPr>
          <a:xfrm>
            <a:off x="8220456" y="2441448"/>
            <a:ext cx="320040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078F5"/>
                </a:solidFill>
                <a:latin typeface="Noto Sans CJK SC"/>
              </a:rPr>
              <a:t>对应的发展建议</a:t>
            </a:r>
          </a:p>
        </p:txBody>
      </p:sp>
      <p:sp>
        <p:nvSpPr>
          <p:cNvPr id="35" name="m11.col2.sub"/>
          <p:cNvSpPr txBox="1"/>
          <p:nvPr/>
        </p:nvSpPr>
        <p:spPr>
          <a:xfrm>
            <a:off x="8220456" y="2807208"/>
            <a:ext cx="3200400" cy="24688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F7B8D"/>
                </a:solidFill>
                <a:latin typeface="Noto Sans CJK SC"/>
              </a:rPr>
              <a:t>从实际任务与反馈中发展</a:t>
            </a:r>
          </a:p>
        </p:txBody>
      </p:sp>
      <p:sp>
        <p:nvSpPr>
          <p:cNvPr id="36" name="m11.col2.row0.title"/>
          <p:cNvSpPr txBox="1"/>
          <p:nvPr/>
        </p:nvSpPr>
        <p:spPr>
          <a:xfrm>
            <a:off x="8220456" y="3209544"/>
            <a:ext cx="320040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63345"/>
                </a:solidFill>
                <a:latin typeface="Noto Sans CJK SC"/>
              </a:rPr>
              <a:t>[建议：对应前面的行为]</a:t>
            </a:r>
          </a:p>
        </p:txBody>
      </p:sp>
      <p:sp>
        <p:nvSpPr>
          <p:cNvPr id="37" name="m11.col2.row0.body"/>
          <p:cNvSpPr txBox="1"/>
          <p:nvPr/>
        </p:nvSpPr>
        <p:spPr>
          <a:xfrm>
            <a:off x="8220456" y="3483863"/>
            <a:ext cx="3200400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[写具体安排、反馈或观察；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不新增无依据的培养项目。]</a:t>
            </a:r>
          </a:p>
        </p:txBody>
      </p:sp>
      <p:sp>
        <p:nvSpPr>
          <p:cNvPr id="38" name="m11.col2.row1.title"/>
          <p:cNvSpPr txBox="1"/>
          <p:nvPr/>
        </p:nvSpPr>
        <p:spPr>
          <a:xfrm>
            <a:off x="8220456" y="3968496"/>
            <a:ext cx="320040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63345"/>
                </a:solidFill>
                <a:latin typeface="Noto Sans CJK SC"/>
              </a:rPr>
              <a:t>[建议：对应前面的行为]</a:t>
            </a:r>
          </a:p>
        </p:txBody>
      </p:sp>
      <p:sp>
        <p:nvSpPr>
          <p:cNvPr id="39" name="m11.col2.row1.body"/>
          <p:cNvSpPr txBox="1"/>
          <p:nvPr/>
        </p:nvSpPr>
        <p:spPr>
          <a:xfrm>
            <a:off x="8220456" y="4242816"/>
            <a:ext cx="3200400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[写具体安排、反馈或观察；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不新增无依据的培养项目。]</a:t>
            </a:r>
          </a:p>
        </p:txBody>
      </p:sp>
      <p:sp>
        <p:nvSpPr>
          <p:cNvPr id="40" name="m11.col2.row2.title"/>
          <p:cNvSpPr txBox="1"/>
          <p:nvPr/>
        </p:nvSpPr>
        <p:spPr>
          <a:xfrm>
            <a:off x="8220456" y="4727448"/>
            <a:ext cx="320040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63345"/>
                </a:solidFill>
                <a:latin typeface="Noto Sans CJK SC"/>
              </a:rPr>
              <a:t>[建议：对应前面的行为]</a:t>
            </a:r>
          </a:p>
        </p:txBody>
      </p:sp>
      <p:sp>
        <p:nvSpPr>
          <p:cNvPr id="41" name="m11.col2.row2.body"/>
          <p:cNvSpPr txBox="1"/>
          <p:nvPr/>
        </p:nvSpPr>
        <p:spPr>
          <a:xfrm>
            <a:off x="8220456" y="5001768"/>
            <a:ext cx="3200400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[写具体安排、反馈或观察；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63345"/>
                </a:solidFill>
                <a:latin typeface="Noto Sans CJK SC"/>
              </a:rPr>
              <a:t>不新增无依据的培养项目。]</a:t>
            </a:r>
          </a:p>
        </p:txBody>
      </p:sp>
      <p:sp>
        <p:nvSpPr>
          <p:cNvPr id="42" name="m11.impact.bg"/>
          <p:cNvSpPr/>
          <p:nvPr/>
        </p:nvSpPr>
        <p:spPr>
          <a:xfrm>
            <a:off x="621792" y="5907024"/>
            <a:ext cx="10954512" cy="448056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11.impact.title"/>
          <p:cNvSpPr txBox="1"/>
          <p:nvPr/>
        </p:nvSpPr>
        <p:spPr>
          <a:xfrm>
            <a:off x="758952" y="5989320"/>
            <a:ext cx="1316736" cy="21031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63345"/>
                </a:solidFill>
                <a:latin typeface="Noto Sans CJK SC"/>
              </a:rPr>
              <a:t>业务与组织影响</a:t>
            </a:r>
          </a:p>
        </p:txBody>
      </p:sp>
      <p:sp>
        <p:nvSpPr>
          <p:cNvPr id="44" name="m11.impact.positive"/>
          <p:cNvSpPr txBox="1"/>
          <p:nvPr/>
        </p:nvSpPr>
        <p:spPr>
          <a:xfrm>
            <a:off x="2221992" y="5989320"/>
            <a:ext cx="4370832" cy="21031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078F5"/>
                </a:solidFill>
                <a:latin typeface="Noto Sans CJK SC"/>
              </a:rPr>
              <a:t>正向价值：[对哪些任务有帮助]</a:t>
            </a:r>
          </a:p>
        </p:txBody>
      </p:sp>
      <p:sp>
        <p:nvSpPr>
          <p:cNvPr id="45" name="m11.impact.risk"/>
          <p:cNvSpPr txBox="1"/>
          <p:nvPr/>
        </p:nvSpPr>
        <p:spPr>
          <a:xfrm>
            <a:off x="6793992" y="5989320"/>
            <a:ext cx="4626864" cy="21031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565B"/>
                </a:solidFill>
                <a:latin typeface="Noto Sans CJK SC"/>
              </a:rPr>
              <a:t>需要防范：[什么条件下影响交付]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Hogan群体管理解读空白模板（12页）</dc:title>
  <dc:subject>Blank workflow template; no actual assessment data</dc:subject>
  <dc:creator>Hogan Workflow Template</dc:creator>
  <cp:keywords>blank template</cp:keywords>
  <dc:description/>
  <cp:lastModifiedBy>Hogan Workflow Template</cp:lastModifiedBy>
  <cp:revision>1</cp:revision>
  <dcterms:created xsi:type="dcterms:W3CDTF">2026-10-15T00:00:00Z</dcterms:created>
  <dcterms:modified xsi:type="dcterms:W3CDTF">2026-10-15T00:00:00Z</dcterms:modified>
  <cp:category/>
</cp:coreProperties>
</file>